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7" r:id="rId12"/>
  </p:sldIdLst>
  <p:sldSz cx="9144000" cy="6858000" type="screen4x3"/>
  <p:notesSz cx="6797675" cy="9926638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3600" kern="1200">
        <a:solidFill>
          <a:srgbClr val="800080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3600" kern="1200">
        <a:solidFill>
          <a:srgbClr val="800080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3600" kern="1200">
        <a:solidFill>
          <a:srgbClr val="800080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3600" kern="1200">
        <a:solidFill>
          <a:srgbClr val="800080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3600" kern="1200">
        <a:solidFill>
          <a:srgbClr val="800080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3600" kern="1200">
        <a:solidFill>
          <a:srgbClr val="800080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3600" kern="1200">
        <a:solidFill>
          <a:srgbClr val="800080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3600" kern="1200">
        <a:solidFill>
          <a:srgbClr val="800080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3600" kern="1200">
        <a:solidFill>
          <a:srgbClr val="800080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FFF99"/>
    <a:srgbClr val="00CC00"/>
    <a:srgbClr val="FF0000"/>
    <a:srgbClr val="FF9933"/>
    <a:srgbClr val="BBE0E3"/>
    <a:srgbClr val="800080"/>
    <a:srgbClr val="00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27" autoAdjust="0"/>
    <p:restoredTop sz="86443" autoAdjust="0"/>
  </p:normalViewPr>
  <p:slideViewPr>
    <p:cSldViewPr>
      <p:cViewPr varScale="1">
        <p:scale>
          <a:sx n="63" d="100"/>
          <a:sy n="63" d="100"/>
        </p:scale>
        <p:origin x="-113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2568"/>
    </p:cViewPr>
  </p:sorterViewPr>
  <p:notesViewPr>
    <p:cSldViewPr>
      <p:cViewPr varScale="1">
        <p:scale>
          <a:sx n="44" d="100"/>
          <a:sy n="44" d="100"/>
        </p:scale>
        <p:origin x="-2820" y="-108"/>
      </p:cViewPr>
      <p:guideLst>
        <p:guide orient="horz" pos="3126"/>
        <p:guide pos="214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09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09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DF777C8-61D3-43C9-A8C5-E894513D0D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C5209F3-AE63-4999-A8B1-3C564B9346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4FDD72-C2F9-4321-A1BC-F06CB77FB587}" type="slidenum">
              <a:rPr lang="en-US"/>
              <a:pPr/>
              <a:t>1</a:t>
            </a:fld>
            <a:endParaRPr lang="en-US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294BE8-76BD-4819-89C7-C4319A5F3A70}" type="slidenum">
              <a:rPr lang="en-US"/>
              <a:pPr/>
              <a:t>2</a:t>
            </a:fld>
            <a:endParaRPr 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32BEE2-3D29-4FF2-A75C-61CC04544C7A}" type="slidenum">
              <a:rPr lang="en-US"/>
              <a:pPr/>
              <a:t>3</a:t>
            </a:fld>
            <a:endParaRPr 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8FEE2D-73EC-4CA8-B619-CB4569153109}" type="slidenum">
              <a:rPr lang="en-US"/>
              <a:pPr/>
              <a:t>4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C31F02-0346-4CBB-A23E-3F8AD2FFEF86}" type="slidenum">
              <a:rPr lang="en-US"/>
              <a:pPr/>
              <a:t>5</a:t>
            </a:fld>
            <a:endParaRPr 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18889A-4C08-4254-A7A8-0E9C31E9869E}" type="slidenum">
              <a:rPr lang="en-US"/>
              <a:pPr/>
              <a:t>6</a:t>
            </a:fld>
            <a:endParaRPr lang="en-US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36C91B-17F1-4B08-85AB-FE3CF8B28999}" type="slidenum">
              <a:rPr lang="en-US"/>
              <a:pPr/>
              <a:t>8</a:t>
            </a:fld>
            <a:endParaRPr 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ssp-powerpoint-3-front-fla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 descr="ssp-powerpoint-3-front-flat"/>
          <p:cNvPicPr>
            <a:picLocks noChangeAspect="1" noChangeArrowheads="1"/>
          </p:cNvPicPr>
          <p:nvPr/>
        </p:nvPicPr>
        <p:blipFill>
          <a:blip r:embed="rId2" cstate="print"/>
          <a:srcRect l="18646" t="83195" r="64948"/>
          <a:stretch>
            <a:fillRect/>
          </a:stretch>
        </p:blipFill>
        <p:spPr bwMode="auto">
          <a:xfrm>
            <a:off x="285750" y="5705475"/>
            <a:ext cx="1500188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 descr="ssp_logo_modern.jp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4313" y="5715000"/>
            <a:ext cx="160972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372199" y="6357938"/>
            <a:ext cx="2628925" cy="338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GB" sz="1600" dirty="0"/>
              <a:t>SSP </a:t>
            </a:r>
            <a:r>
              <a:rPr lang="en-GB" sz="1600" dirty="0" smtClean="0"/>
              <a:t>– Restricted</a:t>
            </a:r>
            <a:endParaRPr lang="en-GB" sz="1600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5288" y="3860800"/>
            <a:ext cx="7772400" cy="1470025"/>
          </a:xfrm>
        </p:spPr>
        <p:txBody>
          <a:bodyPr/>
          <a:lstStyle>
            <a:lvl1pPr>
              <a:defRPr sz="25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95288" y="4940300"/>
            <a:ext cx="7777162" cy="504825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  <p:transition spd="med">
    <p:pull dir="d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ssp-powerpoint-3-inner-flat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541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Add page title in here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57338"/>
            <a:ext cx="82296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Bullet points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7715250" y="5975350"/>
            <a:ext cx="1357313" cy="78581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1030" name="Picture 4" descr="ssp_logo_modern.jpg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62838" y="5786438"/>
            <a:ext cx="160972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ransition spd="med">
    <p:pull dir="d"/>
  </p:transition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FF3300"/>
        </a:buClr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3300"/>
        </a:buClr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FF3300"/>
        </a:buClr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467544" y="2852936"/>
            <a:ext cx="7772400" cy="14700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dirty="0" smtClean="0"/>
              <a:t>Technical Overview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1763688" y="1340768"/>
            <a:ext cx="583264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GB" dirty="0" smtClean="0"/>
              <a:t>Pure Architecture Design</a:t>
            </a:r>
            <a:endParaRPr lang="en-US" dirty="0"/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>
                <a:solidFill>
                  <a:srgbClr val="FF0000"/>
                </a:solidFill>
              </a:rPr>
              <a:t>Core Objects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itchFamily="2" charset="2"/>
              <a:buChar char="q"/>
            </a:pPr>
            <a:r>
              <a:rPr lang="en-GB" dirty="0" err="1" smtClean="0"/>
              <a:t>dPMDAO</a:t>
            </a:r>
            <a:r>
              <a:rPr lang="en-GB" dirty="0" smtClean="0"/>
              <a:t> – Database object.</a:t>
            </a:r>
          </a:p>
          <a:p>
            <a:pPr eaLnBrk="1" hangingPunct="1">
              <a:buFont typeface="Wingdings" pitchFamily="2" charset="2"/>
              <a:buChar char="q"/>
            </a:pPr>
            <a:r>
              <a:rPr lang="en-GB" dirty="0" err="1" smtClean="0"/>
              <a:t>bObjectManager</a:t>
            </a:r>
            <a:r>
              <a:rPr lang="en-GB" dirty="0" smtClean="0"/>
              <a:t> – Manages the creation of business objects from client.</a:t>
            </a:r>
          </a:p>
          <a:p>
            <a:pPr eaLnBrk="1" hangingPunct="1">
              <a:buFont typeface="Wingdings" pitchFamily="2" charset="2"/>
              <a:buChar char="q"/>
            </a:pPr>
            <a:r>
              <a:rPr lang="en-GB" dirty="0" err="1" smtClean="0"/>
              <a:t>PMLogonManager</a:t>
            </a:r>
            <a:r>
              <a:rPr lang="en-GB" dirty="0" smtClean="0"/>
              <a:t> – maintains login session.</a:t>
            </a:r>
          </a:p>
          <a:p>
            <a:pPr eaLnBrk="1" hangingPunct="1">
              <a:buFont typeface="Wingdings" pitchFamily="2" charset="2"/>
              <a:buChar char="q"/>
            </a:pPr>
            <a:r>
              <a:rPr lang="en-GB" dirty="0" err="1" smtClean="0"/>
              <a:t>PMWorkManager</a:t>
            </a:r>
            <a:r>
              <a:rPr lang="en-GB" dirty="0" smtClean="0"/>
              <a:t> – Task launcher and messaging.</a:t>
            </a:r>
          </a:p>
          <a:p>
            <a:pPr eaLnBrk="1" hangingPunct="1">
              <a:buFont typeface="Wingdings" pitchFamily="2" charset="2"/>
              <a:buChar char="q"/>
            </a:pPr>
            <a:r>
              <a:rPr lang="en-GB" dirty="0" smtClean="0"/>
              <a:t>iPMNavigatorXM – XML based workflow.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>
                <a:solidFill>
                  <a:srgbClr val="FF0000"/>
                </a:solidFill>
              </a:rPr>
              <a:t>Configuring Users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7544" y="1124744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1800" dirty="0" smtClean="0"/>
              <a:t>User Maintenance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dirty="0" smtClean="0"/>
              <a:t>List of authorised users.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dirty="0" smtClean="0"/>
              <a:t>User rights.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dirty="0" smtClean="0"/>
              <a:t>Security Model</a:t>
            </a:r>
          </a:p>
          <a:p>
            <a:pPr marL="1143000" lvl="3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GB" sz="1600" dirty="0" smtClean="0"/>
              <a:t>Standard Sirius</a:t>
            </a:r>
          </a:p>
          <a:p>
            <a:pPr marL="1143000" lvl="3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GB" sz="1600" dirty="0" smtClean="0"/>
              <a:t>Mixed Mode</a:t>
            </a:r>
          </a:p>
          <a:p>
            <a:pPr marL="1143000" lvl="3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GB" sz="1600" dirty="0" smtClean="0"/>
              <a:t>Unified Login (Domain login)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1600" dirty="0" smtClean="0"/>
              <a:t>User Group Maintenance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dirty="0" smtClean="0"/>
              <a:t>Which users belong to which user group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dirty="0" smtClean="0"/>
              <a:t>Which tasks groups belong to which user group.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1600" dirty="0" smtClean="0"/>
              <a:t>Task Group Maintenance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dirty="0" smtClean="0"/>
              <a:t>Which tasks (roadmaps) belong to which group.</a:t>
            </a:r>
          </a:p>
        </p:txBody>
      </p:sp>
      <p:grpSp>
        <p:nvGrpSpPr>
          <p:cNvPr id="4100" name="Group 4"/>
          <p:cNvGrpSpPr>
            <a:grpSpLocks/>
          </p:cNvGrpSpPr>
          <p:nvPr/>
        </p:nvGrpSpPr>
        <p:grpSpPr bwMode="auto">
          <a:xfrm>
            <a:off x="5796136" y="3933056"/>
            <a:ext cx="1874837" cy="1685925"/>
            <a:chOff x="4377" y="3702"/>
            <a:chExt cx="1181" cy="1062"/>
          </a:xfrm>
        </p:grpSpPr>
        <p:sp>
          <p:nvSpPr>
            <p:cNvPr id="4101" name="Text Box 5"/>
            <p:cNvSpPr txBox="1">
              <a:spLocks noChangeArrowheads="1"/>
            </p:cNvSpPr>
            <p:nvPr/>
          </p:nvSpPr>
          <p:spPr bwMode="auto">
            <a:xfrm>
              <a:off x="4377" y="3702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>
                  <a:solidFill>
                    <a:schemeClr val="bg1"/>
                  </a:solidFill>
                </a:rPr>
                <a:t>Components</a:t>
              </a:r>
            </a:p>
          </p:txBody>
        </p:sp>
        <p:sp>
          <p:nvSpPr>
            <p:cNvPr id="4102" name="Text Box 6"/>
            <p:cNvSpPr txBox="1">
              <a:spLocks noChangeArrowheads="1"/>
            </p:cNvSpPr>
            <p:nvPr/>
          </p:nvSpPr>
          <p:spPr bwMode="auto">
            <a:xfrm>
              <a:off x="4377" y="3884"/>
              <a:ext cx="1180" cy="880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bPMUser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iPMUserMaintenance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bPMTask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bPMTaskGroup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iPMTaskGroupMaintenance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PMUserGroupMaintenance</a:t>
              </a:r>
            </a:p>
          </p:txBody>
        </p:sp>
      </p:grp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>
                <a:solidFill>
                  <a:srgbClr val="FF0000"/>
                </a:solidFill>
              </a:rPr>
              <a:t>Configuring Branches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7544" y="1196752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Branches segregate data in the Sirius DB.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Referred to as “Source”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800" dirty="0" smtClean="0"/>
              <a:t>“Company” in Accounts (view on Source table)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Maintenance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800" dirty="0" smtClean="0"/>
              <a:t>Name and Code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800" dirty="0" smtClean="0"/>
              <a:t>Base Currency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800" dirty="0" smtClean="0"/>
              <a:t>Available Currencies</a:t>
            </a:r>
          </a:p>
        </p:txBody>
      </p:sp>
      <p:grpSp>
        <p:nvGrpSpPr>
          <p:cNvPr id="5124" name="Group 4"/>
          <p:cNvGrpSpPr>
            <a:grpSpLocks/>
          </p:cNvGrpSpPr>
          <p:nvPr/>
        </p:nvGrpSpPr>
        <p:grpSpPr bwMode="auto">
          <a:xfrm>
            <a:off x="1403648" y="5085184"/>
            <a:ext cx="1874837" cy="771525"/>
            <a:chOff x="4377" y="3702"/>
            <a:chExt cx="1181" cy="486"/>
          </a:xfrm>
        </p:grpSpPr>
        <p:sp>
          <p:nvSpPr>
            <p:cNvPr id="5125" name="Text Box 5"/>
            <p:cNvSpPr txBox="1">
              <a:spLocks noChangeArrowheads="1"/>
            </p:cNvSpPr>
            <p:nvPr/>
          </p:nvSpPr>
          <p:spPr bwMode="auto">
            <a:xfrm>
              <a:off x="4377" y="3702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 dirty="0">
                  <a:solidFill>
                    <a:schemeClr val="bg1"/>
                  </a:solidFill>
                </a:rPr>
                <a:t>Components</a:t>
              </a:r>
            </a:p>
          </p:txBody>
        </p:sp>
        <p:sp>
          <p:nvSpPr>
            <p:cNvPr id="5126" name="Text Box 6"/>
            <p:cNvSpPr txBox="1">
              <a:spLocks noChangeArrowheads="1"/>
            </p:cNvSpPr>
            <p:nvPr/>
          </p:nvSpPr>
          <p:spPr bwMode="auto">
            <a:xfrm>
              <a:off x="4377" y="3884"/>
              <a:ext cx="1180" cy="304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 dirty="0" err="1">
                  <a:solidFill>
                    <a:srgbClr val="333333"/>
                  </a:solidFill>
                </a:rPr>
                <a:t>bPMSource</a:t>
              </a:r>
              <a:endParaRPr lang="en-GB" sz="1000" b="1" dirty="0">
                <a:solidFill>
                  <a:srgbClr val="333333"/>
                </a:solidFill>
              </a:endParaRPr>
            </a:p>
            <a:p>
              <a:pPr algn="l">
                <a:spcBef>
                  <a:spcPct val="50000"/>
                </a:spcBef>
              </a:pPr>
              <a:r>
                <a:rPr lang="en-GB" sz="1000" b="1" dirty="0" err="1">
                  <a:solidFill>
                    <a:srgbClr val="333333"/>
                  </a:solidFill>
                </a:rPr>
                <a:t>PMSourceMaintenance</a:t>
              </a:r>
              <a:endParaRPr lang="en-GB" sz="1000" b="1" dirty="0">
                <a:solidFill>
                  <a:srgbClr val="333333"/>
                </a:solidFill>
              </a:endParaRPr>
            </a:p>
          </p:txBody>
        </p:sp>
      </p:grp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>
                <a:solidFill>
                  <a:srgbClr val="FF0000"/>
                </a:solidFill>
              </a:rPr>
              <a:t>Configuring Currencies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itchFamily="2" charset="2"/>
              <a:buChar char="q"/>
            </a:pPr>
            <a:r>
              <a:rPr lang="en-GB" sz="1800" dirty="0" smtClean="0"/>
              <a:t>Currency Maintenance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800" dirty="0" smtClean="0"/>
              <a:t>Core list of currencies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800" dirty="0" smtClean="0"/>
              <a:t>Formatting of numbers</a:t>
            </a:r>
          </a:p>
          <a:p>
            <a:pPr>
              <a:buFont typeface="Wingdings" pitchFamily="2" charset="2"/>
              <a:buChar char="q"/>
            </a:pPr>
            <a:r>
              <a:rPr lang="en-GB" sz="1800" dirty="0" smtClean="0"/>
              <a:t>Rate Maintenance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800" dirty="0" smtClean="0"/>
              <a:t>Setting rates and effective date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800" dirty="0" smtClean="0"/>
              <a:t>Rates can be per branch depending upon system option</a:t>
            </a:r>
            <a:endParaRPr lang="en-US" sz="1800" dirty="0" smtClean="0"/>
          </a:p>
          <a:p>
            <a:pPr eaLnBrk="1" hangingPunct="1"/>
            <a:endParaRPr lang="en-US" dirty="0" smtClean="0"/>
          </a:p>
        </p:txBody>
      </p:sp>
      <p:grpSp>
        <p:nvGrpSpPr>
          <p:cNvPr id="6148" name="Group 4"/>
          <p:cNvGrpSpPr>
            <a:grpSpLocks/>
          </p:cNvGrpSpPr>
          <p:nvPr/>
        </p:nvGrpSpPr>
        <p:grpSpPr bwMode="auto">
          <a:xfrm>
            <a:off x="2843808" y="4581128"/>
            <a:ext cx="1874837" cy="1228725"/>
            <a:chOff x="4377" y="3702"/>
            <a:chExt cx="1181" cy="774"/>
          </a:xfrm>
        </p:grpSpPr>
        <p:sp>
          <p:nvSpPr>
            <p:cNvPr id="6149" name="Text Box 5"/>
            <p:cNvSpPr txBox="1">
              <a:spLocks noChangeArrowheads="1"/>
            </p:cNvSpPr>
            <p:nvPr/>
          </p:nvSpPr>
          <p:spPr bwMode="auto">
            <a:xfrm>
              <a:off x="4377" y="3702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>
                  <a:solidFill>
                    <a:schemeClr val="bg1"/>
                  </a:solidFill>
                </a:rPr>
                <a:t>Components</a:t>
              </a:r>
            </a:p>
          </p:txBody>
        </p:sp>
        <p:sp>
          <p:nvSpPr>
            <p:cNvPr id="6150" name="Text Box 6"/>
            <p:cNvSpPr txBox="1">
              <a:spLocks noChangeArrowheads="1"/>
            </p:cNvSpPr>
            <p:nvPr/>
          </p:nvSpPr>
          <p:spPr bwMode="auto">
            <a:xfrm>
              <a:off x="4377" y="3884"/>
              <a:ext cx="1180" cy="592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bPMCurrency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bACTCurrencyRate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PMCurrencyMaintenance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iACTCurrencyRate</a:t>
              </a:r>
            </a:p>
          </p:txBody>
        </p:sp>
      </p:grp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188640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>
                <a:solidFill>
                  <a:srgbClr val="FF0000"/>
                </a:solidFill>
              </a:rPr>
              <a:t>Configuring Lookups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39552" y="764704"/>
            <a:ext cx="7632848" cy="50006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itchFamily="2" charset="2"/>
              <a:buChar char="q"/>
            </a:pPr>
            <a:r>
              <a:rPr lang="en-GB" sz="1800" dirty="0" smtClean="0"/>
              <a:t>Lookup Maintenance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dirty="0" smtClean="0"/>
              <a:t>Tables have minimum design</a:t>
            </a:r>
          </a:p>
          <a:p>
            <a:pPr marL="1143000" lvl="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GB" sz="1400" dirty="0" smtClean="0"/>
              <a:t>PK = &lt;table name&gt;_id, INT</a:t>
            </a:r>
          </a:p>
          <a:p>
            <a:pPr marL="1143000" lvl="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GB" sz="1400" dirty="0" err="1" smtClean="0"/>
              <a:t>caption_id</a:t>
            </a:r>
            <a:r>
              <a:rPr lang="en-GB" sz="1400" dirty="0" smtClean="0"/>
              <a:t>, INT</a:t>
            </a:r>
          </a:p>
          <a:p>
            <a:pPr marL="1143000" lvl="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GB" sz="1400" dirty="0" smtClean="0"/>
              <a:t>code, VARCHAR(20) indexed</a:t>
            </a:r>
          </a:p>
          <a:p>
            <a:pPr marL="1143000" lvl="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GB" sz="1400" dirty="0" smtClean="0"/>
              <a:t>description, VARCHAR(255), indexed</a:t>
            </a:r>
          </a:p>
          <a:p>
            <a:pPr marL="1143000" lvl="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GB" sz="1400" dirty="0" err="1" smtClean="0"/>
              <a:t>is_deleted</a:t>
            </a:r>
            <a:r>
              <a:rPr lang="en-GB" sz="1400" dirty="0" smtClean="0"/>
              <a:t>, BIT</a:t>
            </a:r>
          </a:p>
          <a:p>
            <a:pPr marL="1143000" lvl="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GB" sz="1400" dirty="0" err="1" smtClean="0"/>
              <a:t>effective_date</a:t>
            </a:r>
            <a:r>
              <a:rPr lang="en-GB" sz="1400" dirty="0" smtClean="0"/>
              <a:t>, DATETIME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dirty="0" smtClean="0"/>
              <a:t>All screens are dynamically generated based on underlying database table</a:t>
            </a:r>
          </a:p>
          <a:p>
            <a:pPr marL="1143000" lvl="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GB" sz="1400" dirty="0" smtClean="0"/>
              <a:t>is_&lt;field name&gt; TINYINT becomes checkbox with &lt;field name&gt; as label</a:t>
            </a:r>
          </a:p>
          <a:p>
            <a:pPr marL="1143000" lvl="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GB" sz="1400" dirty="0" smtClean="0"/>
              <a:t>_id is stripped off label</a:t>
            </a:r>
          </a:p>
          <a:p>
            <a:pPr marL="1143000" lvl="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GB" sz="1400" dirty="0" smtClean="0"/>
              <a:t>mixed capitals adds spaces. </a:t>
            </a:r>
            <a:r>
              <a:rPr lang="en-GB" sz="1400" dirty="0" err="1" smtClean="0"/>
              <a:t>eg</a:t>
            </a:r>
            <a:r>
              <a:rPr lang="en-GB" sz="1400" dirty="0" smtClean="0"/>
              <a:t>. </a:t>
            </a:r>
            <a:r>
              <a:rPr lang="en-GB" sz="1400" dirty="0" err="1" smtClean="0"/>
              <a:t>CashListType_id</a:t>
            </a:r>
            <a:r>
              <a:rPr lang="en-GB" sz="1400" dirty="0" smtClean="0"/>
              <a:t> -&gt; “Cash List Type”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dirty="0" smtClean="0"/>
              <a:t>Logic limited to underlying field type</a:t>
            </a:r>
          </a:p>
          <a:p>
            <a:pPr marL="1143000" lvl="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GB" sz="1400" dirty="0" smtClean="0"/>
              <a:t>NOT NULL -&gt; mandatory</a:t>
            </a:r>
          </a:p>
          <a:p>
            <a:pPr lvl="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GB" sz="1400" dirty="0" smtClean="0"/>
              <a:t>field type denotes validation, e.g.. INT must be numeric.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dirty="0" err="1" smtClean="0"/>
              <a:t>uctPMLookup</a:t>
            </a:r>
            <a:r>
              <a:rPr lang="en-GB" sz="1600" dirty="0" smtClean="0"/>
              <a:t> user control loads lookups into Combo</a:t>
            </a:r>
            <a:endParaRPr lang="en-US" sz="1600" dirty="0" smtClean="0"/>
          </a:p>
        </p:txBody>
      </p:sp>
      <p:grpSp>
        <p:nvGrpSpPr>
          <p:cNvPr id="7172" name="Group 4"/>
          <p:cNvGrpSpPr>
            <a:grpSpLocks/>
          </p:cNvGrpSpPr>
          <p:nvPr/>
        </p:nvGrpSpPr>
        <p:grpSpPr bwMode="auto">
          <a:xfrm>
            <a:off x="6012160" y="1844824"/>
            <a:ext cx="1874837" cy="1000125"/>
            <a:chOff x="4377" y="3702"/>
            <a:chExt cx="1181" cy="630"/>
          </a:xfrm>
        </p:grpSpPr>
        <p:sp>
          <p:nvSpPr>
            <p:cNvPr id="7173" name="Text Box 5"/>
            <p:cNvSpPr txBox="1">
              <a:spLocks noChangeArrowheads="1"/>
            </p:cNvSpPr>
            <p:nvPr/>
          </p:nvSpPr>
          <p:spPr bwMode="auto">
            <a:xfrm>
              <a:off x="4377" y="3702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 dirty="0">
                  <a:solidFill>
                    <a:schemeClr val="bg1"/>
                  </a:solidFill>
                </a:rPr>
                <a:t>Components</a:t>
              </a:r>
            </a:p>
          </p:txBody>
        </p:sp>
        <p:sp>
          <p:nvSpPr>
            <p:cNvPr id="7174" name="Text Box 6"/>
            <p:cNvSpPr txBox="1">
              <a:spLocks noChangeArrowheads="1"/>
            </p:cNvSpPr>
            <p:nvPr/>
          </p:nvSpPr>
          <p:spPr bwMode="auto">
            <a:xfrm>
              <a:off x="4377" y="3884"/>
              <a:ext cx="1180" cy="448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bPMLookup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iPMLookupMaintenance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uctPMLookup</a:t>
              </a:r>
            </a:p>
          </p:txBody>
        </p:sp>
      </p:grp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560" y="332656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>
                <a:solidFill>
                  <a:srgbClr val="FF0000"/>
                </a:solidFill>
              </a:rPr>
              <a:t>Tasks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83568" y="1124744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Tasks are held in the PMWrk_Task table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Tasks are either individual components or roadmaps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dirty="0" smtClean="0"/>
              <a:t>Component launch an individual component using it’s NavigatorV3 class.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dirty="0" smtClean="0"/>
              <a:t>Roadmaps launch iPMNavigatorXM with the relevant roadmap XML (pmnavxm_process_id is not null).</a:t>
            </a:r>
          </a:p>
          <a:p>
            <a:pPr marL="1143000" lvl="3" eaLnBrk="1" hangingPunct="1"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GB" sz="1400" dirty="0" smtClean="0"/>
              <a:t>roadmaps are in PMNavXM_Process table.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dirty="0" smtClean="0"/>
              <a:t>Some old style roadmaps still exist but these are being phased out.</a:t>
            </a:r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536" y="620688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err="1" smtClean="0">
                <a:solidFill>
                  <a:srgbClr val="FF0000"/>
                </a:solidFill>
              </a:rPr>
              <a:t>NavigatorXM</a:t>
            </a:r>
            <a:endParaRPr lang="en-GB" dirty="0" smtClean="0">
              <a:solidFill>
                <a:srgbClr val="FF0000"/>
              </a:solidFill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XML based roadmaps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dirty="0" smtClean="0"/>
              <a:t>Fire components off in a certain order</a:t>
            </a:r>
          </a:p>
          <a:p>
            <a:pPr marL="1143000" lvl="3" eaLnBrk="1" hangingPunct="1"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GB" sz="1400" dirty="0" smtClean="0"/>
              <a:t>Calls Component.NavigatorV3 class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dirty="0" smtClean="0"/>
              <a:t>“Keys”, label/value pairs are passed in/out of components down the roadmap.</a:t>
            </a:r>
          </a:p>
          <a:p>
            <a:pPr marL="1143000" lvl="3" eaLnBrk="1" hangingPunct="1"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GB" sz="1400" dirty="0" err="1" smtClean="0"/>
              <a:t>SetKeys</a:t>
            </a:r>
            <a:r>
              <a:rPr lang="en-GB" sz="1400" dirty="0" smtClean="0"/>
              <a:t> – passes keys in</a:t>
            </a:r>
          </a:p>
          <a:p>
            <a:pPr marL="1143000" lvl="3" eaLnBrk="1" hangingPunct="1"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GB" sz="1400" dirty="0" err="1" smtClean="0"/>
              <a:t>GetKeys</a:t>
            </a:r>
            <a:r>
              <a:rPr lang="en-GB" sz="1400" dirty="0" smtClean="0"/>
              <a:t> – passes keys out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dirty="0" smtClean="0"/>
              <a:t>Return value from the component determines which step runs next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XML in PM\Sirius Architecture\Common\</a:t>
            </a:r>
            <a:r>
              <a:rPr lang="en-GB" sz="1800" dirty="0" err="1" smtClean="0"/>
              <a:t>NavigatorXM</a:t>
            </a:r>
            <a:endParaRPr lang="en-GB" sz="1800" dirty="0" smtClean="0"/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err="1" smtClean="0">
                <a:solidFill>
                  <a:srgbClr val="FF0000"/>
                </a:solidFill>
              </a:rPr>
              <a:t>NavigatorXM</a:t>
            </a:r>
            <a:r>
              <a:rPr lang="en-GB" dirty="0" smtClean="0">
                <a:solidFill>
                  <a:srgbClr val="FF0000"/>
                </a:solidFill>
              </a:rPr>
              <a:t> – XML Format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7544" y="1124744"/>
            <a:ext cx="7127875" cy="48974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300" dirty="0" smtClean="0"/>
              <a:t>&lt;?xml version="1.0"?&gt;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300" dirty="0" smtClean="0"/>
              <a:t>&lt;!DOCTYPE MAP SYSTEM "navigatorxmv2.dtd"&gt;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300" dirty="0" smtClean="0"/>
              <a:t>&lt;MAP </a:t>
            </a:r>
            <a:r>
              <a:rPr lang="en-GB" sz="1300" dirty="0" err="1" smtClean="0"/>
              <a:t>WMTaskCode</a:t>
            </a:r>
            <a:r>
              <a:rPr lang="en-GB" sz="1300" dirty="0" smtClean="0"/>
              <a:t>="UNDERNB" </a:t>
            </a:r>
            <a:r>
              <a:rPr lang="en-GB" sz="1300" dirty="0" err="1" smtClean="0"/>
              <a:t>WMTaskDescription</a:t>
            </a:r>
            <a:r>
              <a:rPr lang="en-GB" sz="1300" dirty="0" smtClean="0"/>
              <a:t>="Complete Underwriting New Business" </a:t>
            </a:r>
            <a:r>
              <a:rPr lang="en-GB" sz="1300" dirty="0" err="1" smtClean="0"/>
              <a:t>ImageURL</a:t>
            </a:r>
            <a:r>
              <a:rPr lang="en-GB" sz="1300" dirty="0" smtClean="0"/>
              <a:t>="http://www.siriusgroup.co.uk" </a:t>
            </a:r>
            <a:r>
              <a:rPr lang="en-GB" sz="1300" dirty="0" err="1" smtClean="0"/>
              <a:t>TransactionType</a:t>
            </a:r>
            <a:r>
              <a:rPr lang="en-GB" sz="1300" dirty="0" smtClean="0"/>
              <a:t>="NB" </a:t>
            </a:r>
            <a:r>
              <a:rPr lang="en-GB" sz="1300" dirty="0" err="1" smtClean="0"/>
              <a:t>ProcessMode</a:t>
            </a:r>
            <a:r>
              <a:rPr lang="en-GB" sz="1300" dirty="0" smtClean="0"/>
              <a:t>="2" </a:t>
            </a:r>
            <a:r>
              <a:rPr lang="en-GB" sz="1300" dirty="0" err="1" smtClean="0"/>
              <a:t>AutoClose</a:t>
            </a:r>
            <a:r>
              <a:rPr lang="en-GB" sz="1300" dirty="0" smtClean="0"/>
              <a:t>="False" </a:t>
            </a:r>
            <a:r>
              <a:rPr lang="en-GB" sz="1300" dirty="0" err="1" smtClean="0"/>
              <a:t>NavigatorDriven</a:t>
            </a:r>
            <a:r>
              <a:rPr lang="en-GB" sz="1300" dirty="0" smtClean="0"/>
              <a:t>="True" Title="</a:t>
            </a:r>
            <a:r>
              <a:rPr lang="en-GB" sz="1300" dirty="0" err="1" smtClean="0"/>
              <a:t>NavigatorXM</a:t>
            </a:r>
            <a:r>
              <a:rPr lang="en-GB" sz="1300" dirty="0" smtClean="0"/>
              <a:t>" </a:t>
            </a:r>
            <a:r>
              <a:rPr lang="en-GB" sz="1300" dirty="0" err="1" smtClean="0"/>
              <a:t>RoadmapName</a:t>
            </a:r>
            <a:r>
              <a:rPr lang="en-GB" sz="1300" dirty="0" smtClean="0"/>
              <a:t>="Underwriting New Business" Core="1" </a:t>
            </a:r>
            <a:r>
              <a:rPr lang="en-GB" sz="1300" dirty="0" err="1" smtClean="0"/>
              <a:t>ElementID</a:t>
            </a:r>
            <a:r>
              <a:rPr lang="en-GB" sz="1300" dirty="0" smtClean="0"/>
              <a:t>="E1" Version="58"&gt;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300" dirty="0" smtClean="0"/>
              <a:t>	&lt;STEP Description="Underwriting Find Party" Component="iPMBFindPartyWrapper.NavigatorV3" Type="FF" </a:t>
            </a:r>
            <a:r>
              <a:rPr lang="en-GB" sz="1300" dirty="0" err="1" smtClean="0"/>
              <a:t>CancelAction</a:t>
            </a:r>
            <a:r>
              <a:rPr lang="en-GB" sz="1300" dirty="0" smtClean="0"/>
              <a:t>="AP" </a:t>
            </a:r>
            <a:r>
              <a:rPr lang="en-GB" sz="1300" dirty="0" err="1" smtClean="0"/>
              <a:t>OKAction</a:t>
            </a:r>
            <a:r>
              <a:rPr lang="en-GB" sz="1300" dirty="0" smtClean="0"/>
              <a:t>="F1" </a:t>
            </a:r>
            <a:r>
              <a:rPr lang="en-GB" sz="1300" dirty="0" err="1" smtClean="0"/>
              <a:t>OKSteps</a:t>
            </a:r>
            <a:r>
              <a:rPr lang="en-GB" sz="1300" dirty="0" smtClean="0"/>
              <a:t>="0" </a:t>
            </a:r>
            <a:r>
              <a:rPr lang="en-GB" sz="1300" dirty="0" err="1" smtClean="0"/>
              <a:t>CancelSteps</a:t>
            </a:r>
            <a:r>
              <a:rPr lang="en-GB" sz="1300" dirty="0" smtClean="0"/>
              <a:t>="0" </a:t>
            </a:r>
            <a:r>
              <a:rPr lang="en-GB" sz="1300" dirty="0" err="1" smtClean="0"/>
              <a:t>ComponentAction</a:t>
            </a:r>
            <a:r>
              <a:rPr lang="en-GB" sz="1300" dirty="0" smtClean="0"/>
              <a:t>="1" </a:t>
            </a:r>
            <a:r>
              <a:rPr lang="en-GB" sz="1300" dirty="0" err="1" smtClean="0"/>
              <a:t>ServerSide</a:t>
            </a:r>
            <a:r>
              <a:rPr lang="en-GB" sz="1300" dirty="0" smtClean="0"/>
              <a:t>="False" </a:t>
            </a:r>
            <a:r>
              <a:rPr lang="en-GB" sz="1300" dirty="0" err="1" smtClean="0"/>
              <a:t>CreateWMTask</a:t>
            </a:r>
            <a:r>
              <a:rPr lang="en-GB" sz="1300" dirty="0" smtClean="0"/>
              <a:t>="False" </a:t>
            </a:r>
            <a:r>
              <a:rPr lang="en-GB" sz="1300" dirty="0" err="1" smtClean="0"/>
              <a:t>ResumeStep</a:t>
            </a:r>
            <a:r>
              <a:rPr lang="en-GB" sz="1300" dirty="0" smtClean="0"/>
              <a:t>="" Core="1" </a:t>
            </a:r>
            <a:r>
              <a:rPr lang="en-GB" sz="1300" dirty="0" err="1" smtClean="0"/>
              <a:t>Submap</a:t>
            </a:r>
            <a:r>
              <a:rPr lang="en-GB" sz="1300" dirty="0" smtClean="0"/>
              <a:t>="" </a:t>
            </a:r>
            <a:r>
              <a:rPr lang="en-GB" sz="1300" dirty="0" err="1" smtClean="0"/>
              <a:t>OKNewRoadmap</a:t>
            </a:r>
            <a:r>
              <a:rPr lang="en-GB" sz="1300" dirty="0" smtClean="0"/>
              <a:t>="" </a:t>
            </a:r>
            <a:r>
              <a:rPr lang="en-GB" sz="1300" dirty="0" err="1" smtClean="0"/>
              <a:t>CancelNewRoadmap</a:t>
            </a:r>
            <a:r>
              <a:rPr lang="en-GB" sz="1300" dirty="0" smtClean="0"/>
              <a:t>="" </a:t>
            </a:r>
            <a:r>
              <a:rPr lang="en-GB" sz="1300" dirty="0" err="1" smtClean="0"/>
              <a:t>ElementID</a:t>
            </a:r>
            <a:r>
              <a:rPr lang="en-GB" sz="1300" dirty="0" smtClean="0"/>
              <a:t>="E2"/&gt;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300" dirty="0" smtClean="0"/>
              <a:t>	&lt;STEP Description="List Policies" Component="iPMUListPolicy.NavigatorV3" Type="FF" </a:t>
            </a:r>
            <a:r>
              <a:rPr lang="en-GB" sz="1300" dirty="0" err="1" smtClean="0"/>
              <a:t>CancelAction</a:t>
            </a:r>
            <a:r>
              <a:rPr lang="en-GB" sz="1300" dirty="0" smtClean="0"/>
              <a:t>="AP" </a:t>
            </a:r>
            <a:r>
              <a:rPr lang="en-GB" sz="1300" dirty="0" err="1" smtClean="0"/>
              <a:t>OKAction</a:t>
            </a:r>
            <a:r>
              <a:rPr lang="en-GB" sz="1300" dirty="0" smtClean="0"/>
              <a:t>="F1" </a:t>
            </a:r>
            <a:r>
              <a:rPr lang="en-GB" sz="1300" dirty="0" err="1" smtClean="0"/>
              <a:t>OKSteps</a:t>
            </a:r>
            <a:r>
              <a:rPr lang="en-GB" sz="1300" dirty="0" smtClean="0"/>
              <a:t>="0" </a:t>
            </a:r>
            <a:r>
              <a:rPr lang="en-GB" sz="1300" dirty="0" err="1" smtClean="0"/>
              <a:t>CancelSteps</a:t>
            </a:r>
            <a:r>
              <a:rPr lang="en-GB" sz="1300" dirty="0" smtClean="0"/>
              <a:t>="0" </a:t>
            </a:r>
            <a:r>
              <a:rPr lang="en-GB" sz="1300" dirty="0" err="1" smtClean="0"/>
              <a:t>ComponentAction</a:t>
            </a:r>
            <a:r>
              <a:rPr lang="en-GB" sz="1300" dirty="0" smtClean="0"/>
              <a:t>="2" </a:t>
            </a:r>
            <a:r>
              <a:rPr lang="en-GB" sz="1300" dirty="0" err="1" smtClean="0"/>
              <a:t>ServerSide</a:t>
            </a:r>
            <a:r>
              <a:rPr lang="en-GB" sz="1300" dirty="0" smtClean="0"/>
              <a:t>="False" </a:t>
            </a:r>
            <a:r>
              <a:rPr lang="en-GB" sz="1300" dirty="0" err="1" smtClean="0"/>
              <a:t>CreateWMTask</a:t>
            </a:r>
            <a:r>
              <a:rPr lang="en-GB" sz="1300" dirty="0" smtClean="0"/>
              <a:t>="False" </a:t>
            </a:r>
            <a:r>
              <a:rPr lang="en-GB" sz="1300" dirty="0" err="1" smtClean="0"/>
              <a:t>ResumeStep</a:t>
            </a:r>
            <a:r>
              <a:rPr lang="en-GB" sz="1300" dirty="0" smtClean="0"/>
              <a:t>="" Core="1" </a:t>
            </a:r>
            <a:r>
              <a:rPr lang="en-GB" sz="1300" dirty="0" err="1" smtClean="0"/>
              <a:t>Submap</a:t>
            </a:r>
            <a:r>
              <a:rPr lang="en-GB" sz="1300" dirty="0" smtClean="0"/>
              <a:t>="" </a:t>
            </a:r>
            <a:r>
              <a:rPr lang="en-GB" sz="1300" dirty="0" err="1" smtClean="0"/>
              <a:t>OKNewRoadmap</a:t>
            </a:r>
            <a:r>
              <a:rPr lang="en-GB" sz="1300" dirty="0" smtClean="0"/>
              <a:t>="" </a:t>
            </a:r>
            <a:r>
              <a:rPr lang="en-GB" sz="1300" dirty="0" err="1" smtClean="0"/>
              <a:t>CancelNewRoadmap</a:t>
            </a:r>
            <a:r>
              <a:rPr lang="en-GB" sz="1300" dirty="0" smtClean="0"/>
              <a:t>="" </a:t>
            </a:r>
            <a:r>
              <a:rPr lang="en-GB" sz="1300" dirty="0" err="1" smtClean="0"/>
              <a:t>ElementID</a:t>
            </a:r>
            <a:r>
              <a:rPr lang="en-GB" sz="1300" dirty="0" smtClean="0"/>
              <a:t>="E3"&gt;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300" dirty="0" smtClean="0"/>
              <a:t>		&lt;KEY Name="</a:t>
            </a:r>
            <a:r>
              <a:rPr lang="en-GB" sz="1300" dirty="0" err="1" smtClean="0"/>
              <a:t>insurance_file_type</a:t>
            </a:r>
            <a:r>
              <a:rPr lang="en-GB" sz="1300" dirty="0" smtClean="0"/>
              <a:t>" Value="4" </a:t>
            </a:r>
            <a:r>
              <a:rPr lang="en-GB" sz="1300" dirty="0" err="1" smtClean="0"/>
              <a:t>ElementID</a:t>
            </a:r>
            <a:r>
              <a:rPr lang="en-GB" sz="1300" dirty="0" smtClean="0"/>
              <a:t>="E4"/&gt;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300" dirty="0" smtClean="0"/>
              <a:t>	&lt;/STEP&gt;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300" dirty="0" smtClean="0"/>
              <a:t>…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300" dirty="0" smtClean="0"/>
              <a:t>&lt;/MAP&gt;</a:t>
            </a:r>
          </a:p>
        </p:txBody>
      </p:sp>
      <p:grpSp>
        <p:nvGrpSpPr>
          <p:cNvPr id="10244" name="Group 4"/>
          <p:cNvGrpSpPr>
            <a:grpSpLocks/>
          </p:cNvGrpSpPr>
          <p:nvPr/>
        </p:nvGrpSpPr>
        <p:grpSpPr bwMode="auto">
          <a:xfrm>
            <a:off x="3851920" y="5301208"/>
            <a:ext cx="1874838" cy="771525"/>
            <a:chOff x="4377" y="3702"/>
            <a:chExt cx="1181" cy="486"/>
          </a:xfrm>
        </p:grpSpPr>
        <p:sp>
          <p:nvSpPr>
            <p:cNvPr id="10254" name="Text Box 5"/>
            <p:cNvSpPr txBox="1">
              <a:spLocks noChangeArrowheads="1"/>
            </p:cNvSpPr>
            <p:nvPr/>
          </p:nvSpPr>
          <p:spPr bwMode="auto">
            <a:xfrm>
              <a:off x="4377" y="3702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 dirty="0">
                  <a:solidFill>
                    <a:schemeClr val="bg1"/>
                  </a:solidFill>
                </a:rPr>
                <a:t>Components</a:t>
              </a:r>
            </a:p>
          </p:txBody>
        </p:sp>
        <p:sp>
          <p:nvSpPr>
            <p:cNvPr id="10255" name="Text Box 6"/>
            <p:cNvSpPr txBox="1">
              <a:spLocks noChangeArrowheads="1"/>
            </p:cNvSpPr>
            <p:nvPr/>
          </p:nvSpPr>
          <p:spPr bwMode="auto">
            <a:xfrm>
              <a:off x="4377" y="3884"/>
              <a:ext cx="1180" cy="304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 dirty="0" err="1">
                  <a:solidFill>
                    <a:srgbClr val="333333"/>
                  </a:solidFill>
                </a:rPr>
                <a:t>bPMNavigatorXM</a:t>
              </a:r>
              <a:endParaRPr lang="en-GB" sz="1000" b="1" dirty="0">
                <a:solidFill>
                  <a:srgbClr val="333333"/>
                </a:solidFill>
              </a:endParaRPr>
            </a:p>
            <a:p>
              <a:pPr algn="l">
                <a:spcBef>
                  <a:spcPct val="50000"/>
                </a:spcBef>
              </a:pPr>
              <a:r>
                <a:rPr lang="en-GB" sz="1000" b="1" dirty="0">
                  <a:solidFill>
                    <a:srgbClr val="333333"/>
                  </a:solidFill>
                </a:rPr>
                <a:t>iPMNavigatorXM</a:t>
              </a:r>
            </a:p>
          </p:txBody>
        </p:sp>
      </p:grpSp>
      <p:grpSp>
        <p:nvGrpSpPr>
          <p:cNvPr id="10245" name="Group 7"/>
          <p:cNvGrpSpPr>
            <a:grpSpLocks/>
          </p:cNvGrpSpPr>
          <p:nvPr/>
        </p:nvGrpSpPr>
        <p:grpSpPr bwMode="auto">
          <a:xfrm>
            <a:off x="2267744" y="4869160"/>
            <a:ext cx="1370013" cy="1685926"/>
            <a:chOff x="4377" y="3702"/>
            <a:chExt cx="1181" cy="1062"/>
          </a:xfrm>
        </p:grpSpPr>
        <p:sp>
          <p:nvSpPr>
            <p:cNvPr id="10252" name="Text Box 8"/>
            <p:cNvSpPr txBox="1">
              <a:spLocks noChangeArrowheads="1"/>
            </p:cNvSpPr>
            <p:nvPr/>
          </p:nvSpPr>
          <p:spPr bwMode="auto">
            <a:xfrm>
              <a:off x="4377" y="3702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 dirty="0">
                  <a:solidFill>
                    <a:schemeClr val="bg1"/>
                  </a:solidFill>
                </a:rPr>
                <a:t>Action Codes</a:t>
              </a:r>
            </a:p>
          </p:txBody>
        </p:sp>
        <p:sp>
          <p:nvSpPr>
            <p:cNvPr id="10253" name="Text Box 9"/>
            <p:cNvSpPr txBox="1">
              <a:spLocks noChangeArrowheads="1"/>
            </p:cNvSpPr>
            <p:nvPr/>
          </p:nvSpPr>
          <p:spPr bwMode="auto">
            <a:xfrm>
              <a:off x="4377" y="3884"/>
              <a:ext cx="1180" cy="880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 dirty="0">
                  <a:solidFill>
                    <a:srgbClr val="333333"/>
                  </a:solidFill>
                </a:rPr>
                <a:t>F1 – forward one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 dirty="0">
                  <a:solidFill>
                    <a:srgbClr val="333333"/>
                  </a:solidFill>
                </a:rPr>
                <a:t>FX – forward steps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 dirty="0">
                  <a:solidFill>
                    <a:srgbClr val="333333"/>
                  </a:solidFill>
                </a:rPr>
                <a:t>B1 – back one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 dirty="0">
                  <a:solidFill>
                    <a:srgbClr val="333333"/>
                  </a:solidFill>
                </a:rPr>
                <a:t>BX – back steps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 dirty="0">
                  <a:solidFill>
                    <a:srgbClr val="333333"/>
                  </a:solidFill>
                </a:rPr>
                <a:t>AP – abort process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 dirty="0">
                  <a:solidFill>
                    <a:srgbClr val="333333"/>
                  </a:solidFill>
                </a:rPr>
                <a:t>CP – complete</a:t>
              </a:r>
            </a:p>
          </p:txBody>
        </p:sp>
      </p:grpSp>
      <p:grpSp>
        <p:nvGrpSpPr>
          <p:cNvPr id="10246" name="Group 10"/>
          <p:cNvGrpSpPr>
            <a:grpSpLocks/>
          </p:cNvGrpSpPr>
          <p:nvPr/>
        </p:nvGrpSpPr>
        <p:grpSpPr bwMode="auto">
          <a:xfrm>
            <a:off x="683568" y="5517232"/>
            <a:ext cx="1370013" cy="1000125"/>
            <a:chOff x="4377" y="3702"/>
            <a:chExt cx="1181" cy="630"/>
          </a:xfrm>
        </p:grpSpPr>
        <p:sp>
          <p:nvSpPr>
            <p:cNvPr id="10250" name="Text Box 11"/>
            <p:cNvSpPr txBox="1">
              <a:spLocks noChangeArrowheads="1"/>
            </p:cNvSpPr>
            <p:nvPr/>
          </p:nvSpPr>
          <p:spPr bwMode="auto">
            <a:xfrm>
              <a:off x="4377" y="3702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 dirty="0">
                  <a:solidFill>
                    <a:schemeClr val="bg1"/>
                  </a:solidFill>
                </a:rPr>
                <a:t>Type Codes</a:t>
              </a:r>
            </a:p>
          </p:txBody>
        </p:sp>
        <p:sp>
          <p:nvSpPr>
            <p:cNvPr id="10251" name="Text Box 12"/>
            <p:cNvSpPr txBox="1">
              <a:spLocks noChangeArrowheads="1"/>
            </p:cNvSpPr>
            <p:nvPr/>
          </p:nvSpPr>
          <p:spPr bwMode="auto">
            <a:xfrm>
              <a:off x="4377" y="3884"/>
              <a:ext cx="1180" cy="448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 dirty="0">
                  <a:solidFill>
                    <a:srgbClr val="333333"/>
                  </a:solidFill>
                </a:rPr>
                <a:t>FF – find form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 dirty="0">
                  <a:solidFill>
                    <a:srgbClr val="333333"/>
                  </a:solidFill>
                </a:rPr>
                <a:t>DF – data form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 dirty="0">
                  <a:solidFill>
                    <a:srgbClr val="333333"/>
                  </a:solidFill>
                </a:rPr>
                <a:t>QF – question form</a:t>
              </a:r>
            </a:p>
          </p:txBody>
        </p:sp>
      </p:grpSp>
      <p:grpSp>
        <p:nvGrpSpPr>
          <p:cNvPr id="10247" name="Group 13"/>
          <p:cNvGrpSpPr>
            <a:grpSpLocks/>
          </p:cNvGrpSpPr>
          <p:nvPr/>
        </p:nvGrpSpPr>
        <p:grpSpPr bwMode="auto">
          <a:xfrm>
            <a:off x="5868144" y="5085184"/>
            <a:ext cx="1370013" cy="1000125"/>
            <a:chOff x="4377" y="3702"/>
            <a:chExt cx="1181" cy="630"/>
          </a:xfrm>
        </p:grpSpPr>
        <p:sp>
          <p:nvSpPr>
            <p:cNvPr id="10248" name="Text Box 14"/>
            <p:cNvSpPr txBox="1">
              <a:spLocks noChangeArrowheads="1"/>
            </p:cNvSpPr>
            <p:nvPr/>
          </p:nvSpPr>
          <p:spPr bwMode="auto">
            <a:xfrm>
              <a:off x="4377" y="3702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>
                  <a:solidFill>
                    <a:schemeClr val="bg1"/>
                  </a:solidFill>
                </a:rPr>
                <a:t>Comp. Action</a:t>
              </a:r>
            </a:p>
          </p:txBody>
        </p:sp>
        <p:sp>
          <p:nvSpPr>
            <p:cNvPr id="10249" name="Text Box 15"/>
            <p:cNvSpPr txBox="1">
              <a:spLocks noChangeArrowheads="1"/>
            </p:cNvSpPr>
            <p:nvPr/>
          </p:nvSpPr>
          <p:spPr bwMode="auto">
            <a:xfrm>
              <a:off x="4377" y="3884"/>
              <a:ext cx="1180" cy="448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0 – View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1 – Add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2 – Edit</a:t>
              </a:r>
            </a:p>
          </p:txBody>
        </p:sp>
      </p:grp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548680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>
                <a:solidFill>
                  <a:srgbClr val="FF0000"/>
                </a:solidFill>
              </a:rPr>
              <a:t>Locks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Logical locks can be set using </a:t>
            </a:r>
            <a:r>
              <a:rPr lang="en-GB" sz="1800" dirty="0" err="1" smtClean="0"/>
              <a:t>bPMLock</a:t>
            </a:r>
            <a:endParaRPr lang="en-GB" sz="1800" dirty="0" smtClean="0"/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dirty="0" err="1" smtClean="0"/>
              <a:t>Used for locking elements of Sirius between multi-users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dirty="0" err="1" smtClean="0"/>
              <a:t>Lock will have a key name and user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dirty="0" err="1" smtClean="0"/>
              <a:t>Held in PMLock table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Locks must be set and cleared using code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dirty="0" err="1" smtClean="0"/>
              <a:t>bPMLock.User.LockKey</a:t>
            </a:r>
            <a:endParaRPr lang="en-GB" sz="1600" dirty="0" smtClean="0"/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dirty="0" err="1" smtClean="0"/>
              <a:t>bPMLock.User.UnLockKey</a:t>
            </a:r>
            <a:endParaRPr lang="en-GB" sz="1600" dirty="0" smtClean="0"/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If a client crashes then locks can be cleared using the Lock Administrator</a:t>
            </a:r>
          </a:p>
        </p:txBody>
      </p:sp>
      <p:grpSp>
        <p:nvGrpSpPr>
          <p:cNvPr id="11268" name="Group 4"/>
          <p:cNvGrpSpPr>
            <a:grpSpLocks/>
          </p:cNvGrpSpPr>
          <p:nvPr/>
        </p:nvGrpSpPr>
        <p:grpSpPr bwMode="auto">
          <a:xfrm>
            <a:off x="1331640" y="5301208"/>
            <a:ext cx="1874838" cy="771525"/>
            <a:chOff x="4377" y="3702"/>
            <a:chExt cx="1181" cy="486"/>
          </a:xfrm>
        </p:grpSpPr>
        <p:sp>
          <p:nvSpPr>
            <p:cNvPr id="11269" name="Text Box 5"/>
            <p:cNvSpPr txBox="1">
              <a:spLocks noChangeArrowheads="1"/>
            </p:cNvSpPr>
            <p:nvPr/>
          </p:nvSpPr>
          <p:spPr bwMode="auto">
            <a:xfrm>
              <a:off x="4377" y="3702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 dirty="0">
                  <a:solidFill>
                    <a:schemeClr val="bg1"/>
                  </a:solidFill>
                </a:rPr>
                <a:t>Components</a:t>
              </a:r>
            </a:p>
          </p:txBody>
        </p:sp>
        <p:sp>
          <p:nvSpPr>
            <p:cNvPr id="11270" name="Text Box 6"/>
            <p:cNvSpPr txBox="1">
              <a:spLocks noChangeArrowheads="1"/>
            </p:cNvSpPr>
            <p:nvPr/>
          </p:nvSpPr>
          <p:spPr bwMode="auto">
            <a:xfrm>
              <a:off x="4377" y="3884"/>
              <a:ext cx="1180" cy="304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bPMLock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iPMLock</a:t>
              </a:r>
            </a:p>
          </p:txBody>
        </p:sp>
      </p:grp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536" y="188640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>
                <a:solidFill>
                  <a:srgbClr val="FF0000"/>
                </a:solidFill>
              </a:rPr>
              <a:t>Object Creation Rules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95536" y="692696"/>
            <a:ext cx="8424936" cy="47847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600" dirty="0" smtClean="0"/>
              <a:t>Interfaces creating objects must use </a:t>
            </a:r>
            <a:r>
              <a:rPr lang="en-GB" sz="1600" dirty="0" err="1" smtClean="0"/>
              <a:t>bObjectManager</a:t>
            </a:r>
            <a:r>
              <a:rPr lang="en-GB" sz="1600" dirty="0" smtClean="0"/>
              <a:t>.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400" dirty="0" err="1" smtClean="0"/>
              <a:t>g_oObjectManager.GetInstance</a:t>
            </a:r>
            <a:r>
              <a:rPr lang="en-GB" sz="1400" dirty="0" smtClean="0"/>
              <a:t>( _</a:t>
            </a:r>
            <a:br>
              <a:rPr lang="en-GB" sz="1400" dirty="0" smtClean="0"/>
            </a:br>
            <a:r>
              <a:rPr lang="en-GB" sz="1400" dirty="0" smtClean="0"/>
              <a:t>		</a:t>
            </a:r>
            <a:r>
              <a:rPr lang="en-GB" sz="1400" dirty="0" err="1" smtClean="0"/>
              <a:t>oObject</a:t>
            </a:r>
            <a:r>
              <a:rPr lang="en-GB" sz="1400" dirty="0" smtClean="0"/>
              <a:t>:=&lt;object variable name&gt;, _</a:t>
            </a:r>
            <a:br>
              <a:rPr lang="en-GB" sz="1400" dirty="0" smtClean="0"/>
            </a:br>
            <a:r>
              <a:rPr lang="en-GB" sz="1400" dirty="0" smtClean="0"/>
              <a:t>		</a:t>
            </a:r>
            <a:r>
              <a:rPr lang="en-GB" sz="1400" dirty="0" err="1" smtClean="0"/>
              <a:t>sClassName</a:t>
            </a:r>
            <a:r>
              <a:rPr lang="en-GB" sz="1400" dirty="0" smtClean="0"/>
              <a:t>:=&lt;class name&gt;,</a:t>
            </a:r>
            <a:br>
              <a:rPr lang="en-GB" sz="1400" dirty="0" smtClean="0"/>
            </a:br>
            <a:r>
              <a:rPr lang="en-GB" sz="1400" dirty="0" smtClean="0"/>
              <a:t>		</a:t>
            </a:r>
            <a:r>
              <a:rPr lang="en-GB" sz="1400" dirty="0" err="1" smtClean="0"/>
              <a:t>vInstanceManager</a:t>
            </a:r>
            <a:r>
              <a:rPr lang="en-GB" sz="1400" dirty="0" smtClean="0"/>
              <a:t>:=&lt;type&gt;)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400" dirty="0" smtClean="0"/>
              <a:t>&lt;type&gt; is</a:t>
            </a:r>
          </a:p>
          <a:p>
            <a:pPr lvl="3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GB" sz="1400" dirty="0" err="1" smtClean="0"/>
              <a:t>PMGetViaClientManager</a:t>
            </a:r>
            <a:r>
              <a:rPr lang="en-GB" sz="1400" dirty="0" smtClean="0"/>
              <a:t> for business objects</a:t>
            </a:r>
          </a:p>
          <a:p>
            <a:pPr lvl="3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GB" sz="1400" dirty="0" err="1" smtClean="0"/>
              <a:t>PMGetLocalInterface</a:t>
            </a:r>
            <a:r>
              <a:rPr lang="en-GB" sz="1400" dirty="0" smtClean="0"/>
              <a:t> for client objects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400" dirty="0" smtClean="0"/>
              <a:t>Must </a:t>
            </a:r>
            <a:r>
              <a:rPr lang="en-GB" sz="1400" u="sng" dirty="0" smtClean="0"/>
              <a:t>never</a:t>
            </a:r>
            <a:r>
              <a:rPr lang="en-GB" sz="1400" dirty="0" smtClean="0"/>
              <a:t> use </a:t>
            </a:r>
            <a:r>
              <a:rPr lang="en-GB" sz="1400" dirty="0" err="1" smtClean="0"/>
              <a:t>CreateObject</a:t>
            </a:r>
            <a:r>
              <a:rPr lang="en-GB" sz="1400" dirty="0" smtClean="0"/>
              <a:t> (will not work on multi-tier)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600" dirty="0" smtClean="0"/>
              <a:t>Business Objects creating other objects must pass set Login state through Initialise call.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400" dirty="0" smtClean="0"/>
              <a:t>Use </a:t>
            </a:r>
            <a:r>
              <a:rPr lang="en-GB" sz="1400" dirty="0" err="1" smtClean="0"/>
              <a:t>gPMComponentServices.CreateBusinessObject</a:t>
            </a:r>
            <a:r>
              <a:rPr lang="en-GB" sz="1400" dirty="0" smtClean="0"/>
              <a:t> call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400" dirty="0" smtClean="0"/>
              <a:t>You must not instantiate interface objects (will not work on multi-tier)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400" dirty="0" smtClean="0"/>
              <a:t>You must pass through database connection (</a:t>
            </a:r>
            <a:r>
              <a:rPr lang="en-GB" sz="1400" dirty="0" err="1" smtClean="0"/>
              <a:t>m_oDatabase</a:t>
            </a:r>
            <a:r>
              <a:rPr lang="en-GB" sz="1400" dirty="0" smtClean="0"/>
              <a:t>)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400" dirty="0" smtClean="0"/>
              <a:t>Must </a:t>
            </a:r>
            <a:r>
              <a:rPr lang="en-GB" sz="1400" u="sng" dirty="0" smtClean="0"/>
              <a:t>never</a:t>
            </a:r>
            <a:r>
              <a:rPr lang="en-GB" sz="1400" dirty="0" smtClean="0"/>
              <a:t> use forms and </a:t>
            </a:r>
            <a:r>
              <a:rPr lang="en-GB" sz="1400" dirty="0" err="1" smtClean="0"/>
              <a:t>msgbox</a:t>
            </a:r>
            <a:r>
              <a:rPr lang="en-GB" sz="1400" dirty="0" smtClean="0"/>
              <a:t> calls.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600" dirty="0" smtClean="0"/>
              <a:t>Objects must never use global variables.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400" dirty="0" smtClean="0"/>
              <a:t>VB Runtime does not maintain different </a:t>
            </a:r>
            <a:r>
              <a:rPr lang="en-GB" sz="1400" dirty="0" err="1" smtClean="0"/>
              <a:t>globals</a:t>
            </a:r>
            <a:r>
              <a:rPr lang="en-GB" sz="1400" dirty="0" smtClean="0"/>
              <a:t> between multiple instances.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600" dirty="0" smtClean="0"/>
              <a:t>Objects must not reference other VB DLL libraries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400" dirty="0" smtClean="0"/>
              <a:t>Not scalable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400" dirty="0" smtClean="0"/>
              <a:t>Reason why library functions are shared bas modules</a:t>
            </a:r>
          </a:p>
        </p:txBody>
      </p:sp>
      <p:grpSp>
        <p:nvGrpSpPr>
          <p:cNvPr id="13316" name="Group 4"/>
          <p:cNvGrpSpPr>
            <a:grpSpLocks/>
          </p:cNvGrpSpPr>
          <p:nvPr/>
        </p:nvGrpSpPr>
        <p:grpSpPr bwMode="auto">
          <a:xfrm>
            <a:off x="6300192" y="1556792"/>
            <a:ext cx="1874838" cy="542925"/>
            <a:chOff x="4377" y="3702"/>
            <a:chExt cx="1181" cy="342"/>
          </a:xfrm>
        </p:grpSpPr>
        <p:sp>
          <p:nvSpPr>
            <p:cNvPr id="13317" name="Text Box 5"/>
            <p:cNvSpPr txBox="1">
              <a:spLocks noChangeArrowheads="1"/>
            </p:cNvSpPr>
            <p:nvPr/>
          </p:nvSpPr>
          <p:spPr bwMode="auto">
            <a:xfrm>
              <a:off x="4377" y="3702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 dirty="0">
                  <a:solidFill>
                    <a:schemeClr val="bg1"/>
                  </a:solidFill>
                </a:rPr>
                <a:t>Components</a:t>
              </a:r>
            </a:p>
          </p:txBody>
        </p:sp>
        <p:sp>
          <p:nvSpPr>
            <p:cNvPr id="13318" name="Text Box 6"/>
            <p:cNvSpPr txBox="1">
              <a:spLocks noChangeArrowheads="1"/>
            </p:cNvSpPr>
            <p:nvPr/>
          </p:nvSpPr>
          <p:spPr bwMode="auto">
            <a:xfrm>
              <a:off x="4377" y="3884"/>
              <a:ext cx="1180" cy="160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bObjectManager</a:t>
              </a:r>
            </a:p>
          </p:txBody>
        </p:sp>
      </p:grp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SP Corporate Presentation Template - SSP Internal use Onl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ppt262.tmp</Template>
  <TotalTime>16789</TotalTime>
  <Words>603</Words>
  <Application>Microsoft Office PowerPoint</Application>
  <PresentationFormat>On-screen Show (4:3)</PresentationFormat>
  <Paragraphs>154</Paragraphs>
  <Slides>11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SSP Corporate Presentation Template - SSP Internal use Only</vt:lpstr>
      <vt:lpstr>Technical Overview</vt:lpstr>
      <vt:lpstr>Core Objects</vt:lpstr>
      <vt:lpstr>Configuring Users</vt:lpstr>
      <vt:lpstr>Configuring Branches</vt:lpstr>
      <vt:lpstr>Configuring Currencies</vt:lpstr>
      <vt:lpstr>Configuring Lookups</vt:lpstr>
      <vt:lpstr>Tasks</vt:lpstr>
      <vt:lpstr>NavigatorXM</vt:lpstr>
      <vt:lpstr>NavigatorXM – XML Format</vt:lpstr>
      <vt:lpstr>Locks</vt:lpstr>
      <vt:lpstr>Object Creation Rules</vt:lpstr>
    </vt:vector>
  </TitlesOfParts>
  <Company>Sirius Financial Systems PLC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Sirius Accounts Technical Design</dc:title>
  <dc:creator>Danny Davis</dc:creator>
  <cp:lastModifiedBy>mousumi.borah</cp:lastModifiedBy>
  <cp:revision>241</cp:revision>
  <dcterms:created xsi:type="dcterms:W3CDTF">2005-03-04T10:54:44Z</dcterms:created>
  <dcterms:modified xsi:type="dcterms:W3CDTF">2013-05-20T09:27:40Z</dcterms:modified>
</cp:coreProperties>
</file>