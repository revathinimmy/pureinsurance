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handoutMasterIdLst>
    <p:handoutMasterId r:id="rId14"/>
  </p:handoutMasterIdLst>
  <p:sldIdLst>
    <p:sldId id="256" r:id="rId2"/>
    <p:sldId id="257" r:id="rId3"/>
    <p:sldId id="259" r:id="rId4"/>
    <p:sldId id="260" r:id="rId5"/>
    <p:sldId id="267" r:id="rId6"/>
    <p:sldId id="262" r:id="rId7"/>
    <p:sldId id="263" r:id="rId8"/>
    <p:sldId id="261" r:id="rId9"/>
    <p:sldId id="264" r:id="rId10"/>
    <p:sldId id="265" r:id="rId11"/>
    <p:sldId id="266" r:id="rId12"/>
  </p:sldIdLst>
  <p:sldSz cx="9144000" cy="6858000" type="screen4x3"/>
  <p:notesSz cx="6797675" cy="9926638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3600" kern="1200">
        <a:solidFill>
          <a:srgbClr val="800080"/>
        </a:solidFill>
        <a:latin typeface="Arial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3600" kern="1200">
        <a:solidFill>
          <a:srgbClr val="800080"/>
        </a:solidFill>
        <a:latin typeface="Arial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3600" kern="1200">
        <a:solidFill>
          <a:srgbClr val="800080"/>
        </a:solidFill>
        <a:latin typeface="Arial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3600" kern="1200">
        <a:solidFill>
          <a:srgbClr val="800080"/>
        </a:solidFill>
        <a:latin typeface="Arial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3600" kern="1200">
        <a:solidFill>
          <a:srgbClr val="800080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3600" kern="1200">
        <a:solidFill>
          <a:srgbClr val="800080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3600" kern="1200">
        <a:solidFill>
          <a:srgbClr val="800080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3600" kern="1200">
        <a:solidFill>
          <a:srgbClr val="800080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3600" kern="1200">
        <a:solidFill>
          <a:srgbClr val="800080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66"/>
    <a:srgbClr val="FFFF99"/>
    <a:srgbClr val="00CC00"/>
    <a:srgbClr val="FF0000"/>
    <a:srgbClr val="FF9933"/>
    <a:srgbClr val="BBE0E3"/>
    <a:srgbClr val="800080"/>
    <a:srgbClr val="0033CC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718" autoAdjust="0"/>
    <p:restoredTop sz="86443" autoAdjust="0"/>
  </p:normalViewPr>
  <p:slideViewPr>
    <p:cSldViewPr>
      <p:cViewPr varScale="1">
        <p:scale>
          <a:sx n="63" d="100"/>
          <a:sy n="63" d="100"/>
        </p:scale>
        <p:origin x="-1134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2568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09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09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8DA24B5A-F4FD-496D-B14C-6291DAAF706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5988" y="744538"/>
            <a:ext cx="4965700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4875"/>
            <a:ext cx="5438775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358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58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35E7A5A0-5531-4AAB-891E-8FFEB959365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44EFF7C-6DFC-4048-8FB3-667D37636418}" type="slidenum">
              <a:rPr lang="en-US"/>
              <a:pPr/>
              <a:t>1</a:t>
            </a:fld>
            <a:endParaRPr lang="en-US"/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F75ABA3-C9D2-43AE-A316-A655EEE2C122}" type="slidenum">
              <a:rPr lang="en-US"/>
              <a:pPr/>
              <a:t>2</a:t>
            </a:fld>
            <a:endParaRPr lang="en-US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BAA185D-E267-4E4E-B074-40E061AF584A}" type="slidenum">
              <a:rPr lang="en-US"/>
              <a:pPr/>
              <a:t>3</a:t>
            </a:fld>
            <a:endParaRPr lang="en-US"/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7E5E389-A820-4B27-9DC8-30B0CF544437}" type="slidenum">
              <a:rPr lang="en-US"/>
              <a:pPr/>
              <a:t>4</a:t>
            </a:fld>
            <a:endParaRPr lang="en-US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E13312C-FC5F-43C4-A3EC-637FE2B71D1B}" type="slidenum">
              <a:rPr lang="en-US"/>
              <a:pPr/>
              <a:t>5</a:t>
            </a:fld>
            <a:endParaRPr lang="en-US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60067E0-2643-4666-91A4-A0DE6B3F6D04}" type="slidenum">
              <a:rPr lang="en-US"/>
              <a:pPr/>
              <a:t>6</a:t>
            </a:fld>
            <a:endParaRPr lang="en-US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AD873B7-6A78-482C-8874-B0C2A7A0A3F2}" type="slidenum">
              <a:rPr lang="en-US"/>
              <a:pPr/>
              <a:t>7</a:t>
            </a:fld>
            <a:endParaRPr lang="en-US"/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A0ECF3-591D-42FA-9132-76C416035F37}" type="slidenum">
              <a:rPr lang="en-US"/>
              <a:pPr/>
              <a:t>8</a:t>
            </a:fld>
            <a:endParaRPr lang="en-US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C8B5CDF-77D2-4E07-82AE-6FB32E2DA697}" type="slidenum">
              <a:rPr lang="en-US"/>
              <a:pPr/>
              <a:t>9</a:t>
            </a:fld>
            <a:endParaRPr lang="en-US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1D032B5-59C4-40CD-AFAF-ECC4FEA9669C}" type="slidenum">
              <a:rPr lang="en-US"/>
              <a:pPr/>
              <a:t>10</a:t>
            </a:fld>
            <a:endParaRPr lang="en-US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992E654-30A3-4780-B95F-5591167EB50C}" type="slidenum">
              <a:rPr lang="en-US"/>
              <a:pPr/>
              <a:t>11</a:t>
            </a:fld>
            <a:endParaRPr 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ssp-powerpoint-3-front-fla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7" descr="ssp-powerpoint-3-front-flat"/>
          <p:cNvPicPr>
            <a:picLocks noChangeAspect="1" noChangeArrowheads="1"/>
          </p:cNvPicPr>
          <p:nvPr/>
        </p:nvPicPr>
        <p:blipFill>
          <a:blip r:embed="rId2" cstate="print"/>
          <a:srcRect l="18646" t="83195" r="64948"/>
          <a:stretch>
            <a:fillRect/>
          </a:stretch>
        </p:blipFill>
        <p:spPr bwMode="auto">
          <a:xfrm>
            <a:off x="285750" y="5705475"/>
            <a:ext cx="1500188" cy="115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8" descr="ssp_logo_modern.jpg"/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14313" y="5715000"/>
            <a:ext cx="1609725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6372199" y="6357938"/>
            <a:ext cx="2628925" cy="338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GB" sz="1600" dirty="0"/>
              <a:t>SSP </a:t>
            </a:r>
            <a:r>
              <a:rPr lang="en-GB" sz="1600" dirty="0" smtClean="0"/>
              <a:t>– Restricted</a:t>
            </a:r>
            <a:endParaRPr lang="en-GB" sz="1600" dirty="0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395288" y="3860800"/>
            <a:ext cx="7772400" cy="1470025"/>
          </a:xfrm>
        </p:spPr>
        <p:txBody>
          <a:bodyPr/>
          <a:lstStyle>
            <a:lvl1pPr>
              <a:defRPr sz="2500" b="1"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95288" y="4940300"/>
            <a:ext cx="7777162" cy="504825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  <p:transition spd="med">
    <p:pull dir="d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q"/>
              <a:defRPr sz="1800" b="0"/>
            </a:lvl1pPr>
            <a:lvl2pPr>
              <a:buFont typeface="Wingdings" pitchFamily="2" charset="2"/>
              <a:buChar char="§"/>
              <a:defRPr sz="1600" b="0"/>
            </a:lvl2pPr>
            <a:lvl3pPr>
              <a:buFont typeface="Courier New" pitchFamily="49" charset="0"/>
              <a:buChar char="o"/>
              <a:defRPr sz="1600" b="0"/>
            </a:lvl3pPr>
            <a:lvl4pPr>
              <a:buFont typeface="Arial" pitchFamily="34" charset="0"/>
              <a:buChar char="•"/>
              <a:defRPr sz="1400" b="0"/>
            </a:lvl4pPr>
            <a:lvl5pPr>
              <a:buFont typeface="Arial" pitchFamily="34" charset="0"/>
              <a:buChar char="•"/>
              <a:defRPr sz="1400" b="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</p:spTree>
  </p:cSld>
  <p:clrMapOvr>
    <a:masterClrMapping/>
  </p:clrMapOvr>
  <p:transition spd="med">
    <p:pull dir="d"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0" descr="ssp-powerpoint-3-inner-flat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5413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Add page title in here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557338"/>
            <a:ext cx="822960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Bullet points</a:t>
            </a:r>
          </a:p>
        </p:txBody>
      </p:sp>
      <p:sp>
        <p:nvSpPr>
          <p:cNvPr id="6" name="Rectangle 5"/>
          <p:cNvSpPr/>
          <p:nvPr/>
        </p:nvSpPr>
        <p:spPr bwMode="auto">
          <a:xfrm>
            <a:off x="7715250" y="5975350"/>
            <a:ext cx="1357313" cy="785813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>
              <a:defRPr/>
            </a:pPr>
            <a:endParaRPr lang="en-US" dirty="0"/>
          </a:p>
        </p:txBody>
      </p:sp>
      <p:pic>
        <p:nvPicPr>
          <p:cNvPr id="1030" name="Picture 4" descr="ssp_logo_modern.jpg"/>
          <p:cNvPicPr>
            <a:picLocks noChangeAspect="1"/>
          </p:cNvPicPr>
          <p:nvPr/>
        </p:nvPicPr>
        <p:blipFill>
          <a:blip r:embed="rId5" cstate="print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462838" y="5786438"/>
            <a:ext cx="1609725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ransition spd="med">
    <p:pull dir="d"/>
  </p:transition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FF3300"/>
        </a:buClr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FF3300"/>
        </a:buClr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FF3300"/>
        </a:buClr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467544" y="3284984"/>
            <a:ext cx="7772400" cy="1470025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dirty="0" smtClean="0"/>
              <a:t>Technical Design</a:t>
            </a:r>
          </a:p>
        </p:txBody>
      </p:sp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2627784" y="2348880"/>
            <a:ext cx="504056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en-GB" dirty="0" smtClean="0"/>
              <a:t>Pure Underwriting</a:t>
            </a:r>
            <a:endParaRPr lang="en-US" dirty="0"/>
          </a:p>
        </p:txBody>
      </p:sp>
    </p:spTree>
  </p:cSld>
  <p:clrMapOvr>
    <a:masterClrMapping/>
  </p:clrMapOvr>
  <p:transition spd="med">
    <p:pull dir="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GB" dirty="0" smtClean="0"/>
              <a:t>Background</a:t>
            </a:r>
            <a:endParaRPr lang="en-US" dirty="0" smtClean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468313" y="1341438"/>
            <a:ext cx="8229600" cy="4525962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SzPct val="130000"/>
            </a:pPr>
            <a:r>
              <a:rPr lang="en-GB" sz="1800" dirty="0" smtClean="0"/>
              <a:t>Pure Insurance is the product which looks after all the elements of an Underwriting Policy.</a:t>
            </a:r>
          </a:p>
          <a:p>
            <a:pPr lvl="1" eaLnBrk="1" hangingPunct="1">
              <a:buSzPct val="150000"/>
            </a:pPr>
            <a:r>
              <a:rPr lang="en-GB" sz="1600" dirty="0" smtClean="0"/>
              <a:t>Risks</a:t>
            </a:r>
          </a:p>
          <a:p>
            <a:pPr lvl="1" eaLnBrk="1" hangingPunct="1">
              <a:buSzPct val="150000"/>
            </a:pPr>
            <a:r>
              <a:rPr lang="en-GB" sz="1600" dirty="0" smtClean="0"/>
              <a:t>Rating Sections</a:t>
            </a:r>
          </a:p>
          <a:p>
            <a:pPr lvl="1" eaLnBrk="1" hangingPunct="1">
              <a:buSzPct val="150000"/>
            </a:pPr>
            <a:r>
              <a:rPr lang="en-GB" sz="1600" dirty="0" smtClean="0"/>
              <a:t>Reinsurance</a:t>
            </a:r>
          </a:p>
          <a:p>
            <a:pPr lvl="1" eaLnBrk="1" hangingPunct="1">
              <a:buSzPct val="150000"/>
            </a:pPr>
            <a:r>
              <a:rPr lang="en-GB" sz="1600" dirty="0" smtClean="0"/>
              <a:t>Agents</a:t>
            </a:r>
          </a:p>
          <a:p>
            <a:pPr lvl="1" eaLnBrk="1" hangingPunct="1">
              <a:buSzPct val="150000"/>
            </a:pPr>
            <a:r>
              <a:rPr lang="en-GB" sz="1600" dirty="0" smtClean="0"/>
              <a:t>Co-Insurance</a:t>
            </a:r>
          </a:p>
          <a:p>
            <a:pPr>
              <a:buSzPct val="130000"/>
            </a:pPr>
            <a:r>
              <a:rPr lang="en-GB" dirty="0" smtClean="0"/>
              <a:t>Pure Insurance </a:t>
            </a:r>
            <a:r>
              <a:rPr lang="en-GB" sz="1800" dirty="0" smtClean="0"/>
              <a:t>supports complex Tax arrangements for all parts of a Policy.</a:t>
            </a:r>
          </a:p>
          <a:p>
            <a:pPr eaLnBrk="1" hangingPunct="1">
              <a:buFont typeface="Wingdings" pitchFamily="2" charset="2"/>
              <a:buNone/>
            </a:pPr>
            <a:endParaRPr lang="en-US" dirty="0" smtClean="0"/>
          </a:p>
        </p:txBody>
      </p:sp>
    </p:spTree>
  </p:cSld>
  <p:clrMapOvr>
    <a:masterClrMapping/>
  </p:clrMapOvr>
  <p:transition spd="med">
    <p:pull dir="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GB" dirty="0" smtClean="0"/>
              <a:t>Pure Insurance Policy Structure</a:t>
            </a:r>
            <a:endParaRPr lang="en-US" dirty="0" smtClean="0"/>
          </a:p>
        </p:txBody>
      </p:sp>
      <p:sp>
        <p:nvSpPr>
          <p:cNvPr id="535582" name="Rectangle 30"/>
          <p:cNvSpPr>
            <a:spLocks noChangeArrowheads="1"/>
          </p:cNvSpPr>
          <p:nvPr/>
        </p:nvSpPr>
        <p:spPr bwMode="auto">
          <a:xfrm>
            <a:off x="3851275" y="1196975"/>
            <a:ext cx="1435100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 sz="1400">
                <a:solidFill>
                  <a:schemeClr val="tx1"/>
                </a:solidFill>
              </a:rPr>
              <a:t>Insurance_File</a:t>
            </a:r>
          </a:p>
        </p:txBody>
      </p:sp>
      <p:sp>
        <p:nvSpPr>
          <p:cNvPr id="535584" name="Rectangle 32"/>
          <p:cNvSpPr>
            <a:spLocks noChangeArrowheads="1"/>
          </p:cNvSpPr>
          <p:nvPr/>
        </p:nvSpPr>
        <p:spPr bwMode="auto">
          <a:xfrm>
            <a:off x="539750" y="3141663"/>
            <a:ext cx="1150938" cy="3603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 sz="1400">
                <a:solidFill>
                  <a:schemeClr val="tx1"/>
                </a:solidFill>
              </a:rPr>
              <a:t>Risk</a:t>
            </a:r>
          </a:p>
        </p:txBody>
      </p:sp>
      <p:sp>
        <p:nvSpPr>
          <p:cNvPr id="535585" name="Line 33"/>
          <p:cNvSpPr>
            <a:spLocks noChangeShapeType="1"/>
          </p:cNvSpPr>
          <p:nvPr/>
        </p:nvSpPr>
        <p:spPr bwMode="auto">
          <a:xfrm flipV="1">
            <a:off x="1187450" y="2420938"/>
            <a:ext cx="0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2" name="Text Box 34"/>
          <p:cNvSpPr txBox="1">
            <a:spLocks noChangeArrowheads="1"/>
          </p:cNvSpPr>
          <p:nvPr/>
        </p:nvSpPr>
        <p:spPr bwMode="auto">
          <a:xfrm>
            <a:off x="468313" y="2708275"/>
            <a:ext cx="1439862" cy="244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000"/>
              <a:t>risk_cnt</a:t>
            </a:r>
            <a:endParaRPr lang="en-US" sz="1000"/>
          </a:p>
        </p:txBody>
      </p:sp>
      <p:sp>
        <p:nvSpPr>
          <p:cNvPr id="535607" name="Rectangle 55"/>
          <p:cNvSpPr>
            <a:spLocks noChangeArrowheads="1"/>
          </p:cNvSpPr>
          <p:nvPr/>
        </p:nvSpPr>
        <p:spPr bwMode="auto">
          <a:xfrm>
            <a:off x="323850" y="1196975"/>
            <a:ext cx="1657350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 sz="1400">
                <a:solidFill>
                  <a:schemeClr val="tx1"/>
                </a:solidFill>
              </a:rPr>
              <a:t>Insurance_Folder</a:t>
            </a:r>
          </a:p>
        </p:txBody>
      </p:sp>
      <p:sp>
        <p:nvSpPr>
          <p:cNvPr id="535608" name="Line 56"/>
          <p:cNvSpPr>
            <a:spLocks noChangeShapeType="1"/>
          </p:cNvSpPr>
          <p:nvPr/>
        </p:nvSpPr>
        <p:spPr bwMode="auto">
          <a:xfrm>
            <a:off x="1979613" y="1412875"/>
            <a:ext cx="18716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5" name="Text Box 57"/>
          <p:cNvSpPr txBox="1">
            <a:spLocks noChangeArrowheads="1"/>
          </p:cNvSpPr>
          <p:nvPr/>
        </p:nvSpPr>
        <p:spPr bwMode="auto">
          <a:xfrm>
            <a:off x="2195513" y="1268413"/>
            <a:ext cx="1441450" cy="244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000"/>
              <a:t>insurance_folder_cnt</a:t>
            </a:r>
            <a:endParaRPr lang="en-US" sz="1000"/>
          </a:p>
        </p:txBody>
      </p:sp>
      <p:sp>
        <p:nvSpPr>
          <p:cNvPr id="535610" name="Rectangle 58"/>
          <p:cNvSpPr>
            <a:spLocks noChangeArrowheads="1"/>
          </p:cNvSpPr>
          <p:nvPr/>
        </p:nvSpPr>
        <p:spPr bwMode="auto">
          <a:xfrm>
            <a:off x="323850" y="2060575"/>
            <a:ext cx="2232025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 sz="1400">
                <a:solidFill>
                  <a:schemeClr val="tx1"/>
                </a:solidFill>
              </a:rPr>
              <a:t>Insurance_File_Risk_Link</a:t>
            </a:r>
          </a:p>
        </p:txBody>
      </p:sp>
      <p:sp>
        <p:nvSpPr>
          <p:cNvPr id="535611" name="Line 59"/>
          <p:cNvSpPr>
            <a:spLocks noChangeShapeType="1"/>
          </p:cNvSpPr>
          <p:nvPr/>
        </p:nvSpPr>
        <p:spPr bwMode="auto">
          <a:xfrm flipV="1">
            <a:off x="2411413" y="1484313"/>
            <a:ext cx="1439862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8" name="Text Box 60"/>
          <p:cNvSpPr txBox="1">
            <a:spLocks noChangeArrowheads="1"/>
          </p:cNvSpPr>
          <p:nvPr/>
        </p:nvSpPr>
        <p:spPr bwMode="auto">
          <a:xfrm>
            <a:off x="2339975" y="1700213"/>
            <a:ext cx="1512888" cy="244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000"/>
              <a:t>insurance_file_cnt</a:t>
            </a:r>
            <a:endParaRPr lang="en-US" sz="1000"/>
          </a:p>
        </p:txBody>
      </p:sp>
      <p:sp>
        <p:nvSpPr>
          <p:cNvPr id="535619" name="Rectangle 67"/>
          <p:cNvSpPr>
            <a:spLocks noChangeArrowheads="1"/>
          </p:cNvSpPr>
          <p:nvPr/>
        </p:nvSpPr>
        <p:spPr bwMode="auto">
          <a:xfrm>
            <a:off x="2916238" y="2060575"/>
            <a:ext cx="1800225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 sz="1400">
                <a:solidFill>
                  <a:schemeClr val="tx1"/>
                </a:solidFill>
              </a:rPr>
              <a:t>Agent_Commission</a:t>
            </a:r>
          </a:p>
        </p:txBody>
      </p:sp>
      <p:sp>
        <p:nvSpPr>
          <p:cNvPr id="535620" name="Line 68"/>
          <p:cNvSpPr>
            <a:spLocks noChangeShapeType="1"/>
          </p:cNvSpPr>
          <p:nvPr/>
        </p:nvSpPr>
        <p:spPr bwMode="auto">
          <a:xfrm flipV="1">
            <a:off x="4643438" y="1557338"/>
            <a:ext cx="0" cy="5032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35621" name="Rectangle 69"/>
          <p:cNvSpPr>
            <a:spLocks noChangeArrowheads="1"/>
          </p:cNvSpPr>
          <p:nvPr/>
        </p:nvSpPr>
        <p:spPr bwMode="auto">
          <a:xfrm>
            <a:off x="250825" y="4221163"/>
            <a:ext cx="1584325" cy="3603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 sz="1400">
                <a:solidFill>
                  <a:schemeClr val="tx1"/>
                </a:solidFill>
              </a:rPr>
              <a:t>GIS_Policy_Link</a:t>
            </a:r>
          </a:p>
        </p:txBody>
      </p:sp>
      <p:sp>
        <p:nvSpPr>
          <p:cNvPr id="535622" name="Line 70"/>
          <p:cNvSpPr>
            <a:spLocks noChangeShapeType="1"/>
          </p:cNvSpPr>
          <p:nvPr/>
        </p:nvSpPr>
        <p:spPr bwMode="auto">
          <a:xfrm flipV="1">
            <a:off x="1116013" y="3500438"/>
            <a:ext cx="0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13" name="Text Box 71"/>
          <p:cNvSpPr txBox="1">
            <a:spLocks noChangeArrowheads="1"/>
          </p:cNvSpPr>
          <p:nvPr/>
        </p:nvSpPr>
        <p:spPr bwMode="auto">
          <a:xfrm>
            <a:off x="755650" y="3787775"/>
            <a:ext cx="720725" cy="244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000"/>
              <a:t>risk_cnt</a:t>
            </a:r>
            <a:endParaRPr lang="en-US" sz="1000"/>
          </a:p>
        </p:txBody>
      </p:sp>
      <p:sp>
        <p:nvSpPr>
          <p:cNvPr id="535624" name="Line 72"/>
          <p:cNvSpPr>
            <a:spLocks noChangeShapeType="1"/>
          </p:cNvSpPr>
          <p:nvPr/>
        </p:nvSpPr>
        <p:spPr bwMode="auto">
          <a:xfrm flipV="1">
            <a:off x="1116013" y="4581525"/>
            <a:ext cx="0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15" name="Oval 73"/>
          <p:cNvSpPr>
            <a:spLocks noChangeArrowheads="1"/>
          </p:cNvSpPr>
          <p:nvPr/>
        </p:nvSpPr>
        <p:spPr bwMode="auto">
          <a:xfrm>
            <a:off x="250825" y="5300663"/>
            <a:ext cx="1655763" cy="5048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GB" sz="1200"/>
              <a:t>Product Builder</a:t>
            </a:r>
            <a:br>
              <a:rPr lang="en-GB" sz="1200"/>
            </a:br>
            <a:r>
              <a:rPr lang="en-GB" sz="1200"/>
              <a:t>Data Model</a:t>
            </a:r>
          </a:p>
        </p:txBody>
      </p:sp>
      <p:sp>
        <p:nvSpPr>
          <p:cNvPr id="535626" name="Rectangle 74"/>
          <p:cNvSpPr>
            <a:spLocks noChangeArrowheads="1"/>
          </p:cNvSpPr>
          <p:nvPr/>
        </p:nvSpPr>
        <p:spPr bwMode="auto">
          <a:xfrm>
            <a:off x="4859338" y="2060575"/>
            <a:ext cx="1222375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 sz="1400">
                <a:solidFill>
                  <a:schemeClr val="tx1"/>
                </a:solidFill>
              </a:rPr>
              <a:t>Policy_Fee_u</a:t>
            </a:r>
          </a:p>
        </p:txBody>
      </p:sp>
      <p:sp>
        <p:nvSpPr>
          <p:cNvPr id="535627" name="Line 75"/>
          <p:cNvSpPr>
            <a:spLocks noChangeShapeType="1"/>
          </p:cNvSpPr>
          <p:nvPr/>
        </p:nvSpPr>
        <p:spPr bwMode="auto">
          <a:xfrm flipH="1" flipV="1">
            <a:off x="5218113" y="1557338"/>
            <a:ext cx="1587" cy="5032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35628" name="Rectangle 76"/>
          <p:cNvSpPr>
            <a:spLocks noChangeArrowheads="1"/>
          </p:cNvSpPr>
          <p:nvPr/>
        </p:nvSpPr>
        <p:spPr bwMode="auto">
          <a:xfrm>
            <a:off x="1979613" y="4221163"/>
            <a:ext cx="1800225" cy="3603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 sz="1400">
                <a:solidFill>
                  <a:schemeClr val="tx1"/>
                </a:solidFill>
              </a:rPr>
              <a:t>Rating_Section</a:t>
            </a:r>
          </a:p>
        </p:txBody>
      </p:sp>
      <p:sp>
        <p:nvSpPr>
          <p:cNvPr id="535629" name="Line 77"/>
          <p:cNvSpPr>
            <a:spLocks noChangeShapeType="1"/>
          </p:cNvSpPr>
          <p:nvPr/>
        </p:nvSpPr>
        <p:spPr bwMode="auto">
          <a:xfrm flipH="1" flipV="1">
            <a:off x="1619250" y="3500438"/>
            <a:ext cx="936625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20" name="Text Box 78"/>
          <p:cNvSpPr txBox="1">
            <a:spLocks noChangeArrowheads="1"/>
          </p:cNvSpPr>
          <p:nvPr/>
        </p:nvSpPr>
        <p:spPr bwMode="auto">
          <a:xfrm>
            <a:off x="1692275" y="3789363"/>
            <a:ext cx="720725" cy="244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000"/>
              <a:t>risk_cnt</a:t>
            </a:r>
            <a:endParaRPr lang="en-US" sz="1000"/>
          </a:p>
        </p:txBody>
      </p:sp>
      <p:sp>
        <p:nvSpPr>
          <p:cNvPr id="535631" name="Rectangle 79"/>
          <p:cNvSpPr>
            <a:spLocks noChangeArrowheads="1"/>
          </p:cNvSpPr>
          <p:nvPr/>
        </p:nvSpPr>
        <p:spPr bwMode="auto">
          <a:xfrm>
            <a:off x="5364163" y="3500438"/>
            <a:ext cx="1800225" cy="3603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 sz="1400">
                <a:solidFill>
                  <a:schemeClr val="tx1"/>
                </a:solidFill>
              </a:rPr>
              <a:t>Tax_Calculation</a:t>
            </a:r>
          </a:p>
        </p:txBody>
      </p:sp>
      <p:sp>
        <p:nvSpPr>
          <p:cNvPr id="535632" name="Rectangle 80"/>
          <p:cNvSpPr>
            <a:spLocks noChangeArrowheads="1"/>
          </p:cNvSpPr>
          <p:nvPr/>
        </p:nvSpPr>
        <p:spPr bwMode="auto">
          <a:xfrm>
            <a:off x="3924300" y="4221163"/>
            <a:ext cx="1800225" cy="3603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 sz="1400">
                <a:solidFill>
                  <a:schemeClr val="tx1"/>
                </a:solidFill>
              </a:rPr>
              <a:t>RI_Arrangement</a:t>
            </a:r>
          </a:p>
        </p:txBody>
      </p:sp>
      <p:sp>
        <p:nvSpPr>
          <p:cNvPr id="535633" name="Rectangle 81"/>
          <p:cNvSpPr>
            <a:spLocks noChangeArrowheads="1"/>
          </p:cNvSpPr>
          <p:nvPr/>
        </p:nvSpPr>
        <p:spPr bwMode="auto">
          <a:xfrm>
            <a:off x="3852863" y="5229225"/>
            <a:ext cx="1943100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 sz="1400">
                <a:solidFill>
                  <a:schemeClr val="tx1"/>
                </a:solidFill>
              </a:rPr>
              <a:t>RI_Arrangement_Line</a:t>
            </a:r>
          </a:p>
        </p:txBody>
      </p:sp>
      <p:sp>
        <p:nvSpPr>
          <p:cNvPr id="535634" name="Line 82"/>
          <p:cNvSpPr>
            <a:spLocks noChangeShapeType="1"/>
          </p:cNvSpPr>
          <p:nvPr/>
        </p:nvSpPr>
        <p:spPr bwMode="auto">
          <a:xfrm flipH="1" flipV="1">
            <a:off x="1692275" y="3429000"/>
            <a:ext cx="2374900" cy="792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25" name="Text Box 83"/>
          <p:cNvSpPr txBox="1">
            <a:spLocks noChangeArrowheads="1"/>
          </p:cNvSpPr>
          <p:nvPr/>
        </p:nvSpPr>
        <p:spPr bwMode="auto">
          <a:xfrm>
            <a:off x="2484438" y="3716338"/>
            <a:ext cx="720725" cy="244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000"/>
              <a:t>risk_cnt</a:t>
            </a:r>
            <a:endParaRPr lang="en-US" sz="1000"/>
          </a:p>
        </p:txBody>
      </p:sp>
      <p:sp>
        <p:nvSpPr>
          <p:cNvPr id="535636" name="Line 84"/>
          <p:cNvSpPr>
            <a:spLocks noChangeShapeType="1"/>
          </p:cNvSpPr>
          <p:nvPr/>
        </p:nvSpPr>
        <p:spPr bwMode="auto">
          <a:xfrm flipH="1" flipV="1">
            <a:off x="4787900" y="4581525"/>
            <a:ext cx="0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27" name="Text Box 85"/>
          <p:cNvSpPr txBox="1">
            <a:spLocks noChangeArrowheads="1"/>
          </p:cNvSpPr>
          <p:nvPr/>
        </p:nvSpPr>
        <p:spPr bwMode="auto">
          <a:xfrm>
            <a:off x="3635375" y="4797425"/>
            <a:ext cx="2305050" cy="244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000"/>
              <a:t>ri_arrangement_line_id</a:t>
            </a:r>
            <a:endParaRPr lang="en-US" sz="1000"/>
          </a:p>
        </p:txBody>
      </p:sp>
      <p:sp>
        <p:nvSpPr>
          <p:cNvPr id="4128" name="Text Box 87"/>
          <p:cNvSpPr txBox="1">
            <a:spLocks noChangeArrowheads="1"/>
          </p:cNvSpPr>
          <p:nvPr/>
        </p:nvSpPr>
        <p:spPr bwMode="auto">
          <a:xfrm>
            <a:off x="3995738" y="4797425"/>
            <a:ext cx="1584325" cy="244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000"/>
              <a:t>ri_arrangement_id</a:t>
            </a:r>
            <a:endParaRPr lang="en-US" sz="1000"/>
          </a:p>
        </p:txBody>
      </p:sp>
      <p:sp>
        <p:nvSpPr>
          <p:cNvPr id="535640" name="Line 88"/>
          <p:cNvSpPr>
            <a:spLocks noChangeShapeType="1"/>
          </p:cNvSpPr>
          <p:nvPr/>
        </p:nvSpPr>
        <p:spPr bwMode="auto">
          <a:xfrm flipV="1">
            <a:off x="5795963" y="3860800"/>
            <a:ext cx="647700" cy="1368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30" name="Text Box 89"/>
          <p:cNvSpPr txBox="1">
            <a:spLocks noChangeArrowheads="1"/>
          </p:cNvSpPr>
          <p:nvPr/>
        </p:nvSpPr>
        <p:spPr bwMode="auto">
          <a:xfrm>
            <a:off x="5724525" y="4652963"/>
            <a:ext cx="1584325" cy="244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000"/>
              <a:t>ri_arrangement_line_id</a:t>
            </a:r>
            <a:endParaRPr lang="en-US" sz="1000"/>
          </a:p>
        </p:txBody>
      </p:sp>
      <p:sp>
        <p:nvSpPr>
          <p:cNvPr id="535642" name="Line 90"/>
          <p:cNvSpPr>
            <a:spLocks noChangeShapeType="1"/>
          </p:cNvSpPr>
          <p:nvPr/>
        </p:nvSpPr>
        <p:spPr bwMode="auto">
          <a:xfrm flipH="1" flipV="1">
            <a:off x="3924300" y="2420938"/>
            <a:ext cx="1439863" cy="1079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35643" name="Line 91"/>
          <p:cNvSpPr>
            <a:spLocks noChangeShapeType="1"/>
          </p:cNvSpPr>
          <p:nvPr/>
        </p:nvSpPr>
        <p:spPr bwMode="auto">
          <a:xfrm flipH="1" flipV="1">
            <a:off x="5292725" y="2420938"/>
            <a:ext cx="1439863" cy="1079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35644" name="Line 92"/>
          <p:cNvSpPr>
            <a:spLocks noChangeShapeType="1"/>
          </p:cNvSpPr>
          <p:nvPr/>
        </p:nvSpPr>
        <p:spPr bwMode="auto">
          <a:xfrm flipH="1" flipV="1">
            <a:off x="1692275" y="3284538"/>
            <a:ext cx="3671888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34" name="Text Box 93"/>
          <p:cNvSpPr txBox="1">
            <a:spLocks noChangeArrowheads="1"/>
          </p:cNvSpPr>
          <p:nvPr/>
        </p:nvSpPr>
        <p:spPr bwMode="auto">
          <a:xfrm>
            <a:off x="2916238" y="3284538"/>
            <a:ext cx="720725" cy="244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000"/>
              <a:t>risk_cnt</a:t>
            </a:r>
            <a:endParaRPr lang="en-US" sz="1000"/>
          </a:p>
        </p:txBody>
      </p:sp>
      <p:sp>
        <p:nvSpPr>
          <p:cNvPr id="4135" name="Text Box 95"/>
          <p:cNvSpPr txBox="1">
            <a:spLocks noChangeArrowheads="1"/>
          </p:cNvSpPr>
          <p:nvPr/>
        </p:nvSpPr>
        <p:spPr bwMode="auto">
          <a:xfrm>
            <a:off x="3562350" y="2781300"/>
            <a:ext cx="1730375" cy="244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000"/>
              <a:t>agent_commission_cnt</a:t>
            </a:r>
            <a:endParaRPr lang="en-US" sz="1000"/>
          </a:p>
        </p:txBody>
      </p:sp>
      <p:sp>
        <p:nvSpPr>
          <p:cNvPr id="4136" name="Text Box 96"/>
          <p:cNvSpPr txBox="1">
            <a:spLocks noChangeArrowheads="1"/>
          </p:cNvSpPr>
          <p:nvPr/>
        </p:nvSpPr>
        <p:spPr bwMode="auto">
          <a:xfrm>
            <a:off x="5364163" y="2781300"/>
            <a:ext cx="1152525" cy="244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000"/>
              <a:t>policy_fee_u_id</a:t>
            </a:r>
            <a:endParaRPr lang="en-US" sz="1000"/>
          </a:p>
        </p:txBody>
      </p:sp>
      <p:sp>
        <p:nvSpPr>
          <p:cNvPr id="535649" name="Line 97"/>
          <p:cNvSpPr>
            <a:spLocks noChangeShapeType="1"/>
          </p:cNvSpPr>
          <p:nvPr/>
        </p:nvSpPr>
        <p:spPr bwMode="auto">
          <a:xfrm flipH="1" flipV="1">
            <a:off x="6804025" y="1412875"/>
            <a:ext cx="0" cy="20875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35650" name="Line 98"/>
          <p:cNvSpPr>
            <a:spLocks noChangeShapeType="1"/>
          </p:cNvSpPr>
          <p:nvPr/>
        </p:nvSpPr>
        <p:spPr bwMode="auto">
          <a:xfrm flipV="1">
            <a:off x="5292725" y="1412875"/>
            <a:ext cx="15113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39" name="Text Box 100"/>
          <p:cNvSpPr txBox="1">
            <a:spLocks noChangeArrowheads="1"/>
          </p:cNvSpPr>
          <p:nvPr/>
        </p:nvSpPr>
        <p:spPr bwMode="auto">
          <a:xfrm>
            <a:off x="4140200" y="1700213"/>
            <a:ext cx="1512888" cy="244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000"/>
              <a:t>insurance_file_cnt</a:t>
            </a:r>
            <a:endParaRPr lang="en-US" sz="1000"/>
          </a:p>
        </p:txBody>
      </p:sp>
      <p:sp>
        <p:nvSpPr>
          <p:cNvPr id="4140" name="Text Box 101"/>
          <p:cNvSpPr txBox="1">
            <a:spLocks noChangeArrowheads="1"/>
          </p:cNvSpPr>
          <p:nvPr/>
        </p:nvSpPr>
        <p:spPr bwMode="auto">
          <a:xfrm>
            <a:off x="6011863" y="1700213"/>
            <a:ext cx="1512887" cy="244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000"/>
              <a:t>insurance_file_cnt</a:t>
            </a:r>
            <a:endParaRPr lang="en-US" sz="1000"/>
          </a:p>
        </p:txBody>
      </p:sp>
      <p:sp>
        <p:nvSpPr>
          <p:cNvPr id="535654" name="Line 102"/>
          <p:cNvSpPr>
            <a:spLocks noChangeShapeType="1"/>
          </p:cNvSpPr>
          <p:nvPr/>
        </p:nvSpPr>
        <p:spPr bwMode="auto">
          <a:xfrm flipH="1">
            <a:off x="1835150" y="4581525"/>
            <a:ext cx="1008063" cy="863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 type="triangle" w="med" len="med"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355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355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355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355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355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355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5355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5355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5356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5356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5356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5356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356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356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5356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5356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5356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5356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5356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5356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5356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5356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5356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5356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5356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5356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5356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5356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5356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5356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5356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5356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1000" fill="hold"/>
                                        <p:tgtEl>
                                          <p:spTgt spid="5356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1000" fill="hold"/>
                                        <p:tgtEl>
                                          <p:spTgt spid="5356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1000" fill="hold"/>
                                        <p:tgtEl>
                                          <p:spTgt spid="5356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1000" fill="hold"/>
                                        <p:tgtEl>
                                          <p:spTgt spid="5356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5356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5356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1000" fill="hold"/>
                                        <p:tgtEl>
                                          <p:spTgt spid="5356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1000" fill="hold"/>
                                        <p:tgtEl>
                                          <p:spTgt spid="5356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000" fill="hold"/>
                                        <p:tgtEl>
                                          <p:spTgt spid="5356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1000" fill="hold"/>
                                        <p:tgtEl>
                                          <p:spTgt spid="5356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1000" fill="hold"/>
                                        <p:tgtEl>
                                          <p:spTgt spid="5356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1000" fill="hold"/>
                                        <p:tgtEl>
                                          <p:spTgt spid="5356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1000" fill="hold"/>
                                        <p:tgtEl>
                                          <p:spTgt spid="5356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1000" fill="hold"/>
                                        <p:tgtEl>
                                          <p:spTgt spid="5356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1000" fill="hold"/>
                                        <p:tgtEl>
                                          <p:spTgt spid="5356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1000" fill="hold"/>
                                        <p:tgtEl>
                                          <p:spTgt spid="5356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1000" fill="hold"/>
                                        <p:tgtEl>
                                          <p:spTgt spid="5356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1000" fill="hold"/>
                                        <p:tgtEl>
                                          <p:spTgt spid="5356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000" fill="hold"/>
                                        <p:tgtEl>
                                          <p:spTgt spid="5356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1000" fill="hold"/>
                                        <p:tgtEl>
                                          <p:spTgt spid="5356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1000" fill="hold"/>
                                        <p:tgtEl>
                                          <p:spTgt spid="5356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1000" fill="hold"/>
                                        <p:tgtEl>
                                          <p:spTgt spid="5356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1000" fill="hold"/>
                                        <p:tgtEl>
                                          <p:spTgt spid="5356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1000" fill="hold"/>
                                        <p:tgtEl>
                                          <p:spTgt spid="5356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1000" fill="hold"/>
                                        <p:tgtEl>
                                          <p:spTgt spid="5356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1000" fill="hold"/>
                                        <p:tgtEl>
                                          <p:spTgt spid="5356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1000" fill="hold"/>
                                        <p:tgtEl>
                                          <p:spTgt spid="5356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1000" fill="hold"/>
                                        <p:tgtEl>
                                          <p:spTgt spid="5356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000" fill="hold"/>
                                        <p:tgtEl>
                                          <p:spTgt spid="5356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1000" fill="hold"/>
                                        <p:tgtEl>
                                          <p:spTgt spid="5356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1000" fill="hold"/>
                                        <p:tgtEl>
                                          <p:spTgt spid="5356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1000" fill="hold"/>
                                        <p:tgtEl>
                                          <p:spTgt spid="5356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1000" fill="hold"/>
                                        <p:tgtEl>
                                          <p:spTgt spid="5356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1000" fill="hold"/>
                                        <p:tgtEl>
                                          <p:spTgt spid="5356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1000" fill="hold"/>
                                        <p:tgtEl>
                                          <p:spTgt spid="5356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1000" fill="hold"/>
                                        <p:tgtEl>
                                          <p:spTgt spid="5356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1000" fill="hold"/>
                                        <p:tgtEl>
                                          <p:spTgt spid="5356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1000" fill="hold"/>
                                        <p:tgtEl>
                                          <p:spTgt spid="5356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1000" fill="hold"/>
                                        <p:tgtEl>
                                          <p:spTgt spid="5356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1000" fill="hold"/>
                                        <p:tgtEl>
                                          <p:spTgt spid="5356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1000" fill="hold"/>
                                        <p:tgtEl>
                                          <p:spTgt spid="5356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1000" fill="hold"/>
                                        <p:tgtEl>
                                          <p:spTgt spid="5356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5" dur="1000" fill="hold"/>
                                        <p:tgtEl>
                                          <p:spTgt spid="5356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" dur="1000" fill="hold"/>
                                        <p:tgtEl>
                                          <p:spTgt spid="5356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1000" fill="hold"/>
                                        <p:tgtEl>
                                          <p:spTgt spid="5356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1000" fill="hold"/>
                                        <p:tgtEl>
                                          <p:spTgt spid="5356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1000" fill="hold"/>
                                        <p:tgtEl>
                                          <p:spTgt spid="5356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1000" fill="hold"/>
                                        <p:tgtEl>
                                          <p:spTgt spid="5356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7" dur="1000" fill="hold"/>
                                        <p:tgtEl>
                                          <p:spTgt spid="5356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8" dur="1000" fill="hold"/>
                                        <p:tgtEl>
                                          <p:spTgt spid="5356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9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1" dur="1000" fill="hold"/>
                                        <p:tgtEl>
                                          <p:spTgt spid="5356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2" dur="1000" fill="hold"/>
                                        <p:tgtEl>
                                          <p:spTgt spid="5356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3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1000" fill="hold"/>
                                        <p:tgtEl>
                                          <p:spTgt spid="5356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1000" fill="hold"/>
                                        <p:tgtEl>
                                          <p:spTgt spid="5356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9" dur="1000" fill="hold"/>
                                        <p:tgtEl>
                                          <p:spTgt spid="5356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0" dur="1000" fill="hold"/>
                                        <p:tgtEl>
                                          <p:spTgt spid="5356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1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3" dur="1000" fill="hold"/>
                                        <p:tgtEl>
                                          <p:spTgt spid="5356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4" dur="1000" fill="hold"/>
                                        <p:tgtEl>
                                          <p:spTgt spid="5356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5582" grpId="0" animBg="1"/>
      <p:bldP spid="535584" grpId="0" animBg="1"/>
      <p:bldP spid="535585" grpId="0" animBg="1"/>
      <p:bldP spid="535585" grpId="1" animBg="1"/>
      <p:bldP spid="535607" grpId="0" animBg="1"/>
      <p:bldP spid="535608" grpId="0" animBg="1"/>
      <p:bldP spid="535608" grpId="1" animBg="1"/>
      <p:bldP spid="535610" grpId="0" animBg="1"/>
      <p:bldP spid="535611" grpId="0" animBg="1"/>
      <p:bldP spid="535611" grpId="1" animBg="1"/>
      <p:bldP spid="535619" grpId="0" animBg="1"/>
      <p:bldP spid="535620" grpId="0" animBg="1"/>
      <p:bldP spid="535620" grpId="1" animBg="1"/>
      <p:bldP spid="535621" grpId="0" animBg="1"/>
      <p:bldP spid="535622" grpId="0" animBg="1"/>
      <p:bldP spid="535622" grpId="1" animBg="1"/>
      <p:bldP spid="535624" grpId="0" animBg="1"/>
      <p:bldP spid="535624" grpId="1" animBg="1"/>
      <p:bldP spid="535626" grpId="0" animBg="1"/>
      <p:bldP spid="535627" grpId="0" animBg="1"/>
      <p:bldP spid="535627" grpId="1" animBg="1"/>
      <p:bldP spid="535628" grpId="0" animBg="1"/>
      <p:bldP spid="535629" grpId="0" animBg="1"/>
      <p:bldP spid="535629" grpId="1" animBg="1"/>
      <p:bldP spid="535631" grpId="0" animBg="1"/>
      <p:bldP spid="535632" grpId="0" animBg="1"/>
      <p:bldP spid="535633" grpId="0" animBg="1"/>
      <p:bldP spid="535634" grpId="0" animBg="1"/>
      <p:bldP spid="535634" grpId="1" animBg="1"/>
      <p:bldP spid="535636" grpId="0" animBg="1"/>
      <p:bldP spid="535636" grpId="1" animBg="1"/>
      <p:bldP spid="535640" grpId="0" animBg="1"/>
      <p:bldP spid="535640" grpId="1" animBg="1"/>
      <p:bldP spid="535642" grpId="0" animBg="1"/>
      <p:bldP spid="535642" grpId="1" animBg="1"/>
      <p:bldP spid="535643" grpId="0" animBg="1"/>
      <p:bldP spid="535643" grpId="1" animBg="1"/>
      <p:bldP spid="535644" grpId="0" animBg="1"/>
      <p:bldP spid="535644" grpId="1" animBg="1"/>
      <p:bldP spid="535649" grpId="0" animBg="1"/>
      <p:bldP spid="535649" grpId="1" animBg="1"/>
      <p:bldP spid="535650" grpId="0" animBg="1"/>
      <p:bldP spid="535650" grpId="1" animBg="1"/>
      <p:bldP spid="535654" grpId="0" animBg="1"/>
      <p:bldP spid="535654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GB" dirty="0" smtClean="0"/>
              <a:t>Pure Insurance Tax Calculation</a:t>
            </a:r>
            <a:endParaRPr lang="en-US" dirty="0" smtClean="0"/>
          </a:p>
        </p:txBody>
      </p:sp>
      <p:sp>
        <p:nvSpPr>
          <p:cNvPr id="5145" name="Rectangle 56"/>
          <p:cNvSpPr>
            <a:spLocks noGrp="1" noChangeArrowheads="1"/>
          </p:cNvSpPr>
          <p:nvPr>
            <p:ph idx="1"/>
          </p:nvPr>
        </p:nvSpPr>
        <p:spPr bwMode="auto">
          <a:xfrm>
            <a:off x="468313" y="1125538"/>
            <a:ext cx="8229600" cy="4525962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GB" dirty="0" smtClean="0"/>
              <a:t>Handled by:</a:t>
            </a:r>
          </a:p>
          <a:p>
            <a:pPr lvl="1" eaLnBrk="1" hangingPunct="1"/>
            <a:r>
              <a:rPr lang="en-GB" dirty="0" err="1" smtClean="0"/>
              <a:t>bSIRRITax</a:t>
            </a:r>
            <a:endParaRPr lang="en-GB" dirty="0" smtClean="0"/>
          </a:p>
          <a:p>
            <a:pPr lvl="1" eaLnBrk="1" hangingPunct="1"/>
            <a:r>
              <a:rPr lang="en-GB" dirty="0" err="1" smtClean="0"/>
              <a:t>spu_SIR_Calculate_Tax_Amounts</a:t>
            </a:r>
            <a:endParaRPr lang="en-GB" dirty="0" smtClean="0"/>
          </a:p>
          <a:p>
            <a:pPr eaLnBrk="1" hangingPunct="1">
              <a:buFont typeface="Wingdings" pitchFamily="2" charset="2"/>
              <a:buNone/>
            </a:pPr>
            <a:endParaRPr lang="en-US" dirty="0" smtClean="0"/>
          </a:p>
        </p:txBody>
      </p:sp>
      <p:sp>
        <p:nvSpPr>
          <p:cNvPr id="568323" name="Rectangle 3"/>
          <p:cNvSpPr>
            <a:spLocks noChangeArrowheads="1"/>
          </p:cNvSpPr>
          <p:nvPr/>
        </p:nvSpPr>
        <p:spPr bwMode="auto">
          <a:xfrm>
            <a:off x="5291138" y="3716338"/>
            <a:ext cx="1435100" cy="3603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 sz="1400">
                <a:solidFill>
                  <a:schemeClr val="tx1"/>
                </a:solidFill>
              </a:rPr>
              <a:t>Tax_Type</a:t>
            </a:r>
          </a:p>
        </p:txBody>
      </p:sp>
      <p:sp>
        <p:nvSpPr>
          <p:cNvPr id="568327" name="Rectangle 7"/>
          <p:cNvSpPr>
            <a:spLocks noChangeArrowheads="1"/>
          </p:cNvSpPr>
          <p:nvPr/>
        </p:nvSpPr>
        <p:spPr bwMode="auto">
          <a:xfrm>
            <a:off x="2051050" y="2492375"/>
            <a:ext cx="1657350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 sz="1400">
                <a:solidFill>
                  <a:schemeClr val="tx1"/>
                </a:solidFill>
              </a:rPr>
              <a:t>Tax_Group</a:t>
            </a:r>
          </a:p>
        </p:txBody>
      </p:sp>
      <p:sp>
        <p:nvSpPr>
          <p:cNvPr id="568330" name="Rectangle 10"/>
          <p:cNvSpPr>
            <a:spLocks noChangeArrowheads="1"/>
          </p:cNvSpPr>
          <p:nvPr/>
        </p:nvSpPr>
        <p:spPr bwMode="auto">
          <a:xfrm>
            <a:off x="5219700" y="2779713"/>
            <a:ext cx="1511300" cy="3603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 sz="1400">
                <a:solidFill>
                  <a:schemeClr val="tx1"/>
                </a:solidFill>
              </a:rPr>
              <a:t>Tax_Type_Basis</a:t>
            </a:r>
          </a:p>
        </p:txBody>
      </p:sp>
      <p:sp>
        <p:nvSpPr>
          <p:cNvPr id="568331" name="Line 11"/>
          <p:cNvSpPr>
            <a:spLocks noChangeShapeType="1"/>
          </p:cNvSpPr>
          <p:nvPr/>
        </p:nvSpPr>
        <p:spPr bwMode="auto">
          <a:xfrm flipV="1">
            <a:off x="3851275" y="3860800"/>
            <a:ext cx="1439863" cy="792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68333" name="Rectangle 13"/>
          <p:cNvSpPr>
            <a:spLocks noChangeArrowheads="1"/>
          </p:cNvSpPr>
          <p:nvPr/>
        </p:nvSpPr>
        <p:spPr bwMode="auto">
          <a:xfrm>
            <a:off x="2051050" y="4652963"/>
            <a:ext cx="1800225" cy="3603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 sz="1400">
                <a:solidFill>
                  <a:schemeClr val="tx1"/>
                </a:solidFill>
              </a:rPr>
              <a:t>Tax_Band</a:t>
            </a:r>
          </a:p>
        </p:txBody>
      </p:sp>
      <p:sp>
        <p:nvSpPr>
          <p:cNvPr id="568345" name="Rectangle 25"/>
          <p:cNvSpPr>
            <a:spLocks noChangeArrowheads="1"/>
          </p:cNvSpPr>
          <p:nvPr/>
        </p:nvSpPr>
        <p:spPr bwMode="auto">
          <a:xfrm>
            <a:off x="5795963" y="4652963"/>
            <a:ext cx="1800225" cy="3603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 sz="1400">
                <a:solidFill>
                  <a:schemeClr val="tx1"/>
                </a:solidFill>
              </a:rPr>
              <a:t>Tax_Calculation</a:t>
            </a:r>
          </a:p>
        </p:txBody>
      </p:sp>
      <p:sp>
        <p:nvSpPr>
          <p:cNvPr id="568355" name="Line 35"/>
          <p:cNvSpPr>
            <a:spLocks noChangeShapeType="1"/>
          </p:cNvSpPr>
          <p:nvPr/>
        </p:nvSpPr>
        <p:spPr bwMode="auto">
          <a:xfrm flipH="1">
            <a:off x="3851275" y="4868863"/>
            <a:ext cx="19446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130" name="Text Box 40"/>
          <p:cNvSpPr txBox="1">
            <a:spLocks noChangeArrowheads="1"/>
          </p:cNvSpPr>
          <p:nvPr/>
        </p:nvSpPr>
        <p:spPr bwMode="auto">
          <a:xfrm>
            <a:off x="3995738" y="4076700"/>
            <a:ext cx="1152525" cy="244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000"/>
              <a:t>tax_type_id</a:t>
            </a:r>
            <a:endParaRPr lang="en-US" sz="1000"/>
          </a:p>
        </p:txBody>
      </p:sp>
      <p:sp>
        <p:nvSpPr>
          <p:cNvPr id="568362" name="Line 42"/>
          <p:cNvSpPr>
            <a:spLocks noChangeShapeType="1"/>
          </p:cNvSpPr>
          <p:nvPr/>
        </p:nvSpPr>
        <p:spPr bwMode="auto">
          <a:xfrm flipV="1">
            <a:off x="6011863" y="3140075"/>
            <a:ext cx="0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132" name="Text Box 44"/>
          <p:cNvSpPr txBox="1">
            <a:spLocks noChangeArrowheads="1"/>
          </p:cNvSpPr>
          <p:nvPr/>
        </p:nvSpPr>
        <p:spPr bwMode="auto">
          <a:xfrm>
            <a:off x="4211638" y="4724400"/>
            <a:ext cx="1079500" cy="244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000"/>
              <a:t>tax_band_id</a:t>
            </a:r>
            <a:endParaRPr lang="en-US" sz="1000"/>
          </a:p>
        </p:txBody>
      </p:sp>
      <p:sp>
        <p:nvSpPr>
          <p:cNvPr id="5133" name="Text Box 12"/>
          <p:cNvSpPr txBox="1">
            <a:spLocks noChangeArrowheads="1"/>
          </p:cNvSpPr>
          <p:nvPr/>
        </p:nvSpPr>
        <p:spPr bwMode="auto">
          <a:xfrm>
            <a:off x="5362575" y="3284538"/>
            <a:ext cx="1225550" cy="244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000"/>
              <a:t>tax_type_basis_id</a:t>
            </a:r>
            <a:endParaRPr lang="en-US" sz="1000"/>
          </a:p>
        </p:txBody>
      </p:sp>
      <p:sp>
        <p:nvSpPr>
          <p:cNvPr id="568366" name="Rectangle 46"/>
          <p:cNvSpPr>
            <a:spLocks noChangeArrowheads="1"/>
          </p:cNvSpPr>
          <p:nvPr/>
        </p:nvSpPr>
        <p:spPr bwMode="auto">
          <a:xfrm>
            <a:off x="2051050" y="3571875"/>
            <a:ext cx="1657350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 sz="1400">
                <a:solidFill>
                  <a:schemeClr val="tx1"/>
                </a:solidFill>
              </a:rPr>
              <a:t>Tax_Group_Band</a:t>
            </a:r>
          </a:p>
        </p:txBody>
      </p:sp>
      <p:sp>
        <p:nvSpPr>
          <p:cNvPr id="568367" name="Line 47"/>
          <p:cNvSpPr>
            <a:spLocks noChangeShapeType="1"/>
          </p:cNvSpPr>
          <p:nvPr/>
        </p:nvSpPr>
        <p:spPr bwMode="auto">
          <a:xfrm flipH="1" flipV="1">
            <a:off x="2986088" y="2852738"/>
            <a:ext cx="1587" cy="7191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136" name="Text Box 39"/>
          <p:cNvSpPr txBox="1">
            <a:spLocks noChangeArrowheads="1"/>
          </p:cNvSpPr>
          <p:nvPr/>
        </p:nvSpPr>
        <p:spPr bwMode="auto">
          <a:xfrm>
            <a:off x="2413000" y="3068638"/>
            <a:ext cx="1006475" cy="244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000"/>
              <a:t>tax_group_id</a:t>
            </a:r>
            <a:endParaRPr lang="en-US" sz="1000"/>
          </a:p>
        </p:txBody>
      </p:sp>
      <p:sp>
        <p:nvSpPr>
          <p:cNvPr id="568368" name="Line 48"/>
          <p:cNvSpPr>
            <a:spLocks noChangeShapeType="1"/>
          </p:cNvSpPr>
          <p:nvPr/>
        </p:nvSpPr>
        <p:spPr bwMode="auto">
          <a:xfrm flipH="1" flipV="1">
            <a:off x="2984500" y="3932238"/>
            <a:ext cx="1588" cy="7191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138" name="Text Box 49"/>
          <p:cNvSpPr txBox="1">
            <a:spLocks noChangeArrowheads="1"/>
          </p:cNvSpPr>
          <p:nvPr/>
        </p:nvSpPr>
        <p:spPr bwMode="auto">
          <a:xfrm>
            <a:off x="2411413" y="4148138"/>
            <a:ext cx="1006475" cy="244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000"/>
              <a:t>tax_band_id</a:t>
            </a:r>
            <a:endParaRPr lang="en-US" sz="1000"/>
          </a:p>
        </p:txBody>
      </p:sp>
      <p:sp>
        <p:nvSpPr>
          <p:cNvPr id="568370" name="Rectangle 50"/>
          <p:cNvSpPr>
            <a:spLocks noChangeArrowheads="1"/>
          </p:cNvSpPr>
          <p:nvPr/>
        </p:nvSpPr>
        <p:spPr bwMode="auto">
          <a:xfrm>
            <a:off x="2051050" y="5732463"/>
            <a:ext cx="1800225" cy="3603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 sz="1400">
                <a:solidFill>
                  <a:schemeClr val="tx1"/>
                </a:solidFill>
              </a:rPr>
              <a:t>Tax_Band_Rate</a:t>
            </a:r>
          </a:p>
        </p:txBody>
      </p:sp>
      <p:sp>
        <p:nvSpPr>
          <p:cNvPr id="568371" name="Line 51"/>
          <p:cNvSpPr>
            <a:spLocks noChangeShapeType="1"/>
          </p:cNvSpPr>
          <p:nvPr/>
        </p:nvSpPr>
        <p:spPr bwMode="auto">
          <a:xfrm flipH="1" flipV="1">
            <a:off x="2984500" y="5011738"/>
            <a:ext cx="1588" cy="7191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141" name="Text Box 52"/>
          <p:cNvSpPr txBox="1">
            <a:spLocks noChangeArrowheads="1"/>
          </p:cNvSpPr>
          <p:nvPr/>
        </p:nvSpPr>
        <p:spPr bwMode="auto">
          <a:xfrm>
            <a:off x="2411413" y="5227638"/>
            <a:ext cx="1006475" cy="244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000"/>
              <a:t>tax_band_id</a:t>
            </a:r>
            <a:endParaRPr lang="en-US" sz="1000"/>
          </a:p>
        </p:txBody>
      </p:sp>
      <p:sp>
        <p:nvSpPr>
          <p:cNvPr id="568373" name="Line 53"/>
          <p:cNvSpPr>
            <a:spLocks noChangeShapeType="1"/>
          </p:cNvSpPr>
          <p:nvPr/>
        </p:nvSpPr>
        <p:spPr bwMode="auto">
          <a:xfrm>
            <a:off x="3706813" y="2563813"/>
            <a:ext cx="3384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68374" name="Line 54"/>
          <p:cNvSpPr>
            <a:spLocks noChangeShapeType="1"/>
          </p:cNvSpPr>
          <p:nvPr/>
        </p:nvSpPr>
        <p:spPr bwMode="auto">
          <a:xfrm>
            <a:off x="7091363" y="2563813"/>
            <a:ext cx="0" cy="2089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144" name="Text Box 55"/>
          <p:cNvSpPr txBox="1">
            <a:spLocks noChangeArrowheads="1"/>
          </p:cNvSpPr>
          <p:nvPr/>
        </p:nvSpPr>
        <p:spPr bwMode="auto">
          <a:xfrm>
            <a:off x="6731000" y="3284538"/>
            <a:ext cx="1009650" cy="244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000"/>
              <a:t>tax_group_id</a:t>
            </a:r>
            <a:endParaRPr lang="en-US" sz="1000"/>
          </a:p>
        </p:txBody>
      </p:sp>
    </p:spTree>
  </p:cSld>
  <p:clrMapOvr>
    <a:masterClrMapping/>
  </p:clrMapOvr>
  <p:transition spd="med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683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683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683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683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683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683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5683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5683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5683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5683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5683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5683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683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683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5683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5683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5683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5683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5683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5683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5683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5683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5683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5683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5683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5683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5683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5683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5683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5683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5683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5683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1000" fill="hold"/>
                                        <p:tgtEl>
                                          <p:spTgt spid="5683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1000" fill="hold"/>
                                        <p:tgtEl>
                                          <p:spTgt spid="5683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1000" fill="hold"/>
                                        <p:tgtEl>
                                          <p:spTgt spid="5683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1000" fill="hold"/>
                                        <p:tgtEl>
                                          <p:spTgt spid="5683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5683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5683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1000" fill="hold"/>
                                        <p:tgtEl>
                                          <p:spTgt spid="5683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1000" fill="hold"/>
                                        <p:tgtEl>
                                          <p:spTgt spid="5683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000" fill="hold"/>
                                        <p:tgtEl>
                                          <p:spTgt spid="5683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1000" fill="hold"/>
                                        <p:tgtEl>
                                          <p:spTgt spid="5683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1000" fill="hold"/>
                                        <p:tgtEl>
                                          <p:spTgt spid="5683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1000" fill="hold"/>
                                        <p:tgtEl>
                                          <p:spTgt spid="5683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1000" fill="hold"/>
                                        <p:tgtEl>
                                          <p:spTgt spid="5683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1000" fill="hold"/>
                                        <p:tgtEl>
                                          <p:spTgt spid="5683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8323" grpId="0" animBg="1"/>
      <p:bldP spid="568327" grpId="0" animBg="1"/>
      <p:bldP spid="568330" grpId="0" animBg="1"/>
      <p:bldP spid="568331" grpId="0" animBg="1"/>
      <p:bldP spid="568331" grpId="1" animBg="1"/>
      <p:bldP spid="568333" grpId="0" animBg="1"/>
      <p:bldP spid="568345" grpId="0" animBg="1"/>
      <p:bldP spid="568355" grpId="0" animBg="1"/>
      <p:bldP spid="568355" grpId="1" animBg="1"/>
      <p:bldP spid="568362" grpId="0" animBg="1"/>
      <p:bldP spid="568362" grpId="1" animBg="1"/>
      <p:bldP spid="568366" grpId="0" animBg="1"/>
      <p:bldP spid="568367" grpId="0" animBg="1"/>
      <p:bldP spid="568367" grpId="1" animBg="1"/>
      <p:bldP spid="568368" grpId="0" animBg="1"/>
      <p:bldP spid="568368" grpId="1" animBg="1"/>
      <p:bldP spid="568370" grpId="0" animBg="1"/>
      <p:bldP spid="568371" grpId="0" animBg="1"/>
      <p:bldP spid="568371" grpId="1" animBg="1"/>
      <p:bldP spid="568373" grpId="0" animBg="1"/>
      <p:bldP spid="568373" grpId="1" animBg="1"/>
      <p:bldP spid="568374" grpId="0" animBg="1"/>
      <p:bldP spid="568374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GB" smtClean="0"/>
              <a:t>Tax_Calculation Table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467544" y="1196752"/>
            <a:ext cx="8229600" cy="4525963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90000"/>
              </a:lnSpc>
            </a:pPr>
            <a:r>
              <a:rPr lang="en-GB" sz="2000" dirty="0" smtClean="0"/>
              <a:t>All calculations of tax at multiple levels are stored in here.</a:t>
            </a:r>
          </a:p>
          <a:p>
            <a:pPr eaLnBrk="1" hangingPunct="1">
              <a:lnSpc>
                <a:spcPct val="90000"/>
              </a:lnSpc>
            </a:pPr>
            <a:r>
              <a:rPr lang="en-GB" sz="2000" dirty="0" err="1" smtClean="0"/>
              <a:t>TransType</a:t>
            </a:r>
            <a:r>
              <a:rPr lang="en-GB" sz="2000" dirty="0" smtClean="0"/>
              <a:t> identifies the different types of transaction with a hardcoded string: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1800" dirty="0" smtClean="0"/>
              <a:t>TTIF	-	Policy (Insurance File)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1800" dirty="0" smtClean="0"/>
              <a:t>TTR	-	Risk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1800" dirty="0" smtClean="0"/>
              <a:t>TTAC	-	Agent Commission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1800" dirty="0" smtClean="0"/>
              <a:t>TTF	-	Fees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1800" dirty="0" smtClean="0"/>
              <a:t>TTRITP	-	Treaty Reinsurance (Party)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1800" dirty="0" smtClean="0"/>
              <a:t>TTRITC	-	Treaty Reinsurance Commission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1800" dirty="0" smtClean="0"/>
              <a:t>TTRIFP	-	Facultative Reinsurance (Party)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1800" dirty="0" smtClean="0"/>
              <a:t>TTRIFC	-	Facultative Reinsurance Commission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1800" dirty="0" smtClean="0"/>
              <a:t>TTI	-	Tax on Instalment Charges</a:t>
            </a:r>
          </a:p>
          <a:p>
            <a:pPr eaLnBrk="1" hangingPunct="1">
              <a:lnSpc>
                <a:spcPct val="90000"/>
              </a:lnSpc>
            </a:pPr>
            <a:r>
              <a:rPr lang="en-GB" sz="2000" dirty="0" smtClean="0"/>
              <a:t>Foreign keys on the </a:t>
            </a:r>
            <a:r>
              <a:rPr lang="en-GB" sz="2000" dirty="0" err="1" smtClean="0"/>
              <a:t>tax_calculation</a:t>
            </a:r>
            <a:r>
              <a:rPr lang="en-GB" sz="2000" dirty="0" smtClean="0"/>
              <a:t> entry point to the related records.</a:t>
            </a:r>
          </a:p>
        </p:txBody>
      </p:sp>
    </p:spTree>
  </p:cSld>
  <p:clrMapOvr>
    <a:masterClrMapping/>
  </p:clrMapOvr>
  <p:transition spd="med">
    <p:pull dir="d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GB" smtClean="0"/>
              <a:t>Reinsurance Setup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395536" y="1052736"/>
            <a:ext cx="8229600" cy="4525962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spcAft>
                <a:spcPts val="600"/>
              </a:spcAft>
            </a:pPr>
            <a:r>
              <a:rPr lang="en-GB" sz="2000" dirty="0" smtClean="0"/>
              <a:t>Treaty defines the agreements between the Insurer and other Reinsurers</a:t>
            </a:r>
          </a:p>
          <a:p>
            <a:pPr eaLnBrk="1" hangingPunct="1">
              <a:lnSpc>
                <a:spcPct val="80000"/>
              </a:lnSpc>
              <a:spcAft>
                <a:spcPts val="600"/>
              </a:spcAft>
            </a:pPr>
            <a:r>
              <a:rPr lang="en-GB" sz="2000" dirty="0" smtClean="0"/>
              <a:t>Treaty Party defines the Reinsurers involved in the treaty and each one’s share of the total.</a:t>
            </a:r>
          </a:p>
          <a:p>
            <a:pPr lvl="1" eaLnBrk="1" hangingPunct="1">
              <a:lnSpc>
                <a:spcPct val="80000"/>
              </a:lnSpc>
              <a:spcAft>
                <a:spcPts val="600"/>
              </a:spcAft>
            </a:pPr>
            <a:r>
              <a:rPr lang="en-GB" sz="1800" dirty="0" smtClean="0"/>
              <a:t>Only Retained is special. The rest operate the same for reporting purposes.</a:t>
            </a:r>
          </a:p>
          <a:p>
            <a:pPr eaLnBrk="1" hangingPunct="1">
              <a:lnSpc>
                <a:spcPct val="80000"/>
              </a:lnSpc>
              <a:spcAft>
                <a:spcPts val="600"/>
              </a:spcAft>
            </a:pPr>
            <a:r>
              <a:rPr lang="en-GB" sz="2000" dirty="0" smtClean="0"/>
              <a:t>RI Model describes the type of Reinsurance</a:t>
            </a:r>
          </a:p>
          <a:p>
            <a:pPr lvl="1" eaLnBrk="1" hangingPunct="1">
              <a:lnSpc>
                <a:spcPct val="80000"/>
              </a:lnSpc>
              <a:spcAft>
                <a:spcPts val="600"/>
              </a:spcAft>
            </a:pPr>
            <a:r>
              <a:rPr lang="en-GB" sz="1800" dirty="0" smtClean="0"/>
              <a:t>Standard and Default</a:t>
            </a:r>
          </a:p>
          <a:p>
            <a:pPr lvl="1" eaLnBrk="1" hangingPunct="1">
              <a:lnSpc>
                <a:spcPct val="80000"/>
              </a:lnSpc>
              <a:spcAft>
                <a:spcPts val="600"/>
              </a:spcAft>
            </a:pPr>
            <a:r>
              <a:rPr lang="en-GB" sz="1800" dirty="0" smtClean="0"/>
              <a:t>XOL identifies Excess of Loss Models</a:t>
            </a:r>
          </a:p>
          <a:p>
            <a:pPr lvl="1" eaLnBrk="1" hangingPunct="1">
              <a:lnSpc>
                <a:spcPct val="80000"/>
              </a:lnSpc>
              <a:spcAft>
                <a:spcPts val="600"/>
              </a:spcAft>
            </a:pPr>
            <a:r>
              <a:rPr lang="en-GB" sz="1800" dirty="0" smtClean="0"/>
              <a:t>Deferred is used for deferred RI functionality. </a:t>
            </a:r>
          </a:p>
          <a:p>
            <a:pPr eaLnBrk="1" hangingPunct="1">
              <a:lnSpc>
                <a:spcPct val="80000"/>
              </a:lnSpc>
              <a:spcAft>
                <a:spcPts val="600"/>
              </a:spcAft>
            </a:pPr>
            <a:r>
              <a:rPr lang="en-GB" sz="2000" dirty="0" smtClean="0"/>
              <a:t>RI Model lines link in the Treaties with specific limits</a:t>
            </a:r>
          </a:p>
          <a:p>
            <a:pPr eaLnBrk="1" hangingPunct="1">
              <a:lnSpc>
                <a:spcPct val="80000"/>
              </a:lnSpc>
              <a:spcAft>
                <a:spcPts val="600"/>
              </a:spcAft>
            </a:pPr>
            <a:r>
              <a:rPr lang="en-GB" sz="2000" dirty="0" smtClean="0"/>
              <a:t>Risk Types are defined and linked to RI Models</a:t>
            </a:r>
          </a:p>
          <a:p>
            <a:pPr eaLnBrk="1" hangingPunct="1">
              <a:lnSpc>
                <a:spcPct val="80000"/>
              </a:lnSpc>
              <a:spcAft>
                <a:spcPts val="600"/>
              </a:spcAft>
            </a:pPr>
            <a:r>
              <a:rPr lang="en-GB" sz="2000" dirty="0" smtClean="0"/>
              <a:t>Peril Types define further settings</a:t>
            </a:r>
          </a:p>
          <a:p>
            <a:pPr eaLnBrk="1" hangingPunct="1">
              <a:lnSpc>
                <a:spcPct val="80000"/>
              </a:lnSpc>
              <a:spcAft>
                <a:spcPts val="600"/>
              </a:spcAft>
            </a:pPr>
            <a:r>
              <a:rPr lang="en-GB" sz="2000" dirty="0" smtClean="0"/>
              <a:t>Peril Groups link types together to be picked up by the Rating Section Types</a:t>
            </a:r>
          </a:p>
        </p:txBody>
      </p:sp>
    </p:spTree>
  </p:cSld>
  <p:clrMapOvr>
    <a:masterClrMapping/>
  </p:clrMapOvr>
  <p:transition spd="med">
    <p:pull dir="d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GB" smtClean="0"/>
              <a:t>Reinsurance Calculation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468313" y="1341438"/>
            <a:ext cx="8229600" cy="4525962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GB" smtClean="0"/>
              <a:t>Rating Sections are added with Rating Section Type this determines:</a:t>
            </a:r>
          </a:p>
          <a:p>
            <a:pPr lvl="1" eaLnBrk="1" hangingPunct="1"/>
            <a:r>
              <a:rPr lang="en-GB" smtClean="0"/>
              <a:t>Peril Group </a:t>
            </a:r>
          </a:p>
          <a:p>
            <a:pPr lvl="1" eaLnBrk="1" hangingPunct="1"/>
            <a:r>
              <a:rPr lang="en-GB" smtClean="0"/>
              <a:t>Peril Types</a:t>
            </a:r>
          </a:p>
          <a:p>
            <a:pPr eaLnBrk="1" hangingPunct="1"/>
            <a:r>
              <a:rPr lang="en-GB" smtClean="0"/>
              <a:t>Risk Types determine RI Models through:</a:t>
            </a:r>
          </a:p>
          <a:p>
            <a:pPr lvl="1" eaLnBrk="1" hangingPunct="1"/>
            <a:r>
              <a:rPr lang="en-GB" smtClean="0"/>
              <a:t>Risk_Type_RI_Model_Usage</a:t>
            </a:r>
          </a:p>
          <a:p>
            <a:pPr eaLnBrk="1" hangingPunct="1"/>
            <a:r>
              <a:rPr lang="en-GB" smtClean="0"/>
              <a:t>RI Bands and RI Models are combined and used to calculate the RI Arrangement Lines</a:t>
            </a:r>
          </a:p>
          <a:p>
            <a:pPr eaLnBrk="1" hangingPunct="1"/>
            <a:r>
              <a:rPr lang="en-GB" smtClean="0"/>
              <a:t>Associated taxes and commission are calculated on each line</a:t>
            </a:r>
          </a:p>
          <a:p>
            <a:pPr lvl="1" eaLnBrk="1" hangingPunct="1"/>
            <a:endParaRPr lang="en-GB" smtClean="0"/>
          </a:p>
        </p:txBody>
      </p:sp>
      <p:grpSp>
        <p:nvGrpSpPr>
          <p:cNvPr id="8196" name="Group 4"/>
          <p:cNvGrpSpPr>
            <a:grpSpLocks/>
          </p:cNvGrpSpPr>
          <p:nvPr/>
        </p:nvGrpSpPr>
        <p:grpSpPr bwMode="auto">
          <a:xfrm>
            <a:off x="2339752" y="4797152"/>
            <a:ext cx="1874838" cy="1000125"/>
            <a:chOff x="4377" y="3249"/>
            <a:chExt cx="1181" cy="630"/>
          </a:xfrm>
        </p:grpSpPr>
        <p:sp>
          <p:nvSpPr>
            <p:cNvPr id="8197" name="Text Box 5"/>
            <p:cNvSpPr txBox="1">
              <a:spLocks noChangeArrowheads="1"/>
            </p:cNvSpPr>
            <p:nvPr/>
          </p:nvSpPr>
          <p:spPr bwMode="auto">
            <a:xfrm>
              <a:off x="4377" y="3249"/>
              <a:ext cx="1181" cy="179"/>
            </a:xfrm>
            <a:prstGeom prst="rect">
              <a:avLst/>
            </a:prstGeom>
            <a:solidFill>
              <a:srgbClr val="800080"/>
            </a:solidFill>
            <a:ln w="9525">
              <a:solidFill>
                <a:srgbClr val="80008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GB" sz="1200" b="1">
                  <a:solidFill>
                    <a:schemeClr val="bg1"/>
                  </a:solidFill>
                </a:rPr>
                <a:t>Components</a:t>
              </a:r>
            </a:p>
          </p:txBody>
        </p:sp>
        <p:sp>
          <p:nvSpPr>
            <p:cNvPr id="8198" name="Text Box 6"/>
            <p:cNvSpPr txBox="1">
              <a:spLocks noChangeArrowheads="1"/>
            </p:cNvSpPr>
            <p:nvPr/>
          </p:nvSpPr>
          <p:spPr bwMode="auto">
            <a:xfrm>
              <a:off x="4377" y="3431"/>
              <a:ext cx="1180" cy="448"/>
            </a:xfrm>
            <a:prstGeom prst="rect">
              <a:avLst/>
            </a:prstGeom>
            <a:noFill/>
            <a:ln w="9525">
              <a:solidFill>
                <a:srgbClr val="80008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GB" sz="1000" b="1">
                  <a:solidFill>
                    <a:srgbClr val="333333"/>
                  </a:solidFill>
                </a:rPr>
                <a:t>bSIRReinsurance</a:t>
              </a:r>
            </a:p>
            <a:p>
              <a:pPr algn="l">
                <a:spcBef>
                  <a:spcPct val="50000"/>
                </a:spcBef>
              </a:pPr>
              <a:r>
                <a:rPr lang="en-GB" sz="1000" b="1">
                  <a:solidFill>
                    <a:srgbClr val="333333"/>
                  </a:solidFill>
                </a:rPr>
                <a:t>iPMUReinsurance</a:t>
              </a:r>
            </a:p>
            <a:p>
              <a:pPr algn="l">
                <a:spcBef>
                  <a:spcPct val="50000"/>
                </a:spcBef>
              </a:pPr>
              <a:r>
                <a:rPr lang="en-GB" sz="1000" b="1">
                  <a:solidFill>
                    <a:srgbClr val="333333"/>
                  </a:solidFill>
                </a:rPr>
                <a:t>cSIRRIControls</a:t>
              </a:r>
            </a:p>
          </p:txBody>
        </p:sp>
      </p:grpSp>
    </p:spTree>
  </p:cSld>
  <p:clrMapOvr>
    <a:masterClrMapping/>
  </p:clrMapOvr>
  <p:transition spd="med">
    <p:pull dir="d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GB" smtClean="0"/>
              <a:t>S4I Reinsurance Data Model</a:t>
            </a:r>
            <a:endParaRPr lang="en-US" smtClean="0"/>
          </a:p>
        </p:txBody>
      </p:sp>
      <p:sp>
        <p:nvSpPr>
          <p:cNvPr id="570372" name="Rectangle 4"/>
          <p:cNvSpPr>
            <a:spLocks noChangeArrowheads="1"/>
          </p:cNvSpPr>
          <p:nvPr/>
        </p:nvSpPr>
        <p:spPr bwMode="auto">
          <a:xfrm>
            <a:off x="468313" y="1412875"/>
            <a:ext cx="1657350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 sz="1400">
                <a:solidFill>
                  <a:schemeClr val="tx1"/>
                </a:solidFill>
              </a:rPr>
              <a:t>Class_Of_Business</a:t>
            </a:r>
          </a:p>
        </p:txBody>
      </p:sp>
      <p:sp>
        <p:nvSpPr>
          <p:cNvPr id="570375" name="Rectangle 7"/>
          <p:cNvSpPr>
            <a:spLocks noChangeArrowheads="1"/>
          </p:cNvSpPr>
          <p:nvPr/>
        </p:nvSpPr>
        <p:spPr bwMode="auto">
          <a:xfrm>
            <a:off x="900113" y="3427413"/>
            <a:ext cx="1800225" cy="3603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 sz="1400">
                <a:solidFill>
                  <a:schemeClr val="tx1"/>
                </a:solidFill>
              </a:rPr>
              <a:t>Peril_Type_Usage</a:t>
            </a:r>
          </a:p>
        </p:txBody>
      </p:sp>
      <p:sp>
        <p:nvSpPr>
          <p:cNvPr id="570382" name="Rectangle 14"/>
          <p:cNvSpPr>
            <a:spLocks noChangeArrowheads="1"/>
          </p:cNvSpPr>
          <p:nvPr/>
        </p:nvSpPr>
        <p:spPr bwMode="auto">
          <a:xfrm>
            <a:off x="1189038" y="2346325"/>
            <a:ext cx="1079500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 sz="1400">
                <a:solidFill>
                  <a:schemeClr val="tx1"/>
                </a:solidFill>
              </a:rPr>
              <a:t>Peril_Type</a:t>
            </a:r>
          </a:p>
        </p:txBody>
      </p:sp>
      <p:sp>
        <p:nvSpPr>
          <p:cNvPr id="570383" name="Line 15"/>
          <p:cNvSpPr>
            <a:spLocks noChangeShapeType="1"/>
          </p:cNvSpPr>
          <p:nvPr/>
        </p:nvSpPr>
        <p:spPr bwMode="auto">
          <a:xfrm flipH="1" flipV="1">
            <a:off x="1042988" y="1773238"/>
            <a:ext cx="793750" cy="5730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23" name="Text Box 16"/>
          <p:cNvSpPr txBox="1">
            <a:spLocks noChangeArrowheads="1"/>
          </p:cNvSpPr>
          <p:nvPr/>
        </p:nvSpPr>
        <p:spPr bwMode="auto">
          <a:xfrm>
            <a:off x="900113" y="1916113"/>
            <a:ext cx="1441450" cy="244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000"/>
              <a:t>class_of_business_id</a:t>
            </a:r>
            <a:endParaRPr lang="en-US" sz="1000"/>
          </a:p>
        </p:txBody>
      </p:sp>
      <p:sp>
        <p:nvSpPr>
          <p:cNvPr id="570385" name="Line 17"/>
          <p:cNvSpPr>
            <a:spLocks noChangeShapeType="1"/>
          </p:cNvSpPr>
          <p:nvPr/>
        </p:nvSpPr>
        <p:spPr bwMode="auto">
          <a:xfrm flipH="1" flipV="1">
            <a:off x="1833563" y="2706688"/>
            <a:ext cx="1587" cy="7191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9225" name="Text Box 18"/>
          <p:cNvSpPr txBox="1">
            <a:spLocks noChangeArrowheads="1"/>
          </p:cNvSpPr>
          <p:nvPr/>
        </p:nvSpPr>
        <p:spPr bwMode="auto">
          <a:xfrm>
            <a:off x="1331913" y="2922588"/>
            <a:ext cx="1006475" cy="244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000"/>
              <a:t>peril_type_id</a:t>
            </a:r>
            <a:endParaRPr lang="en-US" sz="1000"/>
          </a:p>
        </p:txBody>
      </p:sp>
      <p:sp>
        <p:nvSpPr>
          <p:cNvPr id="570387" name="Rectangle 19"/>
          <p:cNvSpPr>
            <a:spLocks noChangeArrowheads="1"/>
          </p:cNvSpPr>
          <p:nvPr/>
        </p:nvSpPr>
        <p:spPr bwMode="auto">
          <a:xfrm>
            <a:off x="1258888" y="4508500"/>
            <a:ext cx="1082675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 sz="1400">
                <a:solidFill>
                  <a:schemeClr val="tx1"/>
                </a:solidFill>
              </a:rPr>
              <a:t>Peril Group</a:t>
            </a:r>
          </a:p>
        </p:txBody>
      </p:sp>
      <p:sp>
        <p:nvSpPr>
          <p:cNvPr id="570388" name="Line 20"/>
          <p:cNvSpPr>
            <a:spLocks noChangeShapeType="1"/>
          </p:cNvSpPr>
          <p:nvPr/>
        </p:nvSpPr>
        <p:spPr bwMode="auto">
          <a:xfrm flipH="1" flipV="1">
            <a:off x="1833563" y="3786188"/>
            <a:ext cx="1587" cy="7191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9228" name="Text Box 21"/>
          <p:cNvSpPr txBox="1">
            <a:spLocks noChangeArrowheads="1"/>
          </p:cNvSpPr>
          <p:nvPr/>
        </p:nvSpPr>
        <p:spPr bwMode="auto">
          <a:xfrm>
            <a:off x="1331913" y="4003675"/>
            <a:ext cx="1006475" cy="244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000"/>
              <a:t>peril_group_id</a:t>
            </a:r>
            <a:endParaRPr lang="en-US" sz="1000"/>
          </a:p>
        </p:txBody>
      </p:sp>
      <p:sp>
        <p:nvSpPr>
          <p:cNvPr id="570395" name="Rectangle 27"/>
          <p:cNvSpPr>
            <a:spLocks noChangeArrowheads="1"/>
          </p:cNvSpPr>
          <p:nvPr/>
        </p:nvSpPr>
        <p:spPr bwMode="auto">
          <a:xfrm>
            <a:off x="4284663" y="1268413"/>
            <a:ext cx="1079500" cy="3603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 sz="1400">
                <a:solidFill>
                  <a:schemeClr val="tx1"/>
                </a:solidFill>
              </a:rPr>
              <a:t>Peril</a:t>
            </a:r>
          </a:p>
        </p:txBody>
      </p:sp>
      <p:sp>
        <p:nvSpPr>
          <p:cNvPr id="570396" name="Line 28"/>
          <p:cNvSpPr>
            <a:spLocks noChangeShapeType="1"/>
          </p:cNvSpPr>
          <p:nvPr/>
        </p:nvSpPr>
        <p:spPr bwMode="auto">
          <a:xfrm flipH="1">
            <a:off x="2124075" y="1484313"/>
            <a:ext cx="2160588" cy="144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9231" name="Text Box 29"/>
          <p:cNvSpPr txBox="1">
            <a:spLocks noChangeArrowheads="1"/>
          </p:cNvSpPr>
          <p:nvPr/>
        </p:nvSpPr>
        <p:spPr bwMode="auto">
          <a:xfrm>
            <a:off x="2555875" y="1412875"/>
            <a:ext cx="1511300" cy="244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000"/>
              <a:t>class_of_business_id</a:t>
            </a:r>
            <a:endParaRPr lang="en-US" sz="1000"/>
          </a:p>
        </p:txBody>
      </p:sp>
      <p:sp>
        <p:nvSpPr>
          <p:cNvPr id="570398" name="Rectangle 30"/>
          <p:cNvSpPr>
            <a:spLocks noChangeArrowheads="1"/>
          </p:cNvSpPr>
          <p:nvPr/>
        </p:nvSpPr>
        <p:spPr bwMode="auto">
          <a:xfrm>
            <a:off x="4067175" y="2349500"/>
            <a:ext cx="1511300" cy="360363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 sz="1400">
                <a:solidFill>
                  <a:schemeClr val="tx1"/>
                </a:solidFill>
              </a:rPr>
              <a:t>Rating_Section</a:t>
            </a:r>
          </a:p>
        </p:txBody>
      </p:sp>
      <p:sp>
        <p:nvSpPr>
          <p:cNvPr id="570400" name="Line 32"/>
          <p:cNvSpPr>
            <a:spLocks noChangeShapeType="1"/>
          </p:cNvSpPr>
          <p:nvPr/>
        </p:nvSpPr>
        <p:spPr bwMode="auto">
          <a:xfrm flipH="1" flipV="1">
            <a:off x="4857750" y="1630363"/>
            <a:ext cx="1588" cy="7191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34" name="Text Box 31"/>
          <p:cNvSpPr txBox="1">
            <a:spLocks noChangeArrowheads="1"/>
          </p:cNvSpPr>
          <p:nvPr/>
        </p:nvSpPr>
        <p:spPr bwMode="auto">
          <a:xfrm>
            <a:off x="4500563" y="1844675"/>
            <a:ext cx="723900" cy="244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000"/>
              <a:t>peril_id</a:t>
            </a:r>
            <a:endParaRPr lang="en-US" sz="1000"/>
          </a:p>
        </p:txBody>
      </p:sp>
      <p:sp>
        <p:nvSpPr>
          <p:cNvPr id="570402" name="Rectangle 34"/>
          <p:cNvSpPr>
            <a:spLocks noChangeArrowheads="1"/>
          </p:cNvSpPr>
          <p:nvPr/>
        </p:nvSpPr>
        <p:spPr bwMode="auto">
          <a:xfrm>
            <a:off x="6516688" y="4941888"/>
            <a:ext cx="1152525" cy="3603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 sz="1400">
                <a:solidFill>
                  <a:schemeClr val="tx1"/>
                </a:solidFill>
              </a:rPr>
              <a:t>RI_Model</a:t>
            </a:r>
          </a:p>
        </p:txBody>
      </p:sp>
      <p:sp>
        <p:nvSpPr>
          <p:cNvPr id="570403" name="Rectangle 35"/>
          <p:cNvSpPr>
            <a:spLocks noChangeArrowheads="1"/>
          </p:cNvSpPr>
          <p:nvPr/>
        </p:nvSpPr>
        <p:spPr bwMode="auto">
          <a:xfrm>
            <a:off x="6373813" y="5878513"/>
            <a:ext cx="1441450" cy="3603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 sz="1400">
                <a:solidFill>
                  <a:schemeClr val="tx1"/>
                </a:solidFill>
              </a:rPr>
              <a:t>RI_Model_Line</a:t>
            </a:r>
          </a:p>
        </p:txBody>
      </p:sp>
      <p:sp>
        <p:nvSpPr>
          <p:cNvPr id="570404" name="Rectangle 36"/>
          <p:cNvSpPr>
            <a:spLocks noChangeArrowheads="1"/>
          </p:cNvSpPr>
          <p:nvPr/>
        </p:nvSpPr>
        <p:spPr bwMode="auto">
          <a:xfrm>
            <a:off x="4211638" y="5229225"/>
            <a:ext cx="720725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 sz="1400">
                <a:solidFill>
                  <a:schemeClr val="tx1"/>
                </a:solidFill>
              </a:rPr>
              <a:t>Treaty</a:t>
            </a:r>
          </a:p>
        </p:txBody>
      </p:sp>
      <p:sp>
        <p:nvSpPr>
          <p:cNvPr id="570405" name="Rectangle 37"/>
          <p:cNvSpPr>
            <a:spLocks noChangeArrowheads="1"/>
          </p:cNvSpPr>
          <p:nvPr/>
        </p:nvSpPr>
        <p:spPr bwMode="auto">
          <a:xfrm>
            <a:off x="6443663" y="2349500"/>
            <a:ext cx="1511300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 sz="1400">
                <a:solidFill>
                  <a:schemeClr val="tx1"/>
                </a:solidFill>
              </a:rPr>
              <a:t>RI_Arrangement</a:t>
            </a:r>
          </a:p>
        </p:txBody>
      </p:sp>
      <p:sp>
        <p:nvSpPr>
          <p:cNvPr id="570406" name="Rectangle 38"/>
          <p:cNvSpPr>
            <a:spLocks noChangeArrowheads="1"/>
          </p:cNvSpPr>
          <p:nvPr/>
        </p:nvSpPr>
        <p:spPr bwMode="auto">
          <a:xfrm>
            <a:off x="6732588" y="3429000"/>
            <a:ext cx="1944687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 sz="1400">
                <a:solidFill>
                  <a:schemeClr val="tx1"/>
                </a:solidFill>
              </a:rPr>
              <a:t>RI_Arrangement_Line</a:t>
            </a:r>
          </a:p>
        </p:txBody>
      </p:sp>
      <p:sp>
        <p:nvSpPr>
          <p:cNvPr id="570407" name="Rectangle 39"/>
          <p:cNvSpPr>
            <a:spLocks noChangeArrowheads="1"/>
          </p:cNvSpPr>
          <p:nvPr/>
        </p:nvSpPr>
        <p:spPr bwMode="auto">
          <a:xfrm>
            <a:off x="6443663" y="1268413"/>
            <a:ext cx="720725" cy="3603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 sz="1400">
                <a:solidFill>
                  <a:schemeClr val="tx1"/>
                </a:solidFill>
              </a:rPr>
              <a:t>Risk</a:t>
            </a:r>
          </a:p>
        </p:txBody>
      </p:sp>
      <p:sp>
        <p:nvSpPr>
          <p:cNvPr id="570408" name="Line 40"/>
          <p:cNvSpPr>
            <a:spLocks noChangeShapeType="1"/>
          </p:cNvSpPr>
          <p:nvPr/>
        </p:nvSpPr>
        <p:spPr bwMode="auto">
          <a:xfrm flipH="1">
            <a:off x="4932363" y="1557338"/>
            <a:ext cx="1511300" cy="792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9242" name="Text Box 41"/>
          <p:cNvSpPr txBox="1">
            <a:spLocks noChangeArrowheads="1"/>
          </p:cNvSpPr>
          <p:nvPr/>
        </p:nvSpPr>
        <p:spPr bwMode="auto">
          <a:xfrm>
            <a:off x="5292725" y="1773238"/>
            <a:ext cx="723900" cy="244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000"/>
              <a:t>risk_cnt</a:t>
            </a:r>
            <a:endParaRPr lang="en-US" sz="1000"/>
          </a:p>
        </p:txBody>
      </p:sp>
      <p:sp>
        <p:nvSpPr>
          <p:cNvPr id="570410" name="Line 42"/>
          <p:cNvSpPr>
            <a:spLocks noChangeShapeType="1"/>
          </p:cNvSpPr>
          <p:nvPr/>
        </p:nvSpPr>
        <p:spPr bwMode="auto">
          <a:xfrm flipH="1" flipV="1">
            <a:off x="6800850" y="1630363"/>
            <a:ext cx="1588" cy="7191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44" name="Text Box 43"/>
          <p:cNvSpPr txBox="1">
            <a:spLocks noChangeArrowheads="1"/>
          </p:cNvSpPr>
          <p:nvPr/>
        </p:nvSpPr>
        <p:spPr bwMode="auto">
          <a:xfrm>
            <a:off x="6446838" y="1844675"/>
            <a:ext cx="717550" cy="244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000"/>
              <a:t>risk_cnt</a:t>
            </a:r>
            <a:endParaRPr lang="en-US" sz="1000"/>
          </a:p>
        </p:txBody>
      </p:sp>
      <p:sp>
        <p:nvSpPr>
          <p:cNvPr id="570412" name="Line 44"/>
          <p:cNvSpPr>
            <a:spLocks noChangeShapeType="1"/>
          </p:cNvSpPr>
          <p:nvPr/>
        </p:nvSpPr>
        <p:spPr bwMode="auto">
          <a:xfrm flipH="1" flipV="1">
            <a:off x="7308850" y="2708275"/>
            <a:ext cx="1588" cy="7191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46" name="Text Box 45"/>
          <p:cNvSpPr txBox="1">
            <a:spLocks noChangeArrowheads="1"/>
          </p:cNvSpPr>
          <p:nvPr/>
        </p:nvSpPr>
        <p:spPr bwMode="auto">
          <a:xfrm>
            <a:off x="6804025" y="2924175"/>
            <a:ext cx="1292225" cy="244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000"/>
              <a:t>ri_arrangement_id</a:t>
            </a:r>
            <a:endParaRPr lang="en-US" sz="1000"/>
          </a:p>
        </p:txBody>
      </p:sp>
      <p:sp>
        <p:nvSpPr>
          <p:cNvPr id="570414" name="Line 46"/>
          <p:cNvSpPr>
            <a:spLocks noChangeShapeType="1"/>
          </p:cNvSpPr>
          <p:nvPr/>
        </p:nvSpPr>
        <p:spPr bwMode="auto">
          <a:xfrm flipV="1">
            <a:off x="7092950" y="5302250"/>
            <a:ext cx="0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48" name="Text Box 47"/>
          <p:cNvSpPr txBox="1">
            <a:spLocks noChangeArrowheads="1"/>
          </p:cNvSpPr>
          <p:nvPr/>
        </p:nvSpPr>
        <p:spPr bwMode="auto">
          <a:xfrm>
            <a:off x="6589713" y="5445125"/>
            <a:ext cx="1006475" cy="244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000"/>
              <a:t>ri_model_id</a:t>
            </a:r>
            <a:endParaRPr lang="en-US" sz="1000"/>
          </a:p>
        </p:txBody>
      </p:sp>
      <p:sp>
        <p:nvSpPr>
          <p:cNvPr id="570416" name="Rectangle 48"/>
          <p:cNvSpPr>
            <a:spLocks noChangeArrowheads="1"/>
          </p:cNvSpPr>
          <p:nvPr/>
        </p:nvSpPr>
        <p:spPr bwMode="auto">
          <a:xfrm>
            <a:off x="3924300" y="6165850"/>
            <a:ext cx="1295400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 sz="1400">
                <a:solidFill>
                  <a:schemeClr val="tx1"/>
                </a:solidFill>
              </a:rPr>
              <a:t>Treaty_Party</a:t>
            </a:r>
          </a:p>
        </p:txBody>
      </p:sp>
      <p:sp>
        <p:nvSpPr>
          <p:cNvPr id="570417" name="Line 49"/>
          <p:cNvSpPr>
            <a:spLocks noChangeShapeType="1"/>
          </p:cNvSpPr>
          <p:nvPr/>
        </p:nvSpPr>
        <p:spPr bwMode="auto">
          <a:xfrm flipV="1">
            <a:off x="4570413" y="5591175"/>
            <a:ext cx="0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51" name="Text Box 50"/>
          <p:cNvSpPr txBox="1">
            <a:spLocks noChangeArrowheads="1"/>
          </p:cNvSpPr>
          <p:nvPr/>
        </p:nvSpPr>
        <p:spPr bwMode="auto">
          <a:xfrm>
            <a:off x="4067175" y="5734050"/>
            <a:ext cx="1006475" cy="244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000"/>
              <a:t>treaty_id</a:t>
            </a:r>
            <a:endParaRPr lang="en-US" sz="1000"/>
          </a:p>
        </p:txBody>
      </p:sp>
      <p:sp>
        <p:nvSpPr>
          <p:cNvPr id="570419" name="Rectangle 51"/>
          <p:cNvSpPr>
            <a:spLocks noChangeArrowheads="1"/>
          </p:cNvSpPr>
          <p:nvPr/>
        </p:nvSpPr>
        <p:spPr bwMode="auto">
          <a:xfrm>
            <a:off x="4284663" y="3429000"/>
            <a:ext cx="1152525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 sz="1400">
                <a:solidFill>
                  <a:schemeClr val="tx1"/>
                </a:solidFill>
              </a:rPr>
              <a:t>RI_Band</a:t>
            </a:r>
          </a:p>
        </p:txBody>
      </p:sp>
      <p:sp>
        <p:nvSpPr>
          <p:cNvPr id="570421" name="Line 53"/>
          <p:cNvSpPr>
            <a:spLocks noChangeShapeType="1"/>
          </p:cNvSpPr>
          <p:nvPr/>
        </p:nvSpPr>
        <p:spPr bwMode="auto">
          <a:xfrm flipH="1" flipV="1">
            <a:off x="4932363" y="5445125"/>
            <a:ext cx="1439862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9254" name="Text Box 52"/>
          <p:cNvSpPr txBox="1">
            <a:spLocks noChangeArrowheads="1"/>
          </p:cNvSpPr>
          <p:nvPr/>
        </p:nvSpPr>
        <p:spPr bwMode="auto">
          <a:xfrm>
            <a:off x="5292725" y="5589588"/>
            <a:ext cx="1006475" cy="244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000"/>
              <a:t>treaty_id</a:t>
            </a:r>
            <a:endParaRPr lang="en-US" sz="1000"/>
          </a:p>
        </p:txBody>
      </p:sp>
      <p:sp>
        <p:nvSpPr>
          <p:cNvPr id="570422" name="Line 54"/>
          <p:cNvSpPr>
            <a:spLocks noChangeShapeType="1"/>
          </p:cNvSpPr>
          <p:nvPr/>
        </p:nvSpPr>
        <p:spPr bwMode="auto">
          <a:xfrm flipH="1" flipV="1">
            <a:off x="4859338" y="3789363"/>
            <a:ext cx="0" cy="5032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56" name="Text Box 55"/>
          <p:cNvSpPr txBox="1">
            <a:spLocks noChangeArrowheads="1"/>
          </p:cNvSpPr>
          <p:nvPr/>
        </p:nvSpPr>
        <p:spPr bwMode="auto">
          <a:xfrm>
            <a:off x="4284663" y="3933825"/>
            <a:ext cx="1087437" cy="244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000"/>
              <a:t>ri_band_id</a:t>
            </a:r>
            <a:endParaRPr lang="en-US" sz="1000"/>
          </a:p>
        </p:txBody>
      </p:sp>
      <p:sp>
        <p:nvSpPr>
          <p:cNvPr id="570424" name="Line 56"/>
          <p:cNvSpPr>
            <a:spLocks noChangeShapeType="1"/>
          </p:cNvSpPr>
          <p:nvPr/>
        </p:nvSpPr>
        <p:spPr bwMode="auto">
          <a:xfrm flipH="1" flipV="1">
            <a:off x="6659563" y="2708275"/>
            <a:ext cx="0" cy="22336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9258" name="Text Box 57"/>
          <p:cNvSpPr txBox="1">
            <a:spLocks noChangeArrowheads="1"/>
          </p:cNvSpPr>
          <p:nvPr/>
        </p:nvSpPr>
        <p:spPr bwMode="auto">
          <a:xfrm>
            <a:off x="6300788" y="3933825"/>
            <a:ext cx="866775" cy="244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000"/>
              <a:t>ri_model_id</a:t>
            </a:r>
            <a:endParaRPr lang="en-US" sz="1000"/>
          </a:p>
        </p:txBody>
      </p:sp>
      <p:sp>
        <p:nvSpPr>
          <p:cNvPr id="570426" name="Line 58"/>
          <p:cNvSpPr>
            <a:spLocks noChangeShapeType="1"/>
          </p:cNvSpPr>
          <p:nvPr/>
        </p:nvSpPr>
        <p:spPr bwMode="auto">
          <a:xfrm flipH="1" flipV="1">
            <a:off x="2268538" y="2636838"/>
            <a:ext cx="2016125" cy="936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60" name="Text Box 59"/>
          <p:cNvSpPr txBox="1">
            <a:spLocks noChangeArrowheads="1"/>
          </p:cNvSpPr>
          <p:nvPr/>
        </p:nvSpPr>
        <p:spPr bwMode="auto">
          <a:xfrm>
            <a:off x="2771775" y="2997200"/>
            <a:ext cx="1087438" cy="244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000"/>
              <a:t>ri_band_id</a:t>
            </a:r>
            <a:endParaRPr lang="en-US" sz="1000"/>
          </a:p>
        </p:txBody>
      </p:sp>
      <p:sp>
        <p:nvSpPr>
          <p:cNvPr id="570428" name="Line 60"/>
          <p:cNvSpPr>
            <a:spLocks noChangeShapeType="1"/>
          </p:cNvSpPr>
          <p:nvPr/>
        </p:nvSpPr>
        <p:spPr bwMode="auto">
          <a:xfrm flipH="1">
            <a:off x="2411413" y="2708275"/>
            <a:ext cx="2016125" cy="2736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9262" name="Text Box 62"/>
          <p:cNvSpPr txBox="1">
            <a:spLocks noChangeArrowheads="1"/>
          </p:cNvSpPr>
          <p:nvPr/>
        </p:nvSpPr>
        <p:spPr bwMode="auto">
          <a:xfrm>
            <a:off x="2411413" y="3860800"/>
            <a:ext cx="1508125" cy="244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000"/>
              <a:t>rating_section_type_id</a:t>
            </a:r>
            <a:endParaRPr lang="en-US" sz="1000"/>
          </a:p>
        </p:txBody>
      </p:sp>
      <p:sp>
        <p:nvSpPr>
          <p:cNvPr id="570431" name="Rectangle 63"/>
          <p:cNvSpPr>
            <a:spLocks noChangeArrowheads="1"/>
          </p:cNvSpPr>
          <p:nvPr/>
        </p:nvSpPr>
        <p:spPr bwMode="auto">
          <a:xfrm>
            <a:off x="900113" y="5445125"/>
            <a:ext cx="1873250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 sz="1400">
                <a:solidFill>
                  <a:schemeClr val="tx1"/>
                </a:solidFill>
              </a:rPr>
              <a:t>Rating_Section_Type</a:t>
            </a:r>
          </a:p>
        </p:txBody>
      </p:sp>
      <p:sp>
        <p:nvSpPr>
          <p:cNvPr id="570432" name="Line 64"/>
          <p:cNvSpPr>
            <a:spLocks noChangeShapeType="1"/>
          </p:cNvSpPr>
          <p:nvPr/>
        </p:nvSpPr>
        <p:spPr bwMode="auto">
          <a:xfrm flipH="1" flipV="1">
            <a:off x="1835150" y="4868863"/>
            <a:ext cx="0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9265" name="Text Box 65"/>
          <p:cNvSpPr txBox="1">
            <a:spLocks noChangeArrowheads="1"/>
          </p:cNvSpPr>
          <p:nvPr/>
        </p:nvSpPr>
        <p:spPr bwMode="auto">
          <a:xfrm>
            <a:off x="1331913" y="5013325"/>
            <a:ext cx="1006475" cy="244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000"/>
              <a:t>peril_group_id</a:t>
            </a:r>
            <a:endParaRPr lang="en-US" sz="1000"/>
          </a:p>
        </p:txBody>
      </p:sp>
      <p:sp>
        <p:nvSpPr>
          <p:cNvPr id="570434" name="Rectangle 66"/>
          <p:cNvSpPr>
            <a:spLocks noChangeArrowheads="1"/>
          </p:cNvSpPr>
          <p:nvPr/>
        </p:nvSpPr>
        <p:spPr bwMode="auto">
          <a:xfrm>
            <a:off x="3995738" y="4292600"/>
            <a:ext cx="2447925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 sz="1400">
                <a:solidFill>
                  <a:schemeClr val="tx1"/>
                </a:solidFill>
              </a:rPr>
              <a:t>Risk_Type_RI_Model_Usage</a:t>
            </a:r>
          </a:p>
        </p:txBody>
      </p:sp>
      <p:sp>
        <p:nvSpPr>
          <p:cNvPr id="570435" name="Line 67"/>
          <p:cNvSpPr>
            <a:spLocks noChangeShapeType="1"/>
          </p:cNvSpPr>
          <p:nvPr/>
        </p:nvSpPr>
        <p:spPr bwMode="auto">
          <a:xfrm flipH="1">
            <a:off x="5508625" y="1628775"/>
            <a:ext cx="1006475" cy="2663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9268" name="Text Box 68"/>
          <p:cNvSpPr txBox="1">
            <a:spLocks noChangeArrowheads="1"/>
          </p:cNvSpPr>
          <p:nvPr/>
        </p:nvSpPr>
        <p:spPr bwMode="auto">
          <a:xfrm>
            <a:off x="5364163" y="2997200"/>
            <a:ext cx="1012825" cy="244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000"/>
              <a:t>risk_type_id</a:t>
            </a:r>
            <a:endParaRPr lang="en-US" sz="1000"/>
          </a:p>
        </p:txBody>
      </p:sp>
      <p:sp>
        <p:nvSpPr>
          <p:cNvPr id="570437" name="Line 69"/>
          <p:cNvSpPr>
            <a:spLocks noChangeShapeType="1"/>
          </p:cNvSpPr>
          <p:nvPr/>
        </p:nvSpPr>
        <p:spPr bwMode="auto">
          <a:xfrm flipH="1" flipV="1">
            <a:off x="5219700" y="4652963"/>
            <a:ext cx="1296988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70" name="Text Box 70"/>
          <p:cNvSpPr txBox="1">
            <a:spLocks noChangeArrowheads="1"/>
          </p:cNvSpPr>
          <p:nvPr/>
        </p:nvSpPr>
        <p:spPr bwMode="auto">
          <a:xfrm>
            <a:off x="5364163" y="4797425"/>
            <a:ext cx="1087437" cy="244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000"/>
              <a:t>ri_model_id</a:t>
            </a:r>
            <a:endParaRPr lang="en-US" sz="1000"/>
          </a:p>
        </p:txBody>
      </p:sp>
      <p:sp>
        <p:nvSpPr>
          <p:cNvPr id="570439" name="Line 71"/>
          <p:cNvSpPr>
            <a:spLocks noChangeShapeType="1"/>
          </p:cNvSpPr>
          <p:nvPr/>
        </p:nvSpPr>
        <p:spPr bwMode="auto">
          <a:xfrm flipV="1">
            <a:off x="7740650" y="3789363"/>
            <a:ext cx="287338" cy="2087562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70441" name="Line 73"/>
          <p:cNvSpPr>
            <a:spLocks noChangeShapeType="1"/>
          </p:cNvSpPr>
          <p:nvPr/>
        </p:nvSpPr>
        <p:spPr bwMode="auto">
          <a:xfrm flipV="1">
            <a:off x="8316913" y="3789363"/>
            <a:ext cx="0" cy="259238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70442" name="Line 74"/>
          <p:cNvSpPr>
            <a:spLocks noChangeShapeType="1"/>
          </p:cNvSpPr>
          <p:nvPr/>
        </p:nvSpPr>
        <p:spPr bwMode="auto">
          <a:xfrm flipV="1">
            <a:off x="5219700" y="6381750"/>
            <a:ext cx="3097213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74" name="Text Box 75"/>
          <p:cNvSpPr txBox="1">
            <a:spLocks noChangeArrowheads="1"/>
          </p:cNvSpPr>
          <p:nvPr/>
        </p:nvSpPr>
        <p:spPr bwMode="auto">
          <a:xfrm>
            <a:off x="468313" y="1052513"/>
            <a:ext cx="2376487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GB" sz="1200"/>
              <a:t>Arrows show calculation flow</a:t>
            </a:r>
          </a:p>
        </p:txBody>
      </p:sp>
      <p:sp>
        <p:nvSpPr>
          <p:cNvPr id="9275" name="Text Box 77"/>
          <p:cNvSpPr txBox="1">
            <a:spLocks noChangeArrowheads="1"/>
          </p:cNvSpPr>
          <p:nvPr/>
        </p:nvSpPr>
        <p:spPr bwMode="auto">
          <a:xfrm>
            <a:off x="7596188" y="4292600"/>
            <a:ext cx="1292225" cy="5810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800"/>
              <a:t>RI_Arrangement_Line is calculated and links to either a Treaty or Party (Reinsurer)</a:t>
            </a:r>
            <a:endParaRPr lang="en-US" sz="800"/>
          </a:p>
        </p:txBody>
      </p:sp>
    </p:spTree>
  </p:cSld>
  <p:clrMapOvr>
    <a:masterClrMapping/>
  </p:clrMapOvr>
  <p:transition spd="med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703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703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703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703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703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703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5703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5703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5703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5703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5703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5703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703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703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570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570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570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570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570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570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5703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5703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5703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5703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5703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5703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5703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5703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5704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5704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5704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5704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1000" fill="hold"/>
                                        <p:tgtEl>
                                          <p:spTgt spid="570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1000" fill="hold"/>
                                        <p:tgtEl>
                                          <p:spTgt spid="5704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1000" fill="hold"/>
                                        <p:tgtEl>
                                          <p:spTgt spid="5704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1000" fill="hold"/>
                                        <p:tgtEl>
                                          <p:spTgt spid="5704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5704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5704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1000" fill="hold"/>
                                        <p:tgtEl>
                                          <p:spTgt spid="5704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1000" fill="hold"/>
                                        <p:tgtEl>
                                          <p:spTgt spid="5704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000" fill="hold"/>
                                        <p:tgtEl>
                                          <p:spTgt spid="5704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1000" fill="hold"/>
                                        <p:tgtEl>
                                          <p:spTgt spid="5704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1000" fill="hold"/>
                                        <p:tgtEl>
                                          <p:spTgt spid="5704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1000" fill="hold"/>
                                        <p:tgtEl>
                                          <p:spTgt spid="5704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1000" fill="hold"/>
                                        <p:tgtEl>
                                          <p:spTgt spid="5704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1000" fill="hold"/>
                                        <p:tgtEl>
                                          <p:spTgt spid="5704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1000" fill="hold"/>
                                        <p:tgtEl>
                                          <p:spTgt spid="5704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1000" fill="hold"/>
                                        <p:tgtEl>
                                          <p:spTgt spid="5704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1000" fill="hold"/>
                                        <p:tgtEl>
                                          <p:spTgt spid="5704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1000" fill="hold"/>
                                        <p:tgtEl>
                                          <p:spTgt spid="5704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000" fill="hold"/>
                                        <p:tgtEl>
                                          <p:spTgt spid="5704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1000" fill="hold"/>
                                        <p:tgtEl>
                                          <p:spTgt spid="5704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1000" fill="hold"/>
                                        <p:tgtEl>
                                          <p:spTgt spid="5704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1000" fill="hold"/>
                                        <p:tgtEl>
                                          <p:spTgt spid="5704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1000" fill="hold"/>
                                        <p:tgtEl>
                                          <p:spTgt spid="5704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1000" fill="hold"/>
                                        <p:tgtEl>
                                          <p:spTgt spid="5704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1000" fill="hold"/>
                                        <p:tgtEl>
                                          <p:spTgt spid="5704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1000" fill="hold"/>
                                        <p:tgtEl>
                                          <p:spTgt spid="5704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1000" fill="hold"/>
                                        <p:tgtEl>
                                          <p:spTgt spid="5704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1000" fill="hold"/>
                                        <p:tgtEl>
                                          <p:spTgt spid="5704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000" fill="hold"/>
                                        <p:tgtEl>
                                          <p:spTgt spid="5704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1000" fill="hold"/>
                                        <p:tgtEl>
                                          <p:spTgt spid="5704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1000" fill="hold"/>
                                        <p:tgtEl>
                                          <p:spTgt spid="5704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1000" fill="hold"/>
                                        <p:tgtEl>
                                          <p:spTgt spid="5704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1000" fill="hold"/>
                                        <p:tgtEl>
                                          <p:spTgt spid="5704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1000" fill="hold"/>
                                        <p:tgtEl>
                                          <p:spTgt spid="5704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1000" fill="hold"/>
                                        <p:tgtEl>
                                          <p:spTgt spid="5704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1000" fill="hold"/>
                                        <p:tgtEl>
                                          <p:spTgt spid="5704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1000" fill="hold"/>
                                        <p:tgtEl>
                                          <p:spTgt spid="5704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1000" fill="hold"/>
                                        <p:tgtEl>
                                          <p:spTgt spid="5704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1000" fill="hold"/>
                                        <p:tgtEl>
                                          <p:spTgt spid="5704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1000" fill="hold"/>
                                        <p:tgtEl>
                                          <p:spTgt spid="5704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1000" fill="hold"/>
                                        <p:tgtEl>
                                          <p:spTgt spid="5704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1000" fill="hold"/>
                                        <p:tgtEl>
                                          <p:spTgt spid="5704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5" dur="1000" fill="hold"/>
                                        <p:tgtEl>
                                          <p:spTgt spid="5704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" dur="1000" fill="hold"/>
                                        <p:tgtEl>
                                          <p:spTgt spid="5704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1000" fill="hold"/>
                                        <p:tgtEl>
                                          <p:spTgt spid="5704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1000" fill="hold"/>
                                        <p:tgtEl>
                                          <p:spTgt spid="5704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1000" fill="hold"/>
                                        <p:tgtEl>
                                          <p:spTgt spid="5704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1000" fill="hold"/>
                                        <p:tgtEl>
                                          <p:spTgt spid="5704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7" dur="1000" fill="hold"/>
                                        <p:tgtEl>
                                          <p:spTgt spid="5704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8" dur="1000" fill="hold"/>
                                        <p:tgtEl>
                                          <p:spTgt spid="5704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9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1" dur="1000" fill="hold"/>
                                        <p:tgtEl>
                                          <p:spTgt spid="5704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2" dur="1000" fill="hold"/>
                                        <p:tgtEl>
                                          <p:spTgt spid="5704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3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1000" fill="hold"/>
                                        <p:tgtEl>
                                          <p:spTgt spid="570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1000" fill="hold"/>
                                        <p:tgtEl>
                                          <p:spTgt spid="5704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9" dur="1000" fill="hold"/>
                                        <p:tgtEl>
                                          <p:spTgt spid="570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0" dur="1000" fill="hold"/>
                                        <p:tgtEl>
                                          <p:spTgt spid="5704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1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3" dur="1000" fill="hold"/>
                                        <p:tgtEl>
                                          <p:spTgt spid="5704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4" dur="1000" fill="hold"/>
                                        <p:tgtEl>
                                          <p:spTgt spid="5704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5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7" dur="1000" fill="hold"/>
                                        <p:tgtEl>
                                          <p:spTgt spid="5704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8" dur="1000" fill="hold"/>
                                        <p:tgtEl>
                                          <p:spTgt spid="5704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9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1" dur="1000" fill="hold"/>
                                        <p:tgtEl>
                                          <p:spTgt spid="5704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2" dur="1000" fill="hold"/>
                                        <p:tgtEl>
                                          <p:spTgt spid="5704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3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5" dur="1000" fill="hold"/>
                                        <p:tgtEl>
                                          <p:spTgt spid="570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6" dur="1000" fill="hold"/>
                                        <p:tgtEl>
                                          <p:spTgt spid="570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7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9" dur="1000" fill="hold"/>
                                        <p:tgtEl>
                                          <p:spTgt spid="5704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0" dur="1000" fill="hold"/>
                                        <p:tgtEl>
                                          <p:spTgt spid="5704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3" dur="1000" fill="hold"/>
                                        <p:tgtEl>
                                          <p:spTgt spid="5704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4" dur="1000" fill="hold"/>
                                        <p:tgtEl>
                                          <p:spTgt spid="5704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5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7" dur="1000" fill="hold"/>
                                        <p:tgtEl>
                                          <p:spTgt spid="5704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8" dur="1000" fill="hold"/>
                                        <p:tgtEl>
                                          <p:spTgt spid="5704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9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1" dur="1000" fill="hold"/>
                                        <p:tgtEl>
                                          <p:spTgt spid="5704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2" dur="1000" fill="hold"/>
                                        <p:tgtEl>
                                          <p:spTgt spid="5704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3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5" dur="1000" fill="hold"/>
                                        <p:tgtEl>
                                          <p:spTgt spid="5704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6" dur="1000" fill="hold"/>
                                        <p:tgtEl>
                                          <p:spTgt spid="5704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7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9" dur="1000" fill="hold"/>
                                        <p:tgtEl>
                                          <p:spTgt spid="5704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0" dur="1000" fill="hold"/>
                                        <p:tgtEl>
                                          <p:spTgt spid="5704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1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3" dur="1000" fill="hold"/>
                                        <p:tgtEl>
                                          <p:spTgt spid="5704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4" dur="1000" fill="hold"/>
                                        <p:tgtEl>
                                          <p:spTgt spid="5704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5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7" dur="1000" fill="hold"/>
                                        <p:tgtEl>
                                          <p:spTgt spid="5704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8" dur="1000" fill="hold"/>
                                        <p:tgtEl>
                                          <p:spTgt spid="5704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9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1" dur="1000" fill="hold"/>
                                        <p:tgtEl>
                                          <p:spTgt spid="5704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2" dur="1000" fill="hold"/>
                                        <p:tgtEl>
                                          <p:spTgt spid="5704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3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5" dur="1000" fill="hold"/>
                                        <p:tgtEl>
                                          <p:spTgt spid="5704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6" dur="1000" fill="hold"/>
                                        <p:tgtEl>
                                          <p:spTgt spid="5704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0372" grpId="0" animBg="1"/>
      <p:bldP spid="570375" grpId="0" animBg="1"/>
      <p:bldP spid="570382" grpId="0" animBg="1"/>
      <p:bldP spid="570383" grpId="0" animBg="1"/>
      <p:bldP spid="570383" grpId="1" animBg="1"/>
      <p:bldP spid="570385" grpId="0" animBg="1"/>
      <p:bldP spid="570385" grpId="1" animBg="1"/>
      <p:bldP spid="570387" grpId="0" animBg="1"/>
      <p:bldP spid="570388" grpId="0" animBg="1"/>
      <p:bldP spid="570388" grpId="1" animBg="1"/>
      <p:bldP spid="570395" grpId="0" animBg="1"/>
      <p:bldP spid="570396" grpId="0" animBg="1"/>
      <p:bldP spid="570396" grpId="1" animBg="1"/>
      <p:bldP spid="570398" grpId="0" animBg="1"/>
      <p:bldP spid="570400" grpId="0" animBg="1"/>
      <p:bldP spid="570400" grpId="1" animBg="1"/>
      <p:bldP spid="570402" grpId="0" animBg="1"/>
      <p:bldP spid="570403" grpId="0" animBg="1"/>
      <p:bldP spid="570404" grpId="0" animBg="1"/>
      <p:bldP spid="570405" grpId="0" animBg="1"/>
      <p:bldP spid="570406" grpId="0" animBg="1"/>
      <p:bldP spid="570407" grpId="0" animBg="1"/>
      <p:bldP spid="570408" grpId="0" animBg="1"/>
      <p:bldP spid="570408" grpId="1" animBg="1"/>
      <p:bldP spid="570410" grpId="0" animBg="1"/>
      <p:bldP spid="570410" grpId="1" animBg="1"/>
      <p:bldP spid="570412" grpId="0" animBg="1"/>
      <p:bldP spid="570412" grpId="1" animBg="1"/>
      <p:bldP spid="570414" grpId="0" animBg="1"/>
      <p:bldP spid="570414" grpId="1" animBg="1"/>
      <p:bldP spid="570416" grpId="0" animBg="1"/>
      <p:bldP spid="570417" grpId="0" animBg="1"/>
      <p:bldP spid="570417" grpId="1" animBg="1"/>
      <p:bldP spid="570419" grpId="0" animBg="1"/>
      <p:bldP spid="570421" grpId="0" animBg="1"/>
      <p:bldP spid="570421" grpId="1" animBg="1"/>
      <p:bldP spid="570422" grpId="0" animBg="1"/>
      <p:bldP spid="570422" grpId="1" animBg="1"/>
      <p:bldP spid="570424" grpId="0" animBg="1"/>
      <p:bldP spid="570424" grpId="1" animBg="1"/>
      <p:bldP spid="570426" grpId="0" animBg="1"/>
      <p:bldP spid="570426" grpId="1" animBg="1"/>
      <p:bldP spid="570428" grpId="0" animBg="1"/>
      <p:bldP spid="570428" grpId="1" animBg="1"/>
      <p:bldP spid="570431" grpId="0" animBg="1"/>
      <p:bldP spid="570432" grpId="0" animBg="1"/>
      <p:bldP spid="570432" grpId="1" animBg="1"/>
      <p:bldP spid="570434" grpId="0" animBg="1"/>
      <p:bldP spid="570435" grpId="0" animBg="1"/>
      <p:bldP spid="570435" grpId="1" animBg="1"/>
      <p:bldP spid="570437" grpId="0" animBg="1"/>
      <p:bldP spid="570437" grpId="1" animBg="1"/>
      <p:bldP spid="570439" grpId="0" animBg="1"/>
      <p:bldP spid="570439" grpId="1" animBg="1"/>
      <p:bldP spid="570441" grpId="0" animBg="1"/>
      <p:bldP spid="570441" grpId="1" animBg="1"/>
      <p:bldP spid="570442" grpId="0" animBg="1"/>
      <p:bldP spid="570442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GB" dirty="0" smtClean="0"/>
              <a:t>Manual Override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468313" y="1341438"/>
            <a:ext cx="8229600" cy="4525962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GB" dirty="0" smtClean="0"/>
              <a:t>If Treaty calculations fail to fully allocate the sum insured then the user can do two things:</a:t>
            </a:r>
          </a:p>
          <a:p>
            <a:pPr lvl="1" eaLnBrk="1" hangingPunct="1"/>
            <a:r>
              <a:rPr lang="en-GB" dirty="0" smtClean="0"/>
              <a:t>Add an additional Treaty.</a:t>
            </a:r>
          </a:p>
          <a:p>
            <a:pPr lvl="1" eaLnBrk="1" hangingPunct="1"/>
            <a:r>
              <a:rPr lang="en-GB" dirty="0" smtClean="0"/>
              <a:t>Add a Facultative Agreement for a particular Reinsurer. This adds a single line into the overall agreement.</a:t>
            </a:r>
          </a:p>
        </p:txBody>
      </p:sp>
      <p:grpSp>
        <p:nvGrpSpPr>
          <p:cNvPr id="10244" name="Group 4"/>
          <p:cNvGrpSpPr>
            <a:grpSpLocks/>
          </p:cNvGrpSpPr>
          <p:nvPr/>
        </p:nvGrpSpPr>
        <p:grpSpPr bwMode="auto">
          <a:xfrm>
            <a:off x="1907704" y="3501008"/>
            <a:ext cx="1874838" cy="1000125"/>
            <a:chOff x="4377" y="3249"/>
            <a:chExt cx="1181" cy="630"/>
          </a:xfrm>
        </p:grpSpPr>
        <p:sp>
          <p:nvSpPr>
            <p:cNvPr id="10245" name="Text Box 5"/>
            <p:cNvSpPr txBox="1">
              <a:spLocks noChangeArrowheads="1"/>
            </p:cNvSpPr>
            <p:nvPr/>
          </p:nvSpPr>
          <p:spPr bwMode="auto">
            <a:xfrm>
              <a:off x="4377" y="3249"/>
              <a:ext cx="1181" cy="179"/>
            </a:xfrm>
            <a:prstGeom prst="rect">
              <a:avLst/>
            </a:prstGeom>
            <a:solidFill>
              <a:srgbClr val="800080"/>
            </a:solidFill>
            <a:ln w="9525">
              <a:solidFill>
                <a:srgbClr val="80008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GB" sz="1200" b="1" dirty="0">
                  <a:solidFill>
                    <a:schemeClr val="bg1"/>
                  </a:solidFill>
                </a:rPr>
                <a:t>Components</a:t>
              </a:r>
            </a:p>
          </p:txBody>
        </p:sp>
        <p:sp>
          <p:nvSpPr>
            <p:cNvPr id="10246" name="Text Box 6"/>
            <p:cNvSpPr txBox="1">
              <a:spLocks noChangeArrowheads="1"/>
            </p:cNvSpPr>
            <p:nvPr/>
          </p:nvSpPr>
          <p:spPr bwMode="auto">
            <a:xfrm>
              <a:off x="4377" y="3431"/>
              <a:ext cx="1180" cy="448"/>
            </a:xfrm>
            <a:prstGeom prst="rect">
              <a:avLst/>
            </a:prstGeom>
            <a:noFill/>
            <a:ln w="9525">
              <a:solidFill>
                <a:srgbClr val="80008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GB" sz="1000" b="1">
                  <a:solidFill>
                    <a:srgbClr val="333333"/>
                  </a:solidFill>
                </a:rPr>
                <a:t>bSIRReinsurance</a:t>
              </a:r>
            </a:p>
            <a:p>
              <a:pPr algn="l">
                <a:spcBef>
                  <a:spcPct val="50000"/>
                </a:spcBef>
              </a:pPr>
              <a:r>
                <a:rPr lang="en-GB" sz="1000" b="1">
                  <a:solidFill>
                    <a:srgbClr val="333333"/>
                  </a:solidFill>
                </a:rPr>
                <a:t>iPMUReinsurance</a:t>
              </a:r>
            </a:p>
            <a:p>
              <a:pPr algn="l">
                <a:spcBef>
                  <a:spcPct val="50000"/>
                </a:spcBef>
              </a:pPr>
              <a:r>
                <a:rPr lang="en-GB" sz="1000" b="1">
                  <a:solidFill>
                    <a:srgbClr val="333333"/>
                  </a:solidFill>
                </a:rPr>
                <a:t>cSIRRIControls</a:t>
              </a:r>
            </a:p>
          </p:txBody>
        </p:sp>
      </p:grpSp>
    </p:spTree>
  </p:cSld>
  <p:clrMapOvr>
    <a:masterClrMapping/>
  </p:clrMapOvr>
  <p:transition spd="med">
    <p:pull dir="d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GB" smtClean="0"/>
              <a:t>Agent Commission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468313" y="1341438"/>
            <a:ext cx="8229600" cy="4525962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GB" smtClean="0"/>
              <a:t>Agents are added using Agent Maintenance in System Administration.</a:t>
            </a:r>
          </a:p>
          <a:p>
            <a:pPr eaLnBrk="1" hangingPunct="1"/>
            <a:r>
              <a:rPr lang="en-GB" smtClean="0"/>
              <a:t>Commission Maintenance in Underwriting Maintenance sets up the different levels of Commission.</a:t>
            </a:r>
          </a:p>
          <a:p>
            <a:pPr lvl="1" eaLnBrk="1" hangingPunct="1"/>
            <a:r>
              <a:rPr lang="en-GB" smtClean="0"/>
              <a:t>Data stored in Commission_Arrangement</a:t>
            </a:r>
          </a:p>
          <a:p>
            <a:pPr eaLnBrk="1" hangingPunct="1"/>
            <a:r>
              <a:rPr lang="en-GB" smtClean="0"/>
              <a:t>Commission is driven by the user control</a:t>
            </a:r>
          </a:p>
          <a:p>
            <a:pPr lvl="1" eaLnBrk="1" hangingPunct="1"/>
            <a:r>
              <a:rPr lang="en-GB" smtClean="0"/>
              <a:t>Stored in Agent_Commission.</a:t>
            </a:r>
          </a:p>
        </p:txBody>
      </p:sp>
      <p:grpSp>
        <p:nvGrpSpPr>
          <p:cNvPr id="11268" name="Group 4"/>
          <p:cNvGrpSpPr>
            <a:grpSpLocks/>
          </p:cNvGrpSpPr>
          <p:nvPr/>
        </p:nvGrpSpPr>
        <p:grpSpPr bwMode="auto">
          <a:xfrm>
            <a:off x="1619672" y="3573016"/>
            <a:ext cx="1874838" cy="1685925"/>
            <a:chOff x="4377" y="3249"/>
            <a:chExt cx="1181" cy="1062"/>
          </a:xfrm>
        </p:grpSpPr>
        <p:sp>
          <p:nvSpPr>
            <p:cNvPr id="11269" name="Text Box 5"/>
            <p:cNvSpPr txBox="1">
              <a:spLocks noChangeArrowheads="1"/>
            </p:cNvSpPr>
            <p:nvPr/>
          </p:nvSpPr>
          <p:spPr bwMode="auto">
            <a:xfrm>
              <a:off x="4377" y="3249"/>
              <a:ext cx="1181" cy="179"/>
            </a:xfrm>
            <a:prstGeom prst="rect">
              <a:avLst/>
            </a:prstGeom>
            <a:solidFill>
              <a:srgbClr val="800080"/>
            </a:solidFill>
            <a:ln w="9525">
              <a:solidFill>
                <a:srgbClr val="80008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GB" sz="1200" b="1" dirty="0">
                  <a:solidFill>
                    <a:schemeClr val="bg1"/>
                  </a:solidFill>
                </a:rPr>
                <a:t>Components</a:t>
              </a:r>
            </a:p>
          </p:txBody>
        </p:sp>
        <p:sp>
          <p:nvSpPr>
            <p:cNvPr id="11270" name="Text Box 6"/>
            <p:cNvSpPr txBox="1">
              <a:spLocks noChangeArrowheads="1"/>
            </p:cNvSpPr>
            <p:nvPr/>
          </p:nvSpPr>
          <p:spPr bwMode="auto">
            <a:xfrm>
              <a:off x="4377" y="3431"/>
              <a:ext cx="1180" cy="880"/>
            </a:xfrm>
            <a:prstGeom prst="rect">
              <a:avLst/>
            </a:prstGeom>
            <a:noFill/>
            <a:ln w="9525">
              <a:solidFill>
                <a:srgbClr val="80008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GB" sz="1000" b="1">
                  <a:solidFill>
                    <a:srgbClr val="333333"/>
                  </a:solidFill>
                </a:rPr>
                <a:t>iPMBPartyAG</a:t>
              </a:r>
            </a:p>
            <a:p>
              <a:pPr algn="l">
                <a:spcBef>
                  <a:spcPct val="50000"/>
                </a:spcBef>
              </a:pPr>
              <a:r>
                <a:rPr lang="en-GB" sz="1000" b="1">
                  <a:solidFill>
                    <a:srgbClr val="333333"/>
                  </a:solidFill>
                </a:rPr>
                <a:t>bSIRPartyAG</a:t>
              </a:r>
            </a:p>
            <a:p>
              <a:pPr algn="l">
                <a:spcBef>
                  <a:spcPct val="50000"/>
                </a:spcBef>
              </a:pPr>
              <a:r>
                <a:rPr lang="en-GB" sz="1000" b="1">
                  <a:solidFill>
                    <a:srgbClr val="333333"/>
                  </a:solidFill>
                </a:rPr>
                <a:t>dSIRPartyAG</a:t>
              </a:r>
            </a:p>
            <a:p>
              <a:pPr algn="l">
                <a:spcBef>
                  <a:spcPct val="50000"/>
                </a:spcBef>
              </a:pPr>
              <a:r>
                <a:rPr lang="en-GB" sz="1000" b="1">
                  <a:solidFill>
                    <a:srgbClr val="333333"/>
                  </a:solidFill>
                </a:rPr>
                <a:t>iPMUAgentCommission</a:t>
              </a:r>
            </a:p>
            <a:p>
              <a:pPr algn="l">
                <a:spcBef>
                  <a:spcPct val="50000"/>
                </a:spcBef>
              </a:pPr>
              <a:r>
                <a:rPr lang="en-GB" sz="1000" b="1">
                  <a:solidFill>
                    <a:srgbClr val="333333"/>
                  </a:solidFill>
                </a:rPr>
                <a:t>bSIRAgentCommission</a:t>
              </a:r>
            </a:p>
            <a:p>
              <a:pPr algn="l">
                <a:spcBef>
                  <a:spcPct val="50000"/>
                </a:spcBef>
              </a:pPr>
              <a:r>
                <a:rPr lang="en-GB" sz="1000" b="1">
                  <a:solidFill>
                    <a:srgbClr val="333333"/>
                  </a:solidFill>
                </a:rPr>
                <a:t>uctPMUCommission</a:t>
              </a:r>
            </a:p>
          </p:txBody>
        </p:sp>
      </p:grpSp>
    </p:spTree>
  </p:cSld>
  <p:clrMapOvr>
    <a:masterClrMapping/>
  </p:clrMapOvr>
  <p:transition spd="med">
    <p:pull dir="d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GB" smtClean="0"/>
              <a:t>Policy Fees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468313" y="1341438"/>
            <a:ext cx="8229600" cy="4525962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GB" smtClean="0"/>
              <a:t>Policy Fees are additional charges made against an Insurance File.</a:t>
            </a:r>
          </a:p>
          <a:p>
            <a:pPr eaLnBrk="1" hangingPunct="1"/>
            <a:r>
              <a:rPr lang="en-GB" smtClean="0"/>
              <a:t>Fees are maintained from Fee Maintenance in System Administration.</a:t>
            </a:r>
          </a:p>
          <a:p>
            <a:pPr eaLnBrk="1" hangingPunct="1"/>
            <a:r>
              <a:rPr lang="en-GB" smtClean="0"/>
              <a:t>Fees are driven by the user control</a:t>
            </a:r>
          </a:p>
          <a:p>
            <a:pPr lvl="1" eaLnBrk="1" hangingPunct="1"/>
            <a:r>
              <a:rPr lang="en-GB" smtClean="0"/>
              <a:t>Stored in Policy_Fee_u</a:t>
            </a:r>
          </a:p>
        </p:txBody>
      </p:sp>
      <p:grpSp>
        <p:nvGrpSpPr>
          <p:cNvPr id="12292" name="Group 4"/>
          <p:cNvGrpSpPr>
            <a:grpSpLocks/>
          </p:cNvGrpSpPr>
          <p:nvPr/>
        </p:nvGrpSpPr>
        <p:grpSpPr bwMode="auto">
          <a:xfrm>
            <a:off x="1475656" y="3717032"/>
            <a:ext cx="1874838" cy="1228725"/>
            <a:chOff x="4377" y="3249"/>
            <a:chExt cx="1181" cy="774"/>
          </a:xfrm>
        </p:grpSpPr>
        <p:sp>
          <p:nvSpPr>
            <p:cNvPr id="12293" name="Text Box 5"/>
            <p:cNvSpPr txBox="1">
              <a:spLocks noChangeArrowheads="1"/>
            </p:cNvSpPr>
            <p:nvPr/>
          </p:nvSpPr>
          <p:spPr bwMode="auto">
            <a:xfrm>
              <a:off x="4377" y="3249"/>
              <a:ext cx="1181" cy="179"/>
            </a:xfrm>
            <a:prstGeom prst="rect">
              <a:avLst/>
            </a:prstGeom>
            <a:solidFill>
              <a:srgbClr val="800080"/>
            </a:solidFill>
            <a:ln w="9525">
              <a:solidFill>
                <a:srgbClr val="80008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GB" sz="1200" b="1">
                  <a:solidFill>
                    <a:schemeClr val="bg1"/>
                  </a:solidFill>
                </a:rPr>
                <a:t>Components</a:t>
              </a:r>
            </a:p>
          </p:txBody>
        </p:sp>
        <p:sp>
          <p:nvSpPr>
            <p:cNvPr id="12294" name="Text Box 6"/>
            <p:cNvSpPr txBox="1">
              <a:spLocks noChangeArrowheads="1"/>
            </p:cNvSpPr>
            <p:nvPr/>
          </p:nvSpPr>
          <p:spPr bwMode="auto">
            <a:xfrm>
              <a:off x="4377" y="3431"/>
              <a:ext cx="1180" cy="592"/>
            </a:xfrm>
            <a:prstGeom prst="rect">
              <a:avLst/>
            </a:prstGeom>
            <a:noFill/>
            <a:ln w="9525">
              <a:solidFill>
                <a:srgbClr val="80008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GB" sz="1000" b="1">
                  <a:solidFill>
                    <a:srgbClr val="333333"/>
                  </a:solidFill>
                </a:rPr>
                <a:t>iPMBPartyFee</a:t>
              </a:r>
            </a:p>
            <a:p>
              <a:pPr algn="l">
                <a:spcBef>
                  <a:spcPct val="50000"/>
                </a:spcBef>
              </a:pPr>
              <a:r>
                <a:rPr lang="en-GB" sz="1000" b="1">
                  <a:solidFill>
                    <a:srgbClr val="333333"/>
                  </a:solidFill>
                </a:rPr>
                <a:t>bSIRPartyFee</a:t>
              </a:r>
            </a:p>
            <a:p>
              <a:pPr algn="l">
                <a:spcBef>
                  <a:spcPct val="50000"/>
                </a:spcBef>
              </a:pPr>
              <a:r>
                <a:rPr lang="en-GB" sz="1000" b="1">
                  <a:solidFill>
                    <a:srgbClr val="333333"/>
                  </a:solidFill>
                </a:rPr>
                <a:t>dSIRPartyFee</a:t>
              </a:r>
            </a:p>
            <a:p>
              <a:pPr algn="l">
                <a:spcBef>
                  <a:spcPct val="50000"/>
                </a:spcBef>
              </a:pPr>
              <a:r>
                <a:rPr lang="en-GB" sz="1000" b="1">
                  <a:solidFill>
                    <a:srgbClr val="333333"/>
                  </a:solidFill>
                </a:rPr>
                <a:t>uctPMUFees</a:t>
              </a:r>
            </a:p>
          </p:txBody>
        </p:sp>
      </p:grpSp>
    </p:spTree>
  </p:cSld>
  <p:clrMapOvr>
    <a:masterClrMapping/>
  </p:clrMapOvr>
  <p:transition spd="med">
    <p:pull dir="d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SP Corporate Presentation Template - SSP Internal use Only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ppt473.tmp</Template>
  <TotalTime>16832</TotalTime>
  <Words>480</Words>
  <Application>Microsoft Office PowerPoint</Application>
  <PresentationFormat>On-screen Show (4:3)</PresentationFormat>
  <Paragraphs>171</Paragraphs>
  <Slides>11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SSP Corporate Presentation Template - SSP Internal use Only</vt:lpstr>
      <vt:lpstr>Technical Design</vt:lpstr>
      <vt:lpstr>Background</vt:lpstr>
      <vt:lpstr>Pure Insurance Policy Structure</vt:lpstr>
      <vt:lpstr>Pure Insurance Tax Calculation</vt:lpstr>
      <vt:lpstr>Tax_Calculation Table</vt:lpstr>
      <vt:lpstr>Reinsurance Setup</vt:lpstr>
      <vt:lpstr>Reinsurance Calculation</vt:lpstr>
      <vt:lpstr>S4I Reinsurance Data Model</vt:lpstr>
      <vt:lpstr>Manual Override</vt:lpstr>
      <vt:lpstr>Agent Commission</vt:lpstr>
      <vt:lpstr>Policy Fees</vt:lpstr>
    </vt:vector>
  </TitlesOfParts>
  <Company>Sirius Financial Systems PLC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Sirius Accounts Technical Design</dc:title>
  <dc:creator>Danny Davis</dc:creator>
  <cp:lastModifiedBy>mousumi.borah</cp:lastModifiedBy>
  <cp:revision>250</cp:revision>
  <dcterms:created xsi:type="dcterms:W3CDTF">2005-03-04T10:54:44Z</dcterms:created>
  <dcterms:modified xsi:type="dcterms:W3CDTF">2013-05-20T09:32:35Z</dcterms:modified>
</cp:coreProperties>
</file>