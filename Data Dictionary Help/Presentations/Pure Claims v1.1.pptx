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</p:sldIdLst>
  <p:sldSz cx="9144000" cy="6858000" type="screen4x3"/>
  <p:notesSz cx="6797675" cy="9926638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400" kern="1200">
        <a:solidFill>
          <a:srgbClr val="800080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400" kern="1200">
        <a:solidFill>
          <a:srgbClr val="800080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400" kern="1200">
        <a:solidFill>
          <a:srgbClr val="800080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400" kern="1200">
        <a:solidFill>
          <a:srgbClr val="800080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400" kern="1200">
        <a:solidFill>
          <a:srgbClr val="800080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rgbClr val="800080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rgbClr val="800080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rgbClr val="800080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rgbClr val="800080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FF99"/>
    <a:srgbClr val="00CC00"/>
    <a:srgbClr val="FF0000"/>
    <a:srgbClr val="FF9933"/>
    <a:srgbClr val="BBE0E3"/>
    <a:srgbClr val="800080"/>
    <a:srgbClr val="00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18" autoAdjust="0"/>
    <p:restoredTop sz="86443" autoAdjust="0"/>
  </p:normalViewPr>
  <p:slideViewPr>
    <p:cSldViewPr>
      <p:cViewPr varScale="1">
        <p:scale>
          <a:sx n="63" d="100"/>
          <a:sy n="63" d="100"/>
        </p:scale>
        <p:origin x="-113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256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9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9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19A5DE68-C89D-4223-B0FE-0FA0C38A77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621D444-48E7-4693-9682-94EA53F0A7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181AE9-B3F7-4022-967B-F60A3A4B77FC}" type="slidenum">
              <a:rPr lang="en-US"/>
              <a:pPr/>
              <a:t>1</a:t>
            </a:fld>
            <a:endParaRPr lang="en-US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ssp-powerpoint-3-front-fla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ssp-powerpoint-3-front-flat"/>
          <p:cNvPicPr>
            <a:picLocks noChangeAspect="1" noChangeArrowheads="1"/>
          </p:cNvPicPr>
          <p:nvPr/>
        </p:nvPicPr>
        <p:blipFill>
          <a:blip r:embed="rId2" cstate="print"/>
          <a:srcRect l="18646" t="83195" r="64948"/>
          <a:stretch>
            <a:fillRect/>
          </a:stretch>
        </p:blipFill>
        <p:spPr bwMode="auto">
          <a:xfrm>
            <a:off x="285750" y="5705475"/>
            <a:ext cx="1500188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 descr="ssp_logo_modern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4313" y="5715000"/>
            <a:ext cx="160972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372199" y="6357938"/>
            <a:ext cx="2628925" cy="338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GB" sz="1600" dirty="0"/>
              <a:t>SSP </a:t>
            </a:r>
            <a:r>
              <a:rPr lang="en-GB" sz="1600" dirty="0" smtClean="0"/>
              <a:t>– Restricted</a:t>
            </a:r>
            <a:endParaRPr lang="en-GB" sz="1600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5288" y="3860800"/>
            <a:ext cx="7772400" cy="1470025"/>
          </a:xfrm>
        </p:spPr>
        <p:txBody>
          <a:bodyPr/>
          <a:lstStyle>
            <a:lvl1pPr>
              <a:defRPr sz="25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95288" y="4940300"/>
            <a:ext cx="7777162" cy="504825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  <p:transition spd="med">
    <p:pull dir="d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ssp-powerpoint-3-inner-fla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541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Add page title in here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57338"/>
            <a:ext cx="82296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Bullet points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7715250" y="5975350"/>
            <a:ext cx="1357313" cy="78581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1030" name="Picture 4" descr="ssp_logo_modern.jpg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62838" y="5786438"/>
            <a:ext cx="160972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 spd="med">
    <p:pull dir="d"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FF3300"/>
        </a:buClr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3300"/>
        </a:buClr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FF3300"/>
        </a:buClr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251520" y="3140968"/>
            <a:ext cx="7772400" cy="14700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dirty="0" smtClean="0"/>
              <a:t>Technical Design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2771800" y="1700808"/>
            <a:ext cx="396044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GB" sz="3600" dirty="0" smtClean="0"/>
              <a:t>Pure </a:t>
            </a:r>
            <a:r>
              <a:rPr lang="en-GB" sz="3600" dirty="0"/>
              <a:t>Claims</a:t>
            </a:r>
            <a:endParaRPr lang="en-US" sz="3600" dirty="0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9552" y="620688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>
                <a:solidFill>
                  <a:srgbClr val="FF0000"/>
                </a:solidFill>
              </a:rPr>
              <a:t>Basics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Manages Claims for insured Parties, this where S4B ends.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Maintains Reserves for each Claim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Manages Payments through the Claim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Handles Recovery from Third Parties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Recovers other losses through Salvage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Tracks exposure through Reinsurance</a:t>
            </a:r>
          </a:p>
          <a:p>
            <a:pPr eaLnBrk="1" hangingPunct="1"/>
            <a:endParaRPr lang="en-GB" dirty="0" smtClean="0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>
                <a:solidFill>
                  <a:srgbClr val="FF0000"/>
                </a:solidFill>
              </a:rPr>
              <a:t>Database Structure</a:t>
            </a:r>
          </a:p>
        </p:txBody>
      </p:sp>
      <p:sp>
        <p:nvSpPr>
          <p:cNvPr id="569349" name="Rectangle 5"/>
          <p:cNvSpPr>
            <a:spLocks noChangeArrowheads="1"/>
          </p:cNvSpPr>
          <p:nvPr/>
        </p:nvSpPr>
        <p:spPr bwMode="auto">
          <a:xfrm>
            <a:off x="5292725" y="1341438"/>
            <a:ext cx="1366838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>
                <a:solidFill>
                  <a:schemeClr val="tx1"/>
                </a:solidFill>
              </a:rPr>
              <a:t>Insurance_File</a:t>
            </a:r>
          </a:p>
        </p:txBody>
      </p:sp>
      <p:sp>
        <p:nvSpPr>
          <p:cNvPr id="569350" name="Rectangle 6"/>
          <p:cNvSpPr>
            <a:spLocks noChangeArrowheads="1"/>
          </p:cNvSpPr>
          <p:nvPr/>
        </p:nvSpPr>
        <p:spPr bwMode="auto">
          <a:xfrm>
            <a:off x="2987675" y="2347913"/>
            <a:ext cx="1150938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>
                <a:solidFill>
                  <a:schemeClr val="tx1"/>
                </a:solidFill>
              </a:rPr>
              <a:t>Claim</a:t>
            </a:r>
          </a:p>
        </p:txBody>
      </p:sp>
      <p:sp>
        <p:nvSpPr>
          <p:cNvPr id="569351" name="Line 7"/>
          <p:cNvSpPr>
            <a:spLocks noChangeShapeType="1"/>
          </p:cNvSpPr>
          <p:nvPr/>
        </p:nvSpPr>
        <p:spPr bwMode="auto">
          <a:xfrm flipV="1">
            <a:off x="4140200" y="1700213"/>
            <a:ext cx="1152525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9352" name="Rectangle 8"/>
          <p:cNvSpPr>
            <a:spLocks noChangeArrowheads="1"/>
          </p:cNvSpPr>
          <p:nvPr/>
        </p:nvSpPr>
        <p:spPr bwMode="auto">
          <a:xfrm>
            <a:off x="5219700" y="2349500"/>
            <a:ext cx="1654175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>
                <a:solidFill>
                  <a:schemeClr val="tx1"/>
                </a:solidFill>
              </a:rPr>
              <a:t>GIS_Policy_Link</a:t>
            </a:r>
          </a:p>
        </p:txBody>
      </p:sp>
      <p:sp>
        <p:nvSpPr>
          <p:cNvPr id="569353" name="Line 9"/>
          <p:cNvSpPr>
            <a:spLocks noChangeShapeType="1"/>
          </p:cNvSpPr>
          <p:nvPr/>
        </p:nvSpPr>
        <p:spPr bwMode="auto">
          <a:xfrm flipH="1" flipV="1">
            <a:off x="4140200" y="2565400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4" name="Text Box 11"/>
          <p:cNvSpPr txBox="1">
            <a:spLocks noChangeArrowheads="1"/>
          </p:cNvSpPr>
          <p:nvPr/>
        </p:nvSpPr>
        <p:spPr bwMode="auto">
          <a:xfrm>
            <a:off x="4211638" y="1916113"/>
            <a:ext cx="20161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policy_id = insurance_file_cnt</a:t>
            </a:r>
            <a:endParaRPr lang="en-US" sz="1000"/>
          </a:p>
        </p:txBody>
      </p:sp>
      <p:sp>
        <p:nvSpPr>
          <p:cNvPr id="569370" name="Rectangle 26"/>
          <p:cNvSpPr>
            <a:spLocks noChangeArrowheads="1"/>
          </p:cNvSpPr>
          <p:nvPr/>
        </p:nvSpPr>
        <p:spPr bwMode="auto">
          <a:xfrm>
            <a:off x="2840038" y="1412875"/>
            <a:ext cx="1444625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>
                <a:solidFill>
                  <a:schemeClr val="tx1"/>
                </a:solidFill>
              </a:rPr>
              <a:t>Claim_Folder</a:t>
            </a:r>
          </a:p>
        </p:txBody>
      </p:sp>
      <p:sp>
        <p:nvSpPr>
          <p:cNvPr id="569371" name="Line 27"/>
          <p:cNvSpPr>
            <a:spLocks noChangeShapeType="1"/>
          </p:cNvSpPr>
          <p:nvPr/>
        </p:nvSpPr>
        <p:spPr bwMode="auto">
          <a:xfrm flipH="1" flipV="1">
            <a:off x="3563938" y="177165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7" name="Text Box 28"/>
          <p:cNvSpPr txBox="1">
            <a:spLocks noChangeArrowheads="1"/>
          </p:cNvSpPr>
          <p:nvPr/>
        </p:nvSpPr>
        <p:spPr bwMode="auto">
          <a:xfrm>
            <a:off x="2916238" y="1916113"/>
            <a:ext cx="12954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claim_folder_id</a:t>
            </a:r>
            <a:endParaRPr lang="en-US" sz="1000"/>
          </a:p>
        </p:txBody>
      </p:sp>
      <p:sp>
        <p:nvSpPr>
          <p:cNvPr id="569376" name="Rectangle 32"/>
          <p:cNvSpPr>
            <a:spLocks noChangeArrowheads="1"/>
          </p:cNvSpPr>
          <p:nvPr/>
        </p:nvSpPr>
        <p:spPr bwMode="auto">
          <a:xfrm>
            <a:off x="395288" y="1412875"/>
            <a:ext cx="12239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>
                <a:solidFill>
                  <a:schemeClr val="tx1"/>
                </a:solidFill>
              </a:rPr>
              <a:t>Claim_Peril</a:t>
            </a:r>
          </a:p>
        </p:txBody>
      </p:sp>
      <p:sp>
        <p:nvSpPr>
          <p:cNvPr id="569377" name="Line 33"/>
          <p:cNvSpPr>
            <a:spLocks noChangeShapeType="1"/>
          </p:cNvSpPr>
          <p:nvPr/>
        </p:nvSpPr>
        <p:spPr bwMode="auto">
          <a:xfrm>
            <a:off x="1619250" y="1773238"/>
            <a:ext cx="1368425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10" name="Text Box 34"/>
          <p:cNvSpPr txBox="1">
            <a:spLocks noChangeArrowheads="1"/>
          </p:cNvSpPr>
          <p:nvPr/>
        </p:nvSpPr>
        <p:spPr bwMode="auto">
          <a:xfrm>
            <a:off x="1908175" y="1989138"/>
            <a:ext cx="7207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claim_id</a:t>
            </a:r>
            <a:endParaRPr lang="en-US" sz="1000"/>
          </a:p>
        </p:txBody>
      </p:sp>
      <p:sp>
        <p:nvSpPr>
          <p:cNvPr id="4111" name="Text Box 41"/>
          <p:cNvSpPr txBox="1">
            <a:spLocks noChangeArrowheads="1"/>
          </p:cNvSpPr>
          <p:nvPr/>
        </p:nvSpPr>
        <p:spPr bwMode="auto">
          <a:xfrm>
            <a:off x="4356100" y="2420938"/>
            <a:ext cx="7207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claim_id</a:t>
            </a:r>
            <a:endParaRPr lang="en-US" sz="1000"/>
          </a:p>
        </p:txBody>
      </p:sp>
      <p:sp>
        <p:nvSpPr>
          <p:cNvPr id="569386" name="Line 42"/>
          <p:cNvSpPr>
            <a:spLocks noChangeShapeType="1"/>
          </p:cNvSpPr>
          <p:nvPr/>
        </p:nvSpPr>
        <p:spPr bwMode="auto">
          <a:xfrm flipH="1" flipV="1">
            <a:off x="6877050" y="2565400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9388" name="Rectangle 44"/>
          <p:cNvSpPr>
            <a:spLocks noChangeArrowheads="1"/>
          </p:cNvSpPr>
          <p:nvPr/>
        </p:nvSpPr>
        <p:spPr bwMode="auto">
          <a:xfrm>
            <a:off x="7307263" y="2349500"/>
            <a:ext cx="1368425" cy="3603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>
                <a:solidFill>
                  <a:schemeClr val="tx1"/>
                </a:solidFill>
              </a:rPr>
              <a:t>GIS Data Model</a:t>
            </a:r>
          </a:p>
        </p:txBody>
      </p:sp>
      <p:sp>
        <p:nvSpPr>
          <p:cNvPr id="569389" name="Rectangle 45"/>
          <p:cNvSpPr>
            <a:spLocks noChangeArrowheads="1"/>
          </p:cNvSpPr>
          <p:nvPr/>
        </p:nvSpPr>
        <p:spPr bwMode="auto">
          <a:xfrm>
            <a:off x="539750" y="3573463"/>
            <a:ext cx="1584325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>
                <a:solidFill>
                  <a:schemeClr val="tx1"/>
                </a:solidFill>
              </a:rPr>
              <a:t>Claim_Payment</a:t>
            </a:r>
          </a:p>
        </p:txBody>
      </p:sp>
      <p:sp>
        <p:nvSpPr>
          <p:cNvPr id="569390" name="Line 46"/>
          <p:cNvSpPr>
            <a:spLocks noChangeShapeType="1"/>
          </p:cNvSpPr>
          <p:nvPr/>
        </p:nvSpPr>
        <p:spPr bwMode="auto">
          <a:xfrm flipV="1">
            <a:off x="2051050" y="2708275"/>
            <a:ext cx="1225550" cy="865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16" name="Text Box 47"/>
          <p:cNvSpPr txBox="1">
            <a:spLocks noChangeArrowheads="1"/>
          </p:cNvSpPr>
          <p:nvPr/>
        </p:nvSpPr>
        <p:spPr bwMode="auto">
          <a:xfrm>
            <a:off x="2195513" y="3141663"/>
            <a:ext cx="7207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claim_id</a:t>
            </a:r>
            <a:endParaRPr lang="en-US" sz="1000"/>
          </a:p>
        </p:txBody>
      </p:sp>
      <p:sp>
        <p:nvSpPr>
          <p:cNvPr id="569392" name="Rectangle 48"/>
          <p:cNvSpPr>
            <a:spLocks noChangeArrowheads="1"/>
          </p:cNvSpPr>
          <p:nvPr/>
        </p:nvSpPr>
        <p:spPr bwMode="auto">
          <a:xfrm>
            <a:off x="323850" y="4510088"/>
            <a:ext cx="2016125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>
                <a:solidFill>
                  <a:schemeClr val="tx1"/>
                </a:solidFill>
              </a:rPr>
              <a:t>Claim_Payment_Item</a:t>
            </a:r>
          </a:p>
        </p:txBody>
      </p:sp>
      <p:sp>
        <p:nvSpPr>
          <p:cNvPr id="569393" name="Line 49"/>
          <p:cNvSpPr>
            <a:spLocks noChangeShapeType="1"/>
          </p:cNvSpPr>
          <p:nvPr/>
        </p:nvSpPr>
        <p:spPr bwMode="auto">
          <a:xfrm flipH="1" flipV="1">
            <a:off x="1331913" y="393382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19" name="Text Box 50"/>
          <p:cNvSpPr txBox="1">
            <a:spLocks noChangeArrowheads="1"/>
          </p:cNvSpPr>
          <p:nvPr/>
        </p:nvSpPr>
        <p:spPr bwMode="auto">
          <a:xfrm>
            <a:off x="684213" y="4078288"/>
            <a:ext cx="12954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claim_payment_id</a:t>
            </a:r>
            <a:endParaRPr lang="en-US" sz="1000"/>
          </a:p>
        </p:txBody>
      </p:sp>
      <p:sp>
        <p:nvSpPr>
          <p:cNvPr id="569395" name="Rectangle 51"/>
          <p:cNvSpPr>
            <a:spLocks noChangeArrowheads="1"/>
          </p:cNvSpPr>
          <p:nvPr/>
        </p:nvSpPr>
        <p:spPr bwMode="auto">
          <a:xfrm>
            <a:off x="395288" y="2276475"/>
            <a:ext cx="12239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>
                <a:solidFill>
                  <a:schemeClr val="tx1"/>
                </a:solidFill>
              </a:rPr>
              <a:t>Recovery</a:t>
            </a:r>
          </a:p>
        </p:txBody>
      </p:sp>
      <p:sp>
        <p:nvSpPr>
          <p:cNvPr id="569396" name="Line 52"/>
          <p:cNvSpPr>
            <a:spLocks noChangeShapeType="1"/>
          </p:cNvSpPr>
          <p:nvPr/>
        </p:nvSpPr>
        <p:spPr bwMode="auto">
          <a:xfrm>
            <a:off x="1619250" y="2492375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22" name="Text Box 53"/>
          <p:cNvSpPr txBox="1">
            <a:spLocks noChangeArrowheads="1"/>
          </p:cNvSpPr>
          <p:nvPr/>
        </p:nvSpPr>
        <p:spPr bwMode="auto">
          <a:xfrm>
            <a:off x="1908175" y="2349500"/>
            <a:ext cx="7207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claim_id</a:t>
            </a:r>
            <a:endParaRPr lang="en-US" sz="1000"/>
          </a:p>
        </p:txBody>
      </p:sp>
      <p:sp>
        <p:nvSpPr>
          <p:cNvPr id="569398" name="Rectangle 54"/>
          <p:cNvSpPr>
            <a:spLocks noChangeArrowheads="1"/>
          </p:cNvSpPr>
          <p:nvPr/>
        </p:nvSpPr>
        <p:spPr bwMode="auto">
          <a:xfrm>
            <a:off x="395288" y="2924175"/>
            <a:ext cx="12239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>
                <a:solidFill>
                  <a:schemeClr val="tx1"/>
                </a:solidFill>
              </a:rPr>
              <a:t>Reserve</a:t>
            </a:r>
          </a:p>
        </p:txBody>
      </p:sp>
      <p:sp>
        <p:nvSpPr>
          <p:cNvPr id="569399" name="Line 55"/>
          <p:cNvSpPr>
            <a:spLocks noChangeShapeType="1"/>
          </p:cNvSpPr>
          <p:nvPr/>
        </p:nvSpPr>
        <p:spPr bwMode="auto">
          <a:xfrm flipV="1">
            <a:off x="1619250" y="2708275"/>
            <a:ext cx="1368425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25" name="Text Box 56"/>
          <p:cNvSpPr txBox="1">
            <a:spLocks noChangeArrowheads="1"/>
          </p:cNvSpPr>
          <p:nvPr/>
        </p:nvSpPr>
        <p:spPr bwMode="auto">
          <a:xfrm>
            <a:off x="1979613" y="2781300"/>
            <a:ext cx="7207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claim_id</a:t>
            </a:r>
            <a:endParaRPr lang="en-US" sz="1000"/>
          </a:p>
        </p:txBody>
      </p:sp>
      <p:sp>
        <p:nvSpPr>
          <p:cNvPr id="569401" name="Rectangle 57"/>
          <p:cNvSpPr>
            <a:spLocks noChangeArrowheads="1"/>
          </p:cNvSpPr>
          <p:nvPr/>
        </p:nvSpPr>
        <p:spPr bwMode="auto">
          <a:xfrm>
            <a:off x="2916238" y="3573463"/>
            <a:ext cx="1584325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>
                <a:solidFill>
                  <a:schemeClr val="tx1"/>
                </a:solidFill>
              </a:rPr>
              <a:t>Claim_Receipt</a:t>
            </a:r>
          </a:p>
        </p:txBody>
      </p:sp>
      <p:sp>
        <p:nvSpPr>
          <p:cNvPr id="569402" name="Line 58"/>
          <p:cNvSpPr>
            <a:spLocks noChangeShapeType="1"/>
          </p:cNvSpPr>
          <p:nvPr/>
        </p:nvSpPr>
        <p:spPr bwMode="auto">
          <a:xfrm flipH="1" flipV="1">
            <a:off x="3635375" y="2708275"/>
            <a:ext cx="0" cy="865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28" name="Text Box 59"/>
          <p:cNvSpPr txBox="1">
            <a:spLocks noChangeArrowheads="1"/>
          </p:cNvSpPr>
          <p:nvPr/>
        </p:nvSpPr>
        <p:spPr bwMode="auto">
          <a:xfrm>
            <a:off x="3276600" y="3141663"/>
            <a:ext cx="7207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claim_id</a:t>
            </a:r>
            <a:endParaRPr lang="en-US" sz="1000"/>
          </a:p>
        </p:txBody>
      </p:sp>
      <p:sp>
        <p:nvSpPr>
          <p:cNvPr id="569404" name="Rectangle 60"/>
          <p:cNvSpPr>
            <a:spLocks noChangeArrowheads="1"/>
          </p:cNvSpPr>
          <p:nvPr/>
        </p:nvSpPr>
        <p:spPr bwMode="auto">
          <a:xfrm>
            <a:off x="2700338" y="4510088"/>
            <a:ext cx="2016125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>
                <a:solidFill>
                  <a:schemeClr val="tx1"/>
                </a:solidFill>
              </a:rPr>
              <a:t>Claim_Receipt_Item</a:t>
            </a:r>
          </a:p>
        </p:txBody>
      </p:sp>
      <p:sp>
        <p:nvSpPr>
          <p:cNvPr id="569405" name="Line 61"/>
          <p:cNvSpPr>
            <a:spLocks noChangeShapeType="1"/>
          </p:cNvSpPr>
          <p:nvPr/>
        </p:nvSpPr>
        <p:spPr bwMode="auto">
          <a:xfrm flipH="1" flipV="1">
            <a:off x="3708400" y="393382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31" name="Text Box 62"/>
          <p:cNvSpPr txBox="1">
            <a:spLocks noChangeArrowheads="1"/>
          </p:cNvSpPr>
          <p:nvPr/>
        </p:nvSpPr>
        <p:spPr bwMode="auto">
          <a:xfrm>
            <a:off x="3060700" y="4078288"/>
            <a:ext cx="12954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claim_receipt_id</a:t>
            </a:r>
            <a:endParaRPr lang="en-US" sz="1000"/>
          </a:p>
        </p:txBody>
      </p:sp>
      <p:sp>
        <p:nvSpPr>
          <p:cNvPr id="569407" name="Rectangle 63"/>
          <p:cNvSpPr>
            <a:spLocks noChangeArrowheads="1"/>
          </p:cNvSpPr>
          <p:nvPr/>
        </p:nvSpPr>
        <p:spPr bwMode="auto">
          <a:xfrm>
            <a:off x="5076825" y="3573463"/>
            <a:ext cx="2016125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>
                <a:solidFill>
                  <a:schemeClr val="tx1"/>
                </a:solidFill>
              </a:rPr>
              <a:t>Claim_RI_Arrangement</a:t>
            </a:r>
          </a:p>
        </p:txBody>
      </p:sp>
      <p:sp>
        <p:nvSpPr>
          <p:cNvPr id="569408" name="Rectangle 64"/>
          <p:cNvSpPr>
            <a:spLocks noChangeArrowheads="1"/>
          </p:cNvSpPr>
          <p:nvPr/>
        </p:nvSpPr>
        <p:spPr bwMode="auto">
          <a:xfrm>
            <a:off x="5076825" y="4510088"/>
            <a:ext cx="2374900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>
                <a:solidFill>
                  <a:schemeClr val="tx1"/>
                </a:solidFill>
              </a:rPr>
              <a:t>Claim_RI_Arrangement_Line</a:t>
            </a:r>
          </a:p>
        </p:txBody>
      </p:sp>
      <p:sp>
        <p:nvSpPr>
          <p:cNvPr id="569409" name="Line 65"/>
          <p:cNvSpPr>
            <a:spLocks noChangeShapeType="1"/>
          </p:cNvSpPr>
          <p:nvPr/>
        </p:nvSpPr>
        <p:spPr bwMode="auto">
          <a:xfrm flipH="1" flipV="1">
            <a:off x="6084888" y="393382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35" name="Text Box 66"/>
          <p:cNvSpPr txBox="1">
            <a:spLocks noChangeArrowheads="1"/>
          </p:cNvSpPr>
          <p:nvPr/>
        </p:nvSpPr>
        <p:spPr bwMode="auto">
          <a:xfrm>
            <a:off x="5221288" y="4078288"/>
            <a:ext cx="17272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claim_ri_arrangement_id</a:t>
            </a:r>
            <a:endParaRPr lang="en-US" sz="1000"/>
          </a:p>
        </p:txBody>
      </p:sp>
      <p:sp>
        <p:nvSpPr>
          <p:cNvPr id="569411" name="Line 67"/>
          <p:cNvSpPr>
            <a:spLocks noChangeShapeType="1"/>
          </p:cNvSpPr>
          <p:nvPr/>
        </p:nvSpPr>
        <p:spPr bwMode="auto">
          <a:xfrm flipH="1" flipV="1">
            <a:off x="4140200" y="2708275"/>
            <a:ext cx="1944688" cy="866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37" name="Text Box 68"/>
          <p:cNvSpPr txBox="1">
            <a:spLocks noChangeArrowheads="1"/>
          </p:cNvSpPr>
          <p:nvPr/>
        </p:nvSpPr>
        <p:spPr bwMode="auto">
          <a:xfrm>
            <a:off x="4932363" y="3141663"/>
            <a:ext cx="7207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claim_id</a:t>
            </a:r>
            <a:endParaRPr lang="en-US" sz="1000"/>
          </a:p>
        </p:txBody>
      </p:sp>
      <p:sp>
        <p:nvSpPr>
          <p:cNvPr id="4138" name="Rectangle 69"/>
          <p:cNvSpPr>
            <a:spLocks noChangeArrowheads="1"/>
          </p:cNvSpPr>
          <p:nvPr/>
        </p:nvSpPr>
        <p:spPr bwMode="auto">
          <a:xfrm>
            <a:off x="2771775" y="1196975"/>
            <a:ext cx="1584325" cy="1008063"/>
          </a:xfrm>
          <a:prstGeom prst="rect">
            <a:avLst/>
          </a:prstGeom>
          <a:solidFill>
            <a:srgbClr val="BBE0E3">
              <a:alpha val="30196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69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69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69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69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69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69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69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69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69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69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69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69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69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69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69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69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69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69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69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569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69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569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569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569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569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569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569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569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569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569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569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569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569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569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569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569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569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569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569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569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569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569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569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569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569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569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56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56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56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56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000" fill="hold"/>
                                        <p:tgtEl>
                                          <p:spTgt spid="569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1000" fill="hold"/>
                                        <p:tgtEl>
                                          <p:spTgt spid="569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1000" fill="hold"/>
                                        <p:tgtEl>
                                          <p:spTgt spid="569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1000" fill="hold"/>
                                        <p:tgtEl>
                                          <p:spTgt spid="569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1000" fill="hold"/>
                                        <p:tgtEl>
                                          <p:spTgt spid="569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1000" fill="hold"/>
                                        <p:tgtEl>
                                          <p:spTgt spid="569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569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1000" fill="hold"/>
                                        <p:tgtEl>
                                          <p:spTgt spid="569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569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569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569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569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1000" fill="hold"/>
                                        <p:tgtEl>
                                          <p:spTgt spid="569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1000" fill="hold"/>
                                        <p:tgtEl>
                                          <p:spTgt spid="569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1000" fill="hold"/>
                                        <p:tgtEl>
                                          <p:spTgt spid="569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1000" fill="hold"/>
                                        <p:tgtEl>
                                          <p:spTgt spid="569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000" fill="hold"/>
                                        <p:tgtEl>
                                          <p:spTgt spid="569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1000" fill="hold"/>
                                        <p:tgtEl>
                                          <p:spTgt spid="569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1000" fill="hold"/>
                                        <p:tgtEl>
                                          <p:spTgt spid="569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1000" fill="hold"/>
                                        <p:tgtEl>
                                          <p:spTgt spid="569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1000" fill="hold"/>
                                        <p:tgtEl>
                                          <p:spTgt spid="569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1000" fill="hold"/>
                                        <p:tgtEl>
                                          <p:spTgt spid="569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1000" fill="hold"/>
                                        <p:tgtEl>
                                          <p:spTgt spid="569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1000" fill="hold"/>
                                        <p:tgtEl>
                                          <p:spTgt spid="569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1000" fill="hold"/>
                                        <p:tgtEl>
                                          <p:spTgt spid="569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1000" fill="hold"/>
                                        <p:tgtEl>
                                          <p:spTgt spid="569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1000" fill="hold"/>
                                        <p:tgtEl>
                                          <p:spTgt spid="569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1000" fill="hold"/>
                                        <p:tgtEl>
                                          <p:spTgt spid="569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1000" fill="hold"/>
                                        <p:tgtEl>
                                          <p:spTgt spid="569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1000" fill="hold"/>
                                        <p:tgtEl>
                                          <p:spTgt spid="569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9349" grpId="0" animBg="1"/>
      <p:bldP spid="569350" grpId="0" animBg="1"/>
      <p:bldP spid="569351" grpId="0" animBg="1"/>
      <p:bldP spid="569351" grpId="1" animBg="1"/>
      <p:bldP spid="569352" grpId="0" animBg="1"/>
      <p:bldP spid="569353" grpId="0" animBg="1"/>
      <p:bldP spid="569353" grpId="1" animBg="1"/>
      <p:bldP spid="569370" grpId="0" animBg="1"/>
      <p:bldP spid="569371" grpId="0" animBg="1"/>
      <p:bldP spid="569371" grpId="1" animBg="1"/>
      <p:bldP spid="569376" grpId="0" animBg="1"/>
      <p:bldP spid="569377" grpId="0" animBg="1"/>
      <p:bldP spid="569377" grpId="1" animBg="1"/>
      <p:bldP spid="569386" grpId="0" animBg="1"/>
      <p:bldP spid="569386" grpId="1" animBg="1"/>
      <p:bldP spid="569388" grpId="0" animBg="1"/>
      <p:bldP spid="569389" grpId="0" animBg="1"/>
      <p:bldP spid="569390" grpId="0" animBg="1"/>
      <p:bldP spid="569390" grpId="1" animBg="1"/>
      <p:bldP spid="569392" grpId="0" animBg="1"/>
      <p:bldP spid="569393" grpId="0" animBg="1"/>
      <p:bldP spid="569393" grpId="1" animBg="1"/>
      <p:bldP spid="569395" grpId="0" animBg="1"/>
      <p:bldP spid="569396" grpId="0" animBg="1"/>
      <p:bldP spid="569396" grpId="1" animBg="1"/>
      <p:bldP spid="569398" grpId="0" animBg="1"/>
      <p:bldP spid="569399" grpId="0" animBg="1"/>
      <p:bldP spid="569399" grpId="1" animBg="1"/>
      <p:bldP spid="569401" grpId="0" animBg="1"/>
      <p:bldP spid="569402" grpId="0" animBg="1"/>
      <p:bldP spid="569402" grpId="1" animBg="1"/>
      <p:bldP spid="569404" grpId="0" animBg="1"/>
      <p:bldP spid="569405" grpId="0" animBg="1"/>
      <p:bldP spid="569405" grpId="1" animBg="1"/>
      <p:bldP spid="569407" grpId="0" animBg="1"/>
      <p:bldP spid="569408" grpId="0" animBg="1"/>
      <p:bldP spid="569409" grpId="0" animBg="1"/>
      <p:bldP spid="569409" grpId="1" animBg="1"/>
      <p:bldP spid="569411" grpId="0" animBg="1"/>
      <p:bldP spid="569411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548680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>
                <a:solidFill>
                  <a:srgbClr val="FF0000"/>
                </a:solidFill>
              </a:rPr>
              <a:t>Pre-1.8.11 Work Tables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Prior to 1.8.11 all tables in the Database Structure had an identical Work_ prefixed equivalent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When a Claim opened all work was performed in the Work table and if cancelled would be deleted.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When committed all Work table information was copied to the main </a:t>
            </a:r>
            <a:r>
              <a:rPr lang="en-GB" sz="1800" smtClean="0"/>
              <a:t>tables.</a:t>
            </a:r>
            <a:endParaRPr lang="en-GB" sz="1800" dirty="0" smtClean="0"/>
          </a:p>
          <a:p>
            <a:pPr eaLnBrk="1" hangingPunct="1"/>
            <a:endParaRPr lang="en-GB" dirty="0" smtClean="0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548680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>
                <a:solidFill>
                  <a:srgbClr val="FF0000"/>
                </a:solidFill>
              </a:rPr>
              <a:t>Claim Versioning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Introduced in 1.8.11 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Each action following an Open Claim duplicates the entire Claim data structure and Claim Builder information.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800" dirty="0" smtClean="0"/>
              <a:t>Maintain Claim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800" dirty="0" smtClean="0"/>
              <a:t>Pay Claim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800" dirty="0" smtClean="0"/>
              <a:t>Claim Recovery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800" dirty="0" smtClean="0"/>
              <a:t>Claim Salvage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A </a:t>
            </a:r>
            <a:r>
              <a:rPr lang="en-GB" sz="1800" dirty="0" err="1" smtClean="0"/>
              <a:t>base_claim_id</a:t>
            </a:r>
            <a:r>
              <a:rPr lang="en-GB" sz="1800" dirty="0" smtClean="0"/>
              <a:t> field on Claim points to the first version Claim and groups all versions together.</a:t>
            </a:r>
          </a:p>
          <a:p>
            <a:pPr eaLnBrk="1" hangingPunct="1"/>
            <a:endParaRPr lang="en-GB" dirty="0" smtClean="0"/>
          </a:p>
          <a:p>
            <a:pPr eaLnBrk="1" hangingPunct="1"/>
            <a:endParaRPr lang="en-GB" dirty="0" smtClean="0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548680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>
                <a:solidFill>
                  <a:srgbClr val="FF0000"/>
                </a:solidFill>
              </a:rPr>
              <a:t>Generic Peril </a:t>
            </a:r>
            <a:r>
              <a:rPr lang="en-GB" dirty="0" err="1" smtClean="0">
                <a:solidFill>
                  <a:srgbClr val="FF0000"/>
                </a:solidFill>
              </a:rPr>
              <a:t>vs</a:t>
            </a:r>
            <a:r>
              <a:rPr lang="en-GB" dirty="0" smtClean="0">
                <a:solidFill>
                  <a:srgbClr val="FF0000"/>
                </a:solidFill>
              </a:rPr>
              <a:t> Claims Builder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By default Claims can be set up with Generic Peril which is basic editing interface. A small amount of configuration can be done on these forms.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Claims Builder, enabled by a hidden option, works in the same way as Product Builder with special fields for Reserves and Payments. The screens must contain these controls to make it work.</a:t>
            </a:r>
          </a:p>
          <a:p>
            <a:pPr eaLnBrk="1" hangingPunct="1"/>
            <a:endParaRPr lang="en-GB" dirty="0" smtClean="0"/>
          </a:p>
          <a:p>
            <a:pPr eaLnBrk="1" hangingPunct="1"/>
            <a:endParaRPr lang="en-GB" dirty="0" smtClean="0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560" y="332656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>
                <a:solidFill>
                  <a:srgbClr val="FF0000"/>
                </a:solidFill>
              </a:rPr>
              <a:t>Reserves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11560" y="980728"/>
            <a:ext cx="792088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Reserves are “estimated totals for the claim”. They are set up during Open Claim and can be revised with Maintain Claim.</a:t>
            </a:r>
          </a:p>
          <a:p>
            <a:pPr eaLnBrk="1" hangingPunct="1">
              <a:buFont typeface="Wingdings" pitchFamily="2" charset="2"/>
              <a:buChar char="q"/>
            </a:pPr>
            <a:r>
              <a:rPr lang="en-GB" sz="1800" dirty="0" smtClean="0"/>
              <a:t>Reserve Types are inherited from Policy that the Claim is against.</a:t>
            </a:r>
          </a:p>
          <a:p>
            <a:pPr eaLnBrk="1" hangingPunct="1">
              <a:buFont typeface="Wingdings" pitchFamily="2" charset="2"/>
              <a:buChar char="q"/>
            </a:pPr>
            <a:r>
              <a:rPr lang="en-GB" sz="1800" dirty="0" smtClean="0"/>
              <a:t>Reserves determine</a:t>
            </a:r>
            <a:br>
              <a:rPr lang="en-GB" sz="1800" dirty="0" smtClean="0"/>
            </a:br>
            <a:r>
              <a:rPr lang="en-GB" sz="1800" dirty="0" smtClean="0"/>
              <a:t>Reinsurance allocation.</a:t>
            </a:r>
          </a:p>
          <a:p>
            <a:pPr eaLnBrk="1" hangingPunct="1"/>
            <a:endParaRPr lang="en-GB" dirty="0" smtClean="0"/>
          </a:p>
          <a:p>
            <a:pPr eaLnBrk="1" hangingPunct="1"/>
            <a:endParaRPr lang="en-GB" dirty="0" smtClean="0"/>
          </a:p>
        </p:txBody>
      </p:sp>
      <p:pic>
        <p:nvPicPr>
          <p:cNvPr id="1026" name="Picture 146" descr="Reserv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2708920"/>
            <a:ext cx="545048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548680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>
                <a:solidFill>
                  <a:srgbClr val="FF0000"/>
                </a:solidFill>
              </a:rPr>
              <a:t>Recovery and Salvage</a:t>
            </a:r>
          </a:p>
        </p:txBody>
      </p:sp>
      <p:sp>
        <p:nvSpPr>
          <p:cNvPr id="9219" name="Rectangle 4"/>
          <p:cNvSpPr>
            <a:spLocks noGrp="1" noChangeArrowheads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Recovery of money from third parties in the Claim. E.g.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800" dirty="0" smtClean="0"/>
              <a:t>Insurance company of another driver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800" dirty="0" smtClean="0"/>
              <a:t>Other Party involved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Salvage is the receiving of any other money not handled by Recovery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800" dirty="0" smtClean="0"/>
              <a:t>Scrapping of written off items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800" dirty="0" smtClean="0"/>
              <a:t>Selling of assets</a:t>
            </a:r>
          </a:p>
          <a:p>
            <a:pPr lvl="1" eaLnBrk="1" hangingPunct="1"/>
            <a:endParaRPr lang="en-GB" dirty="0" smtClean="0"/>
          </a:p>
          <a:p>
            <a:pPr eaLnBrk="1" hangingPunct="1"/>
            <a:endParaRPr lang="en-GB" dirty="0" smtClean="0"/>
          </a:p>
          <a:p>
            <a:pPr eaLnBrk="1" hangingPunct="1"/>
            <a:endParaRPr lang="en-GB" dirty="0" smtClean="0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692696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>
                <a:solidFill>
                  <a:srgbClr val="FF0000"/>
                </a:solidFill>
              </a:rPr>
              <a:t>Claim Payments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Claim Payments generate Credits on the Payees account.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User Authority Rules can determine whether a Claim Payment is released immediately or goes through Authorisation.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They are not the actual Payment to the Payee – this is the Cash List Payment.</a:t>
            </a:r>
          </a:p>
          <a:p>
            <a:pPr eaLnBrk="1" hangingPunct="1"/>
            <a:endParaRPr lang="en-GB" dirty="0" smtClean="0"/>
          </a:p>
          <a:p>
            <a:pPr eaLnBrk="1" hangingPunct="1"/>
            <a:endParaRPr lang="en-GB" dirty="0" smtClean="0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620688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>
                <a:solidFill>
                  <a:srgbClr val="FF0000"/>
                </a:solidFill>
              </a:rPr>
              <a:t>Claim Receipts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Claim Receipts generate Debits on the Recovery account.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They are not the actual Receipt from the Payee – this is the Cash List Receipt.</a:t>
            </a:r>
          </a:p>
          <a:p>
            <a:pPr eaLnBrk="1" hangingPunct="1"/>
            <a:endParaRPr lang="en-GB" dirty="0" smtClean="0"/>
          </a:p>
          <a:p>
            <a:pPr eaLnBrk="1" hangingPunct="1"/>
            <a:endParaRPr lang="en-GB" dirty="0" smtClean="0"/>
          </a:p>
        </p:txBody>
      </p:sp>
    </p:spTree>
  </p:cSld>
  <p:clrMapOvr>
    <a:masterClrMapping/>
  </p:clrMapOvr>
  <p:transition spd="med">
    <p:pull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620688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>
                <a:solidFill>
                  <a:srgbClr val="FF0000"/>
                </a:solidFill>
              </a:rPr>
              <a:t>Claim Tax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Like all other areas of Sirius, Tax can be applied to Claim Payments and Receipts.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GB" sz="1800" dirty="0" smtClean="0"/>
              <a:t>In addition to this, complex tax scripts can also run.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smtClean="0"/>
              <a:t>These are currently used by Australia only but can be configured by the customer.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GB" sz="1600" dirty="0" smtClean="0"/>
              <a:t>Expect to extend this technology around the system in future releases.</a:t>
            </a:r>
          </a:p>
          <a:p>
            <a:pPr eaLnBrk="1" hangingPunct="1"/>
            <a:endParaRPr lang="en-GB" dirty="0" smtClean="0"/>
          </a:p>
          <a:p>
            <a:pPr eaLnBrk="1" hangingPunct="1"/>
            <a:endParaRPr lang="en-GB" dirty="0" smtClean="0"/>
          </a:p>
        </p:txBody>
      </p:sp>
    </p:spTree>
  </p:cSld>
  <p:clrMapOvr>
    <a:masterClrMapping/>
  </p:clrMapOvr>
  <p:transition spd="med">
    <p:pull dir="d"/>
  </p:transition>
</p:sld>
</file>

<file path=ppt/theme/theme1.xml><?xml version="1.0" encoding="utf-8"?>
<a:theme xmlns:a="http://schemas.openxmlformats.org/drawingml/2006/main" name="SSP Corporate Presentation Template - SSP Internal use Onl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ppt28B.tmp</Template>
  <TotalTime>16911</TotalTime>
  <Words>453</Words>
  <Application>Microsoft Office PowerPoint</Application>
  <PresentationFormat>On-screen Show (4:3)</PresentationFormat>
  <Paragraphs>76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SSP Corporate Presentation Template - SSP Internal use Only</vt:lpstr>
      <vt:lpstr>Technical Design</vt:lpstr>
      <vt:lpstr>Basics</vt:lpstr>
      <vt:lpstr>Database Structure</vt:lpstr>
      <vt:lpstr>Pre-1.8.11 Work Tables</vt:lpstr>
      <vt:lpstr>Claim Versioning</vt:lpstr>
      <vt:lpstr>Generic Peril vs Claims Builder</vt:lpstr>
      <vt:lpstr>Reserves</vt:lpstr>
      <vt:lpstr>Recovery and Salvage</vt:lpstr>
      <vt:lpstr>Claim Payments</vt:lpstr>
      <vt:lpstr>Claim Receipts</vt:lpstr>
      <vt:lpstr>Claim Tax</vt:lpstr>
    </vt:vector>
  </TitlesOfParts>
  <Company>Sirius Financial Systems PLC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Sirius Accounts Technical Design</dc:title>
  <dc:creator>Danny Davis</dc:creator>
  <cp:lastModifiedBy>mousumi.borah</cp:lastModifiedBy>
  <cp:revision>225</cp:revision>
  <dcterms:created xsi:type="dcterms:W3CDTF">2005-03-04T10:54:44Z</dcterms:created>
  <dcterms:modified xsi:type="dcterms:W3CDTF">2013-05-20T09:45:36Z</dcterms:modified>
</cp:coreProperties>
</file>