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9" r:id="rId4"/>
    <p:sldId id="262" r:id="rId5"/>
    <p:sldId id="263" r:id="rId6"/>
    <p:sldId id="264" r:id="rId7"/>
    <p:sldId id="261" r:id="rId8"/>
    <p:sldId id="265" r:id="rId9"/>
    <p:sldId id="267" r:id="rId10"/>
    <p:sldId id="260" r:id="rId11"/>
    <p:sldId id="266" r:id="rId12"/>
    <p:sldId id="268" r:id="rId13"/>
    <p:sldId id="269" r:id="rId14"/>
    <p:sldId id="270" r:id="rId15"/>
    <p:sldId id="271" r:id="rId16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600" kern="1200">
        <a:solidFill>
          <a:srgbClr val="80008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rgbClr val="800080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99"/>
    <a:srgbClr val="00CC00"/>
    <a:srgbClr val="FF0000"/>
    <a:srgbClr val="FF9933"/>
    <a:srgbClr val="BBE0E3"/>
    <a:srgbClr val="800080"/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718" autoAdjust="0"/>
    <p:restoredTop sz="86443" autoAdjust="0"/>
  </p:normalViewPr>
  <p:slideViewPr>
    <p:cSldViewPr>
      <p:cViewPr>
        <p:scale>
          <a:sx n="59" d="100"/>
          <a:sy n="59" d="100"/>
        </p:scale>
        <p:origin x="-1224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56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A3FFC5A-1D68-4B20-9149-265E3DCE7F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4C5FE9-8279-4BE9-A5E5-BC370E2E22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7034F9-4D0A-40F4-A28F-E6A3233A2873}" type="slidenum">
              <a:rPr lang="en-US"/>
              <a:pPr/>
              <a:t>1</a:t>
            </a:fld>
            <a:endParaRPr 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0F9A3B-2310-486A-B41F-84178E0A61B5}" type="slidenum">
              <a:rPr lang="en-US"/>
              <a:pPr/>
              <a:t>2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A64D83-4B92-4213-B61B-52E719E7B48C}" type="slidenum">
              <a:rPr lang="en-US"/>
              <a:pPr/>
              <a:t>3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DE94F0-EF33-4A67-A409-B53FE708B5EC}" type="slidenum">
              <a:rPr lang="en-US"/>
              <a:pPr/>
              <a:t>4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3CCB36-FFD8-4522-A1D8-C226B5DB9CD0}" type="slidenum">
              <a:rPr lang="en-US"/>
              <a:pPr/>
              <a:t>5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C69754-D0B6-4E74-BE2E-31E85E76547B}" type="slidenum">
              <a:rPr lang="en-US"/>
              <a:pPr/>
              <a:t>6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C0BA7D-34E7-467C-9CAA-B8775C48EEB2}" type="slidenum">
              <a:rPr lang="en-US"/>
              <a:pPr/>
              <a:t>7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89C48F-E890-4025-B6DF-9D05C7777D70}" type="slidenum">
              <a:rPr lang="en-US"/>
              <a:pPr/>
              <a:t>8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DB52A9-8553-4B62-A9FA-AF76F4629857}" type="slidenum">
              <a:rPr lang="en-US"/>
              <a:pPr/>
              <a:t>9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FC8F77-72B9-467C-AD24-C3864AC7659D}" type="slidenum">
              <a:rPr lang="en-US"/>
              <a:pPr/>
              <a:t>10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D0DDF3-A099-46B4-A35F-7BA28E00ACC6}" type="slidenum">
              <a:rPr lang="en-US"/>
              <a:pPr/>
              <a:t>11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0AEF04-BA61-4FC5-AF3F-18881E8EB5B7}" type="slidenum">
              <a:rPr lang="en-US"/>
              <a:pPr/>
              <a:t>12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F32320-7EB8-4D6B-A3B0-76E0DBB4BCF4}" type="slidenum">
              <a:rPr lang="en-US"/>
              <a:pPr/>
              <a:t>13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670573-A711-41EB-913A-489C36FD59D5}" type="slidenum">
              <a:rPr lang="en-US"/>
              <a:pPr/>
              <a:t>14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sp-powerpoint-3-front-fla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ssp-powerpoint-3-front-flat"/>
          <p:cNvPicPr>
            <a:picLocks noChangeAspect="1" noChangeArrowheads="1"/>
          </p:cNvPicPr>
          <p:nvPr/>
        </p:nvPicPr>
        <p:blipFill>
          <a:blip r:embed="rId2" cstate="print"/>
          <a:srcRect l="18646" t="83195" r="64948"/>
          <a:stretch>
            <a:fillRect/>
          </a:stretch>
        </p:blipFill>
        <p:spPr bwMode="auto">
          <a:xfrm>
            <a:off x="285750" y="5705475"/>
            <a:ext cx="1500188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ssp_logo_modern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313" y="5715000"/>
            <a:ext cx="16097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372199" y="6357938"/>
            <a:ext cx="2628925" cy="338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GB" sz="1600" dirty="0"/>
              <a:t>SSP </a:t>
            </a:r>
            <a:r>
              <a:rPr lang="en-GB" sz="1600" dirty="0" smtClean="0"/>
              <a:t>– Restricted</a:t>
            </a:r>
            <a:endParaRPr lang="en-GB" sz="1600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288" y="3860800"/>
            <a:ext cx="7772400" cy="1470025"/>
          </a:xfrm>
        </p:spPr>
        <p:txBody>
          <a:bodyPr/>
          <a:lstStyle>
            <a:lvl1pPr>
              <a:defRPr sz="2500" b="1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5288" y="4940300"/>
            <a:ext cx="7777162" cy="504825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sz="1800"/>
            </a:lvl1pPr>
            <a:lvl2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 sz="1800"/>
            </a:lvl2pPr>
            <a:lvl3pPr>
              <a:spcBef>
                <a:spcPts val="600"/>
              </a:spcBef>
              <a:spcAft>
                <a:spcPts val="600"/>
              </a:spcAft>
              <a:buFont typeface="Courier New" pitchFamily="49" charset="0"/>
              <a:buChar char="o"/>
              <a:defRPr sz="1800"/>
            </a:lvl3pPr>
            <a:lvl4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1800"/>
            </a:lvl4pPr>
            <a:lvl5pPr>
              <a:spcBef>
                <a:spcPts val="60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</p:cSld>
  <p:clrMapOvr>
    <a:masterClrMapping/>
  </p:clrMapOvr>
  <p:transition spd="med">
    <p:pull dir="d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ssp-powerpoint-3-inner-fla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54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Add page title in here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57338"/>
            <a:ext cx="8229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Bullet points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7715250" y="5975350"/>
            <a:ext cx="1357313" cy="7858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1030" name="Picture 4" descr="ssp_logo_modern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62838" y="5786438"/>
            <a:ext cx="16097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 spd="med">
    <p:pull dir="d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3300"/>
        </a:buClr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323528" y="2996952"/>
            <a:ext cx="7772400" cy="14700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dirty="0" smtClean="0"/>
              <a:t>Technical Design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2411760" y="1772816"/>
            <a:ext cx="446449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GB" dirty="0"/>
              <a:t>Sirius Accounts</a:t>
            </a:r>
            <a:endParaRPr lang="en-US" dirty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552" y="476672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/>
              <a:t>History</a:t>
            </a:r>
            <a:endParaRPr lang="en-US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8313" y="1341438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SzPct val="130000"/>
            </a:pPr>
            <a:r>
              <a:rPr lang="en-GB" dirty="0" smtClean="0"/>
              <a:t>Accounts was built from a third party product called Orion.</a:t>
            </a:r>
          </a:p>
          <a:p>
            <a:pPr lvl="1" eaLnBrk="1" hangingPunct="1">
              <a:buSzPct val="150000"/>
            </a:pPr>
            <a:r>
              <a:rPr lang="en-GB" dirty="0" smtClean="0"/>
              <a:t>This project name still remains in SourceSafe today.</a:t>
            </a:r>
          </a:p>
          <a:p>
            <a:pPr lvl="1" eaLnBrk="1" hangingPunct="1">
              <a:buSzPct val="150000"/>
            </a:pPr>
            <a:r>
              <a:rPr lang="en-GB" dirty="0" smtClean="0"/>
              <a:t>Originally intended as a plug-in to Sirius but now fully integrated.</a:t>
            </a:r>
          </a:p>
          <a:p>
            <a:pPr eaLnBrk="1" hangingPunct="1">
              <a:buSzPct val="129000"/>
            </a:pPr>
            <a:r>
              <a:rPr lang="en-GB" dirty="0" smtClean="0"/>
              <a:t>Accounts is a double-entry accounting sub-system.</a:t>
            </a:r>
          </a:p>
          <a:p>
            <a:pPr lvl="1" eaLnBrk="1" hangingPunct="1">
              <a:buSzPct val="150000"/>
            </a:pPr>
            <a:r>
              <a:rPr lang="en-GB" dirty="0" smtClean="0"/>
              <a:t>It all adds up to zero</a:t>
            </a:r>
          </a:p>
          <a:p>
            <a:pPr lvl="1" eaLnBrk="1" hangingPunct="1">
              <a:buSzPct val="150000"/>
            </a:pPr>
            <a:r>
              <a:rPr lang="en-GB" dirty="0" smtClean="0"/>
              <a:t>Credits are negative</a:t>
            </a:r>
          </a:p>
          <a:p>
            <a:pPr lvl="1" eaLnBrk="1" hangingPunct="1">
              <a:buSzPct val="150000"/>
            </a:pPr>
            <a:r>
              <a:rPr lang="en-GB" dirty="0" smtClean="0"/>
              <a:t>Debits are positive</a:t>
            </a:r>
          </a:p>
          <a:p>
            <a:pPr eaLnBrk="1" hangingPunct="1">
              <a:buSzPct val="130000"/>
            </a:pPr>
            <a:r>
              <a:rPr lang="en-GB" dirty="0" smtClean="0"/>
              <a:t>Every Party transacted against in Back Office will have an account.</a:t>
            </a:r>
          </a:p>
          <a:p>
            <a:pPr lvl="1" eaLnBrk="1" hangingPunct="1">
              <a:buSzPct val="150000"/>
            </a:pPr>
            <a:r>
              <a:rPr lang="en-GB" dirty="0" smtClean="0"/>
              <a:t>But not every Account will have a Party. E.g. Tax, Revenue.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Accounts Structure</a:t>
            </a:r>
            <a:endParaRPr lang="en-US" smtClean="0"/>
          </a:p>
        </p:txBody>
      </p:sp>
      <p:sp>
        <p:nvSpPr>
          <p:cNvPr id="535581" name="Rectangle 29"/>
          <p:cNvSpPr>
            <a:spLocks noChangeArrowheads="1"/>
          </p:cNvSpPr>
          <p:nvPr/>
        </p:nvSpPr>
        <p:spPr bwMode="auto">
          <a:xfrm>
            <a:off x="5148263" y="2276475"/>
            <a:ext cx="124618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StructureTree</a:t>
            </a:r>
          </a:p>
        </p:txBody>
      </p:sp>
      <p:sp>
        <p:nvSpPr>
          <p:cNvPr id="535582" name="Rectangle 30"/>
          <p:cNvSpPr>
            <a:spLocks noChangeArrowheads="1"/>
          </p:cNvSpPr>
          <p:nvPr/>
        </p:nvSpPr>
        <p:spPr bwMode="auto">
          <a:xfrm>
            <a:off x="2411413" y="2276475"/>
            <a:ext cx="115093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Account</a:t>
            </a:r>
          </a:p>
        </p:txBody>
      </p:sp>
      <p:sp>
        <p:nvSpPr>
          <p:cNvPr id="535583" name="Line 31"/>
          <p:cNvSpPr>
            <a:spLocks noChangeShapeType="1"/>
          </p:cNvSpPr>
          <p:nvPr/>
        </p:nvSpPr>
        <p:spPr bwMode="auto">
          <a:xfrm>
            <a:off x="3592513" y="2492375"/>
            <a:ext cx="155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584" name="Rectangle 32"/>
          <p:cNvSpPr>
            <a:spLocks noChangeArrowheads="1"/>
          </p:cNvSpPr>
          <p:nvPr/>
        </p:nvSpPr>
        <p:spPr bwMode="auto">
          <a:xfrm>
            <a:off x="2411413" y="3357563"/>
            <a:ext cx="1150937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Party</a:t>
            </a:r>
          </a:p>
        </p:txBody>
      </p:sp>
      <p:sp>
        <p:nvSpPr>
          <p:cNvPr id="535585" name="Line 33"/>
          <p:cNvSpPr>
            <a:spLocks noChangeShapeType="1"/>
          </p:cNvSpPr>
          <p:nvPr/>
        </p:nvSpPr>
        <p:spPr bwMode="auto">
          <a:xfrm flipV="1">
            <a:off x="2987675" y="263683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04" name="Text Box 34"/>
          <p:cNvSpPr txBox="1">
            <a:spLocks noChangeArrowheads="1"/>
          </p:cNvSpPr>
          <p:nvPr/>
        </p:nvSpPr>
        <p:spPr bwMode="auto">
          <a:xfrm>
            <a:off x="2268538" y="2781300"/>
            <a:ext cx="1439862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Account.account_id=Party.account_key</a:t>
            </a:r>
            <a:endParaRPr lang="en-US" sz="1000"/>
          </a:p>
        </p:txBody>
      </p:sp>
      <p:sp>
        <p:nvSpPr>
          <p:cNvPr id="4105" name="Text Box 35"/>
          <p:cNvSpPr txBox="1">
            <a:spLocks noChangeArrowheads="1"/>
          </p:cNvSpPr>
          <p:nvPr/>
        </p:nvSpPr>
        <p:spPr bwMode="auto">
          <a:xfrm>
            <a:off x="3924300" y="2347913"/>
            <a:ext cx="8636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account_id</a:t>
            </a:r>
            <a:endParaRPr lang="en-US" sz="1000"/>
          </a:p>
        </p:txBody>
      </p:sp>
      <p:grpSp>
        <p:nvGrpSpPr>
          <p:cNvPr id="4106" name="Group 36"/>
          <p:cNvGrpSpPr>
            <a:grpSpLocks/>
          </p:cNvGrpSpPr>
          <p:nvPr/>
        </p:nvGrpSpPr>
        <p:grpSpPr bwMode="auto">
          <a:xfrm>
            <a:off x="6372225" y="2276475"/>
            <a:ext cx="498475" cy="320675"/>
            <a:chOff x="5054" y="1530"/>
            <a:chExt cx="314" cy="202"/>
          </a:xfrm>
        </p:grpSpPr>
        <p:sp>
          <p:nvSpPr>
            <p:cNvPr id="4132" name="Line 37"/>
            <p:cNvSpPr>
              <a:spLocks noChangeShapeType="1"/>
            </p:cNvSpPr>
            <p:nvPr/>
          </p:nvSpPr>
          <p:spPr bwMode="auto">
            <a:xfrm>
              <a:off x="5054" y="1530"/>
              <a:ext cx="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Line 38"/>
            <p:cNvSpPr>
              <a:spLocks noChangeShapeType="1"/>
            </p:cNvSpPr>
            <p:nvPr/>
          </p:nvSpPr>
          <p:spPr bwMode="auto">
            <a:xfrm flipH="1">
              <a:off x="5367" y="1531"/>
              <a:ext cx="1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Line 39"/>
            <p:cNvSpPr>
              <a:spLocks noChangeShapeType="1"/>
            </p:cNvSpPr>
            <p:nvPr/>
          </p:nvSpPr>
          <p:spPr bwMode="auto">
            <a:xfrm flipH="1" flipV="1">
              <a:off x="5104" y="1730"/>
              <a:ext cx="26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5593" name="Rectangle 41"/>
          <p:cNvSpPr>
            <a:spLocks noChangeArrowheads="1"/>
          </p:cNvSpPr>
          <p:nvPr/>
        </p:nvSpPr>
        <p:spPr bwMode="auto">
          <a:xfrm>
            <a:off x="5219700" y="3357563"/>
            <a:ext cx="1150938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Element</a:t>
            </a:r>
          </a:p>
        </p:txBody>
      </p:sp>
      <p:sp>
        <p:nvSpPr>
          <p:cNvPr id="535594" name="Line 42"/>
          <p:cNvSpPr>
            <a:spLocks noChangeShapeType="1"/>
          </p:cNvSpPr>
          <p:nvPr/>
        </p:nvSpPr>
        <p:spPr bwMode="auto">
          <a:xfrm flipV="1">
            <a:off x="5795963" y="263683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595" name="Rectangle 43"/>
          <p:cNvSpPr>
            <a:spLocks noChangeArrowheads="1"/>
          </p:cNvSpPr>
          <p:nvPr/>
        </p:nvSpPr>
        <p:spPr bwMode="auto">
          <a:xfrm>
            <a:off x="5148263" y="4437063"/>
            <a:ext cx="1296987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ElementExtras</a:t>
            </a:r>
          </a:p>
        </p:txBody>
      </p:sp>
      <p:sp>
        <p:nvSpPr>
          <p:cNvPr id="535596" name="Line 44"/>
          <p:cNvSpPr>
            <a:spLocks noChangeShapeType="1"/>
          </p:cNvSpPr>
          <p:nvPr/>
        </p:nvSpPr>
        <p:spPr bwMode="auto">
          <a:xfrm flipV="1">
            <a:off x="5795963" y="371633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5597" name="Rectangle 45"/>
          <p:cNvSpPr>
            <a:spLocks noChangeArrowheads="1"/>
          </p:cNvSpPr>
          <p:nvPr/>
        </p:nvSpPr>
        <p:spPr bwMode="auto">
          <a:xfrm>
            <a:off x="6588125" y="3357563"/>
            <a:ext cx="1150938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Mapping</a:t>
            </a:r>
          </a:p>
        </p:txBody>
      </p:sp>
      <p:sp>
        <p:nvSpPr>
          <p:cNvPr id="535598" name="Line 46"/>
          <p:cNvSpPr>
            <a:spLocks noChangeShapeType="1"/>
          </p:cNvSpPr>
          <p:nvPr/>
        </p:nvSpPr>
        <p:spPr bwMode="auto">
          <a:xfrm flipH="1" flipV="1">
            <a:off x="5940425" y="2636838"/>
            <a:ext cx="12239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3" name="Text Box 48"/>
          <p:cNvSpPr txBox="1">
            <a:spLocks noChangeArrowheads="1"/>
          </p:cNvSpPr>
          <p:nvPr/>
        </p:nvSpPr>
        <p:spPr bwMode="auto">
          <a:xfrm>
            <a:off x="4932363" y="2781300"/>
            <a:ext cx="86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000"/>
              <a:t>element_id</a:t>
            </a:r>
            <a:endParaRPr lang="en-US" sz="1000"/>
          </a:p>
        </p:txBody>
      </p:sp>
      <p:sp>
        <p:nvSpPr>
          <p:cNvPr id="4114" name="Text Box 49"/>
          <p:cNvSpPr txBox="1">
            <a:spLocks noChangeArrowheads="1"/>
          </p:cNvSpPr>
          <p:nvPr/>
        </p:nvSpPr>
        <p:spPr bwMode="auto">
          <a:xfrm>
            <a:off x="4932363" y="4005263"/>
            <a:ext cx="86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000"/>
              <a:t>element_id</a:t>
            </a:r>
            <a:endParaRPr lang="en-US" sz="1000"/>
          </a:p>
        </p:txBody>
      </p:sp>
      <p:sp>
        <p:nvSpPr>
          <p:cNvPr id="4115" name="Text Box 50"/>
          <p:cNvSpPr txBox="1">
            <a:spLocks noChangeArrowheads="1"/>
          </p:cNvSpPr>
          <p:nvPr/>
        </p:nvSpPr>
        <p:spPr bwMode="auto">
          <a:xfrm>
            <a:off x="6372225" y="2781300"/>
            <a:ext cx="86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mapping_id</a:t>
            </a:r>
            <a:endParaRPr lang="en-US" sz="1000"/>
          </a:p>
        </p:txBody>
      </p:sp>
      <p:sp>
        <p:nvSpPr>
          <p:cNvPr id="4116" name="Text Box 51"/>
          <p:cNvSpPr txBox="1">
            <a:spLocks noChangeArrowheads="1"/>
          </p:cNvSpPr>
          <p:nvPr/>
        </p:nvSpPr>
        <p:spPr bwMode="auto">
          <a:xfrm>
            <a:off x="6877050" y="2276475"/>
            <a:ext cx="16557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parent_node_id=node_id</a:t>
            </a:r>
            <a:endParaRPr lang="en-US" sz="1000"/>
          </a:p>
        </p:txBody>
      </p:sp>
      <p:sp>
        <p:nvSpPr>
          <p:cNvPr id="535604" name="Rectangle 52"/>
          <p:cNvSpPr>
            <a:spLocks noChangeArrowheads="1"/>
          </p:cNvSpPr>
          <p:nvPr/>
        </p:nvSpPr>
        <p:spPr bwMode="auto">
          <a:xfrm>
            <a:off x="2411413" y="1341438"/>
            <a:ext cx="1150937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Ledger</a:t>
            </a:r>
          </a:p>
        </p:txBody>
      </p:sp>
      <p:sp>
        <p:nvSpPr>
          <p:cNvPr id="535605" name="Line 53"/>
          <p:cNvSpPr>
            <a:spLocks noChangeShapeType="1"/>
          </p:cNvSpPr>
          <p:nvPr/>
        </p:nvSpPr>
        <p:spPr bwMode="auto">
          <a:xfrm flipH="1" flipV="1">
            <a:off x="2987675" y="17002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19" name="Text Box 54"/>
          <p:cNvSpPr txBox="1">
            <a:spLocks noChangeArrowheads="1"/>
          </p:cNvSpPr>
          <p:nvPr/>
        </p:nvSpPr>
        <p:spPr bwMode="auto">
          <a:xfrm>
            <a:off x="2555875" y="1844675"/>
            <a:ext cx="8636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ledger_id</a:t>
            </a:r>
            <a:endParaRPr lang="en-US" sz="1000"/>
          </a:p>
        </p:txBody>
      </p:sp>
      <p:sp>
        <p:nvSpPr>
          <p:cNvPr id="535607" name="Rectangle 55"/>
          <p:cNvSpPr>
            <a:spLocks noChangeArrowheads="1"/>
          </p:cNvSpPr>
          <p:nvPr/>
        </p:nvSpPr>
        <p:spPr bwMode="auto">
          <a:xfrm>
            <a:off x="468313" y="1557338"/>
            <a:ext cx="1223962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AccountStatus</a:t>
            </a:r>
          </a:p>
        </p:txBody>
      </p:sp>
      <p:sp>
        <p:nvSpPr>
          <p:cNvPr id="535608" name="Line 56"/>
          <p:cNvSpPr>
            <a:spLocks noChangeShapeType="1"/>
          </p:cNvSpPr>
          <p:nvPr/>
        </p:nvSpPr>
        <p:spPr bwMode="auto">
          <a:xfrm>
            <a:off x="1692275" y="1773238"/>
            <a:ext cx="719138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2" name="Text Box 57"/>
          <p:cNvSpPr txBox="1">
            <a:spLocks noChangeArrowheads="1"/>
          </p:cNvSpPr>
          <p:nvPr/>
        </p:nvSpPr>
        <p:spPr bwMode="auto">
          <a:xfrm>
            <a:off x="1187450" y="2060575"/>
            <a:ext cx="11525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accountstatus_id</a:t>
            </a:r>
            <a:endParaRPr lang="en-US" sz="1000"/>
          </a:p>
        </p:txBody>
      </p:sp>
      <p:sp>
        <p:nvSpPr>
          <p:cNvPr id="535610" name="Rectangle 58"/>
          <p:cNvSpPr>
            <a:spLocks noChangeArrowheads="1"/>
          </p:cNvSpPr>
          <p:nvPr/>
        </p:nvSpPr>
        <p:spPr bwMode="auto">
          <a:xfrm>
            <a:off x="468313" y="2852738"/>
            <a:ext cx="1223962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AccountType</a:t>
            </a:r>
          </a:p>
        </p:txBody>
      </p:sp>
      <p:sp>
        <p:nvSpPr>
          <p:cNvPr id="535611" name="Line 59"/>
          <p:cNvSpPr>
            <a:spLocks noChangeShapeType="1"/>
          </p:cNvSpPr>
          <p:nvPr/>
        </p:nvSpPr>
        <p:spPr bwMode="auto">
          <a:xfrm flipV="1">
            <a:off x="1692275" y="2636838"/>
            <a:ext cx="71913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5" name="Text Box 60"/>
          <p:cNvSpPr txBox="1">
            <a:spLocks noChangeArrowheads="1"/>
          </p:cNvSpPr>
          <p:nvPr/>
        </p:nvSpPr>
        <p:spPr bwMode="auto">
          <a:xfrm>
            <a:off x="1187450" y="2565400"/>
            <a:ext cx="11525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accounttype_id</a:t>
            </a:r>
            <a:endParaRPr lang="en-US" sz="1000"/>
          </a:p>
        </p:txBody>
      </p:sp>
      <p:sp>
        <p:nvSpPr>
          <p:cNvPr id="535613" name="Rectangle 61"/>
          <p:cNvSpPr>
            <a:spLocks noChangeArrowheads="1"/>
          </p:cNvSpPr>
          <p:nvPr/>
        </p:nvSpPr>
        <p:spPr bwMode="auto">
          <a:xfrm>
            <a:off x="5867400" y="1341438"/>
            <a:ext cx="1246188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Period</a:t>
            </a:r>
          </a:p>
        </p:txBody>
      </p:sp>
      <p:sp>
        <p:nvSpPr>
          <p:cNvPr id="535614" name="Line 62"/>
          <p:cNvSpPr>
            <a:spLocks noChangeShapeType="1"/>
          </p:cNvSpPr>
          <p:nvPr/>
        </p:nvSpPr>
        <p:spPr bwMode="auto">
          <a:xfrm>
            <a:off x="3563938" y="1557338"/>
            <a:ext cx="2303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28" name="Text Box 63"/>
          <p:cNvSpPr txBox="1">
            <a:spLocks noChangeArrowheads="1"/>
          </p:cNvSpPr>
          <p:nvPr/>
        </p:nvSpPr>
        <p:spPr bwMode="auto">
          <a:xfrm>
            <a:off x="3851275" y="1412875"/>
            <a:ext cx="1800225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Ledger.current_period_id = Period.period_id</a:t>
            </a:r>
            <a:endParaRPr lang="en-US" sz="1000"/>
          </a:p>
        </p:txBody>
      </p:sp>
      <p:grpSp>
        <p:nvGrpSpPr>
          <p:cNvPr id="4129" name="Group 66"/>
          <p:cNvGrpSpPr>
            <a:grpSpLocks/>
          </p:cNvGrpSpPr>
          <p:nvPr/>
        </p:nvGrpSpPr>
        <p:grpSpPr bwMode="auto">
          <a:xfrm>
            <a:off x="1115616" y="4797152"/>
            <a:ext cx="1874837" cy="771525"/>
            <a:chOff x="4377" y="3702"/>
            <a:chExt cx="1181" cy="486"/>
          </a:xfrm>
        </p:grpSpPr>
        <p:sp>
          <p:nvSpPr>
            <p:cNvPr id="4130" name="Text Box 64"/>
            <p:cNvSpPr txBox="1">
              <a:spLocks noChangeArrowheads="1"/>
            </p:cNvSpPr>
            <p:nvPr/>
          </p:nvSpPr>
          <p:spPr bwMode="auto">
            <a:xfrm>
              <a:off x="4377" y="3702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4131" name="Text Box 65"/>
            <p:cNvSpPr txBox="1">
              <a:spLocks noChangeArrowheads="1"/>
            </p:cNvSpPr>
            <p:nvPr/>
          </p:nvSpPr>
          <p:spPr bwMode="auto">
            <a:xfrm>
              <a:off x="4377" y="3884"/>
              <a:ext cx="1180" cy="304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bACTExplorer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iACTExploer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35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35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35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35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35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35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35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35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35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35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35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35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35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35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35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3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3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3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3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3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53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3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3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53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53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53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53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53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53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535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53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000" fill="hold"/>
                                        <p:tgtEl>
                                          <p:spTgt spid="535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53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81" grpId="0" animBg="1"/>
      <p:bldP spid="535582" grpId="0" animBg="1"/>
      <p:bldP spid="535583" grpId="0" animBg="1"/>
      <p:bldP spid="535583" grpId="1" animBg="1"/>
      <p:bldP spid="535584" grpId="0" animBg="1"/>
      <p:bldP spid="535585" grpId="0" animBg="1"/>
      <p:bldP spid="535585" grpId="1" animBg="1"/>
      <p:bldP spid="535593" grpId="0" animBg="1"/>
      <p:bldP spid="535594" grpId="0" animBg="1"/>
      <p:bldP spid="535594" grpId="1" animBg="1"/>
      <p:bldP spid="535595" grpId="0" animBg="1"/>
      <p:bldP spid="535596" grpId="0" animBg="1"/>
      <p:bldP spid="535596" grpId="1" animBg="1"/>
      <p:bldP spid="535597" grpId="0" animBg="1"/>
      <p:bldP spid="535598" grpId="0" animBg="1"/>
      <p:bldP spid="535598" grpId="1" animBg="1"/>
      <p:bldP spid="535604" grpId="0" animBg="1"/>
      <p:bldP spid="535605" grpId="0" animBg="1"/>
      <p:bldP spid="535605" grpId="1" animBg="1"/>
      <p:bldP spid="535607" grpId="0" animBg="1"/>
      <p:bldP spid="535608" grpId="0" animBg="1"/>
      <p:bldP spid="535608" grpId="1" animBg="1"/>
      <p:bldP spid="535610" grpId="0" animBg="1"/>
      <p:bldP spid="535611" grpId="0" animBg="1"/>
      <p:bldP spid="535611" grpId="1" animBg="1"/>
      <p:bldP spid="535613" grpId="0" animBg="1"/>
      <p:bldP spid="535614" grpId="0" animBg="1"/>
      <p:bldP spid="53561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Multi-Currency</a:t>
            </a:r>
            <a:endParaRPr lang="en-US" smtClean="0"/>
          </a:p>
        </p:txBody>
      </p:sp>
      <p:sp>
        <p:nvSpPr>
          <p:cNvPr id="5143" name="Rectangle 47"/>
          <p:cNvSpPr>
            <a:spLocks noGrp="1" noChangeArrowheads="1"/>
          </p:cNvSpPr>
          <p:nvPr>
            <p:ph idx="1"/>
          </p:nvPr>
        </p:nvSpPr>
        <p:spPr bwMode="auto">
          <a:xfrm>
            <a:off x="468313" y="1268413"/>
            <a:ext cx="8229600" cy="13684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/>
              <a:t>There are four main currencies in Sirius</a:t>
            </a:r>
          </a:p>
          <a:p>
            <a:pPr lvl="1" eaLnBrk="1" hangingPunct="1"/>
            <a:r>
              <a:rPr lang="en-GB" sz="1600" dirty="0" smtClean="0"/>
              <a:t>Transaction, Base, Account, System</a:t>
            </a:r>
          </a:p>
          <a:p>
            <a:pPr lvl="1" eaLnBrk="1" hangingPunct="1"/>
            <a:r>
              <a:rPr lang="en-GB" sz="1600" dirty="0" smtClean="0"/>
              <a:t>Claims also has Loss Currency</a:t>
            </a:r>
          </a:p>
          <a:p>
            <a:pPr eaLnBrk="1" hangingPunct="1">
              <a:buFont typeface="Wingdings" pitchFamily="2" charset="2"/>
              <a:buNone/>
            </a:pPr>
            <a:endParaRPr lang="en-US" dirty="0" smtClean="0"/>
          </a:p>
        </p:txBody>
      </p:sp>
      <p:sp>
        <p:nvSpPr>
          <p:cNvPr id="543747" name="Rectangle 3"/>
          <p:cNvSpPr>
            <a:spLocks noChangeArrowheads="1"/>
          </p:cNvSpPr>
          <p:nvPr/>
        </p:nvSpPr>
        <p:spPr bwMode="auto">
          <a:xfrm>
            <a:off x="5219700" y="3573463"/>
            <a:ext cx="15843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Company/Source</a:t>
            </a:r>
          </a:p>
          <a:p>
            <a:pPr eaLnBrk="0" hangingPunct="0">
              <a:defRPr/>
            </a:pPr>
            <a:r>
              <a:rPr lang="en-GB" sz="1000">
                <a:solidFill>
                  <a:schemeClr val="tx1"/>
                </a:solidFill>
              </a:rPr>
              <a:t>Branch Base Currency</a:t>
            </a:r>
          </a:p>
        </p:txBody>
      </p:sp>
      <p:sp>
        <p:nvSpPr>
          <p:cNvPr id="543748" name="Rectangle 4"/>
          <p:cNvSpPr>
            <a:spLocks noChangeArrowheads="1"/>
          </p:cNvSpPr>
          <p:nvPr/>
        </p:nvSpPr>
        <p:spPr bwMode="auto">
          <a:xfrm>
            <a:off x="2627313" y="3643313"/>
            <a:ext cx="1296987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Currency</a:t>
            </a:r>
          </a:p>
        </p:txBody>
      </p:sp>
      <p:sp>
        <p:nvSpPr>
          <p:cNvPr id="543749" name="Line 5"/>
          <p:cNvSpPr>
            <a:spLocks noChangeShapeType="1"/>
          </p:cNvSpPr>
          <p:nvPr/>
        </p:nvSpPr>
        <p:spPr bwMode="auto">
          <a:xfrm>
            <a:off x="3924300" y="3859213"/>
            <a:ext cx="12954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3750" name="Rectangle 6"/>
          <p:cNvSpPr>
            <a:spLocks noChangeArrowheads="1"/>
          </p:cNvSpPr>
          <p:nvPr/>
        </p:nvSpPr>
        <p:spPr bwMode="auto">
          <a:xfrm>
            <a:off x="2627313" y="4724400"/>
            <a:ext cx="1150937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Account</a:t>
            </a:r>
          </a:p>
          <a:p>
            <a:pPr eaLnBrk="0" hangingPunct="0">
              <a:defRPr/>
            </a:pPr>
            <a:r>
              <a:rPr lang="en-GB" sz="1000">
                <a:solidFill>
                  <a:schemeClr val="tx1"/>
                </a:solidFill>
              </a:rPr>
              <a:t>Account Currency</a:t>
            </a:r>
          </a:p>
        </p:txBody>
      </p:sp>
      <p:sp>
        <p:nvSpPr>
          <p:cNvPr id="543751" name="Line 7"/>
          <p:cNvSpPr>
            <a:spLocks noChangeShapeType="1"/>
          </p:cNvSpPr>
          <p:nvPr/>
        </p:nvSpPr>
        <p:spPr bwMode="auto">
          <a:xfrm flipV="1">
            <a:off x="3203575" y="4003675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8" name="Text Box 9"/>
          <p:cNvSpPr txBox="1">
            <a:spLocks noChangeArrowheads="1"/>
          </p:cNvSpPr>
          <p:nvPr/>
        </p:nvSpPr>
        <p:spPr bwMode="auto">
          <a:xfrm>
            <a:off x="4140200" y="3714750"/>
            <a:ext cx="8636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currency_id</a:t>
            </a:r>
            <a:endParaRPr lang="en-US" sz="1000"/>
          </a:p>
        </p:txBody>
      </p:sp>
      <p:sp>
        <p:nvSpPr>
          <p:cNvPr id="543771" name="Rectangle 27"/>
          <p:cNvSpPr>
            <a:spLocks noChangeArrowheads="1"/>
          </p:cNvSpPr>
          <p:nvPr/>
        </p:nvSpPr>
        <p:spPr bwMode="auto">
          <a:xfrm>
            <a:off x="611188" y="2924175"/>
            <a:ext cx="129698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Currency_Rate</a:t>
            </a:r>
          </a:p>
        </p:txBody>
      </p:sp>
      <p:sp>
        <p:nvSpPr>
          <p:cNvPr id="543772" name="Line 28"/>
          <p:cNvSpPr>
            <a:spLocks noChangeShapeType="1"/>
          </p:cNvSpPr>
          <p:nvPr/>
        </p:nvSpPr>
        <p:spPr bwMode="auto">
          <a:xfrm>
            <a:off x="1908175" y="3140075"/>
            <a:ext cx="719138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1" name="Text Box 29"/>
          <p:cNvSpPr txBox="1">
            <a:spLocks noChangeArrowheads="1"/>
          </p:cNvSpPr>
          <p:nvPr/>
        </p:nvSpPr>
        <p:spPr bwMode="auto">
          <a:xfrm>
            <a:off x="1979613" y="3282950"/>
            <a:ext cx="935037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currency_id</a:t>
            </a:r>
            <a:endParaRPr lang="en-US" sz="1000"/>
          </a:p>
        </p:txBody>
      </p:sp>
      <p:sp>
        <p:nvSpPr>
          <p:cNvPr id="543774" name="Rectangle 30"/>
          <p:cNvSpPr>
            <a:spLocks noChangeArrowheads="1"/>
          </p:cNvSpPr>
          <p:nvPr/>
        </p:nvSpPr>
        <p:spPr bwMode="auto">
          <a:xfrm>
            <a:off x="684213" y="4724400"/>
            <a:ext cx="1223962" cy="10080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PMSystem</a:t>
            </a:r>
          </a:p>
          <a:p>
            <a:pPr eaLnBrk="0" hangingPunct="0">
              <a:defRPr/>
            </a:pPr>
            <a:r>
              <a:rPr lang="en-GB" sz="1000">
                <a:solidFill>
                  <a:schemeClr val="tx1"/>
                </a:solidFill>
              </a:rPr>
              <a:t>System </a:t>
            </a:r>
          </a:p>
          <a:p>
            <a:pPr eaLnBrk="0" hangingPunct="0">
              <a:defRPr/>
            </a:pPr>
            <a:r>
              <a:rPr lang="en-GB" sz="1000">
                <a:solidFill>
                  <a:schemeClr val="tx1"/>
                </a:solidFill>
              </a:rPr>
              <a:t>Currency </a:t>
            </a:r>
          </a:p>
          <a:p>
            <a:pPr eaLnBrk="0" hangingPunct="0">
              <a:defRPr/>
            </a:pPr>
            <a:r>
              <a:rPr lang="en-GB" sz="1000">
                <a:solidFill>
                  <a:schemeClr val="tx1"/>
                </a:solidFill>
              </a:rPr>
              <a:t>in record id 1</a:t>
            </a:r>
          </a:p>
        </p:txBody>
      </p:sp>
      <p:sp>
        <p:nvSpPr>
          <p:cNvPr id="543775" name="Line 31"/>
          <p:cNvSpPr>
            <a:spLocks noChangeShapeType="1"/>
          </p:cNvSpPr>
          <p:nvPr/>
        </p:nvSpPr>
        <p:spPr bwMode="auto">
          <a:xfrm flipV="1">
            <a:off x="1835150" y="4003675"/>
            <a:ext cx="792163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4" name="Text Box 37"/>
          <p:cNvSpPr txBox="1">
            <a:spLocks noChangeArrowheads="1"/>
          </p:cNvSpPr>
          <p:nvPr/>
        </p:nvSpPr>
        <p:spPr bwMode="auto">
          <a:xfrm>
            <a:off x="1547813" y="4219575"/>
            <a:ext cx="935037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currency_id</a:t>
            </a:r>
            <a:endParaRPr lang="en-US" sz="1000"/>
          </a:p>
        </p:txBody>
      </p:sp>
      <p:sp>
        <p:nvSpPr>
          <p:cNvPr id="5135" name="Text Box 38"/>
          <p:cNvSpPr txBox="1">
            <a:spLocks noChangeArrowheads="1"/>
          </p:cNvSpPr>
          <p:nvPr/>
        </p:nvSpPr>
        <p:spPr bwMode="auto">
          <a:xfrm>
            <a:off x="2700338" y="4219575"/>
            <a:ext cx="935037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currency_id</a:t>
            </a:r>
            <a:endParaRPr lang="en-US" sz="1000"/>
          </a:p>
        </p:txBody>
      </p:sp>
      <p:sp>
        <p:nvSpPr>
          <p:cNvPr id="543783" name="Rectangle 39"/>
          <p:cNvSpPr>
            <a:spLocks noChangeArrowheads="1"/>
          </p:cNvSpPr>
          <p:nvPr/>
        </p:nvSpPr>
        <p:spPr bwMode="auto">
          <a:xfrm>
            <a:off x="5219700" y="4437063"/>
            <a:ext cx="15843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TransDetail</a:t>
            </a:r>
          </a:p>
          <a:p>
            <a:pPr eaLnBrk="0" hangingPunct="0">
              <a:defRPr/>
            </a:pPr>
            <a:r>
              <a:rPr lang="en-GB" sz="1000">
                <a:solidFill>
                  <a:schemeClr val="tx1"/>
                </a:solidFill>
              </a:rPr>
              <a:t>Transaction Currency</a:t>
            </a:r>
          </a:p>
        </p:txBody>
      </p:sp>
      <p:sp>
        <p:nvSpPr>
          <p:cNvPr id="543784" name="Line 40"/>
          <p:cNvSpPr>
            <a:spLocks noChangeShapeType="1"/>
          </p:cNvSpPr>
          <p:nvPr/>
        </p:nvSpPr>
        <p:spPr bwMode="auto">
          <a:xfrm>
            <a:off x="3924300" y="4003675"/>
            <a:ext cx="1295400" cy="433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8" name="Text Box 41"/>
          <p:cNvSpPr txBox="1">
            <a:spLocks noChangeArrowheads="1"/>
          </p:cNvSpPr>
          <p:nvPr/>
        </p:nvSpPr>
        <p:spPr bwMode="auto">
          <a:xfrm>
            <a:off x="4211638" y="4148138"/>
            <a:ext cx="8636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currency_id</a:t>
            </a:r>
            <a:endParaRPr lang="en-US" sz="1000"/>
          </a:p>
        </p:txBody>
      </p:sp>
      <p:sp>
        <p:nvSpPr>
          <p:cNvPr id="543786" name="Rectangle 42"/>
          <p:cNvSpPr>
            <a:spLocks noChangeArrowheads="1"/>
          </p:cNvSpPr>
          <p:nvPr/>
        </p:nvSpPr>
        <p:spPr bwMode="auto">
          <a:xfrm>
            <a:off x="5219700" y="5229225"/>
            <a:ext cx="1584325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Claim</a:t>
            </a:r>
          </a:p>
          <a:p>
            <a:pPr eaLnBrk="0" hangingPunct="0">
              <a:defRPr/>
            </a:pPr>
            <a:r>
              <a:rPr lang="en-GB" sz="1000">
                <a:solidFill>
                  <a:schemeClr val="tx1"/>
                </a:solidFill>
              </a:rPr>
              <a:t>Loss Currency</a:t>
            </a:r>
          </a:p>
        </p:txBody>
      </p:sp>
      <p:sp>
        <p:nvSpPr>
          <p:cNvPr id="5140" name="Text Box 43"/>
          <p:cNvSpPr txBox="1">
            <a:spLocks noChangeArrowheads="1"/>
          </p:cNvSpPr>
          <p:nvPr/>
        </p:nvSpPr>
        <p:spPr bwMode="auto">
          <a:xfrm>
            <a:off x="4211638" y="4148138"/>
            <a:ext cx="8636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currency_id</a:t>
            </a:r>
            <a:endParaRPr lang="en-US" sz="1000"/>
          </a:p>
        </p:txBody>
      </p:sp>
      <p:sp>
        <p:nvSpPr>
          <p:cNvPr id="543788" name="Line 44"/>
          <p:cNvSpPr>
            <a:spLocks noChangeShapeType="1"/>
          </p:cNvSpPr>
          <p:nvPr/>
        </p:nvSpPr>
        <p:spPr bwMode="auto">
          <a:xfrm>
            <a:off x="3708400" y="4003675"/>
            <a:ext cx="1511300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42" name="Text Box 45"/>
          <p:cNvSpPr txBox="1">
            <a:spLocks noChangeArrowheads="1"/>
          </p:cNvSpPr>
          <p:nvPr/>
        </p:nvSpPr>
        <p:spPr bwMode="auto">
          <a:xfrm>
            <a:off x="4140200" y="4724400"/>
            <a:ext cx="8636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currency_id</a:t>
            </a:r>
            <a:endParaRPr lang="en-US" sz="1000"/>
          </a:p>
        </p:txBody>
      </p:sp>
      <p:grpSp>
        <p:nvGrpSpPr>
          <p:cNvPr id="5144" name="Group 50"/>
          <p:cNvGrpSpPr>
            <a:grpSpLocks/>
          </p:cNvGrpSpPr>
          <p:nvPr/>
        </p:nvGrpSpPr>
        <p:grpSpPr bwMode="auto">
          <a:xfrm>
            <a:off x="5508104" y="1412776"/>
            <a:ext cx="1874837" cy="1457325"/>
            <a:chOff x="4377" y="3249"/>
            <a:chExt cx="1181" cy="918"/>
          </a:xfrm>
        </p:grpSpPr>
        <p:sp>
          <p:nvSpPr>
            <p:cNvPr id="5145" name="Text Box 48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5146" name="Text Box 49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736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bACTCurrencyConvert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bACTCurrency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bACTCurrencyRate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iACTCurrencyRate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uctSIRMultiCurrency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43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43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43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43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43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43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43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43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43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43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43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43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43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43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43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43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543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543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543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543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543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543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43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43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43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543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43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43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47" grpId="0" animBg="1"/>
      <p:bldP spid="543748" grpId="0" animBg="1"/>
      <p:bldP spid="543749" grpId="0" animBg="1"/>
      <p:bldP spid="543749" grpId="1" animBg="1"/>
      <p:bldP spid="543750" grpId="0" animBg="1"/>
      <p:bldP spid="543751" grpId="0" animBg="1"/>
      <p:bldP spid="543751" grpId="1" animBg="1"/>
      <p:bldP spid="543771" grpId="0" animBg="1"/>
      <p:bldP spid="543772" grpId="0" animBg="1"/>
      <p:bldP spid="543772" grpId="1" animBg="1"/>
      <p:bldP spid="543774" grpId="0" animBg="1"/>
      <p:bldP spid="543775" grpId="0" animBg="1"/>
      <p:bldP spid="543775" grpId="1" animBg="1"/>
      <p:bldP spid="543783" grpId="0" animBg="1"/>
      <p:bldP spid="543784" grpId="0" animBg="1"/>
      <p:bldP spid="543784" grpId="1" animBg="1"/>
      <p:bldP spid="543786" grpId="0" animBg="1"/>
      <p:bldP spid="543788" grpId="0" animBg="1"/>
      <p:bldP spid="54378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Currency Conversion in VB</a:t>
            </a:r>
            <a:endParaRPr lang="en-US" smtClean="0"/>
          </a:p>
        </p:txBody>
      </p:sp>
      <p:sp>
        <p:nvSpPr>
          <p:cNvPr id="6147" name="Rectangle 23"/>
          <p:cNvSpPr>
            <a:spLocks noGrp="1" noChangeArrowheads="1"/>
          </p:cNvSpPr>
          <p:nvPr>
            <p:ph idx="1"/>
          </p:nvPr>
        </p:nvSpPr>
        <p:spPr bwMode="auto">
          <a:xfrm>
            <a:off x="468313" y="1268413"/>
            <a:ext cx="8229600" cy="4824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err="1" smtClean="0"/>
              <a:t>bACTCurrencyConvert.Form</a:t>
            </a:r>
            <a:endParaRPr lang="en-GB" dirty="0" smtClean="0"/>
          </a:p>
          <a:p>
            <a:pPr lvl="1" eaLnBrk="1" hangingPunct="1"/>
            <a:r>
              <a:rPr lang="en-GB" sz="1600" dirty="0" err="1" smtClean="0"/>
              <a:t>ConvertCurrencyToBase</a:t>
            </a:r>
            <a:endParaRPr lang="en-GB" sz="1600" dirty="0" smtClean="0"/>
          </a:p>
          <a:p>
            <a:pPr lvl="2" eaLnBrk="1" hangingPunct="1"/>
            <a:r>
              <a:rPr lang="en-GB" sz="1600" dirty="0" smtClean="0"/>
              <a:t>Converts Currency to Branch Base</a:t>
            </a:r>
          </a:p>
          <a:p>
            <a:pPr lvl="1" eaLnBrk="1" hangingPunct="1"/>
            <a:r>
              <a:rPr lang="en-GB" dirty="0" err="1" smtClean="0"/>
              <a:t>ConvertBaseToCurrency</a:t>
            </a:r>
            <a:endParaRPr lang="en-GB" dirty="0" smtClean="0"/>
          </a:p>
          <a:p>
            <a:pPr lvl="2" eaLnBrk="1" hangingPunct="1"/>
            <a:r>
              <a:rPr lang="en-GB" sz="1600" dirty="0" smtClean="0"/>
              <a:t>Converts Branch Base to another Currency</a:t>
            </a:r>
          </a:p>
          <a:p>
            <a:pPr lvl="1" eaLnBrk="1" hangingPunct="1"/>
            <a:r>
              <a:rPr lang="en-GB" dirty="0" err="1" smtClean="0"/>
              <a:t>CurrencyToCurrencyConversion</a:t>
            </a:r>
            <a:endParaRPr lang="en-GB" dirty="0" smtClean="0"/>
          </a:p>
          <a:p>
            <a:pPr lvl="2" eaLnBrk="1" hangingPunct="1"/>
            <a:r>
              <a:rPr lang="en-GB" sz="1600" dirty="0" smtClean="0"/>
              <a:t>Converts one Currency to another using triangulation (via base)</a:t>
            </a:r>
          </a:p>
          <a:p>
            <a:pPr lvl="1" eaLnBrk="1" hangingPunct="1"/>
            <a:r>
              <a:rPr lang="en-GB" dirty="0" err="1" smtClean="0"/>
              <a:t>DoCurrencyConversion</a:t>
            </a:r>
            <a:endParaRPr lang="en-GB" dirty="0" smtClean="0"/>
          </a:p>
          <a:p>
            <a:pPr lvl="2" eaLnBrk="1" hangingPunct="1"/>
            <a:r>
              <a:rPr lang="en-GB" sz="1600" dirty="0" smtClean="0"/>
              <a:t>Converts Currency to Base, Account and System</a:t>
            </a:r>
          </a:p>
          <a:p>
            <a:pPr lvl="1" eaLnBrk="1" hangingPunct="1"/>
            <a:r>
              <a:rPr lang="en-GB" dirty="0" err="1" smtClean="0"/>
              <a:t>FormatCurrency</a:t>
            </a:r>
            <a:endParaRPr lang="en-GB" dirty="0" smtClean="0"/>
          </a:p>
          <a:p>
            <a:pPr lvl="2" eaLnBrk="1" hangingPunct="1"/>
            <a:r>
              <a:rPr lang="en-GB" sz="1600" dirty="0" smtClean="0"/>
              <a:t>Formats an Amount in the Currency’s format</a:t>
            </a:r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Currency Conversion in SQL</a:t>
            </a:r>
            <a:endParaRPr lang="en-US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8313" y="1268413"/>
            <a:ext cx="8229600" cy="4824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err="1" smtClean="0"/>
              <a:t>spu_ACT_Do_Currency_Conversion</a:t>
            </a:r>
            <a:endParaRPr lang="en-GB" dirty="0" smtClean="0"/>
          </a:p>
          <a:p>
            <a:pPr lvl="1" eaLnBrk="1" hangingPunct="1"/>
            <a:r>
              <a:rPr lang="en-GB" sz="1600" dirty="0" smtClean="0"/>
              <a:t>Converts Currency to Base and optionally Account and System.</a:t>
            </a:r>
          </a:p>
          <a:p>
            <a:pPr lvl="2" eaLnBrk="1" hangingPunct="1"/>
            <a:r>
              <a:rPr lang="en-GB" sz="1600" dirty="0" smtClean="0"/>
              <a:t>@mode parameter = ‘BASE’ to just convert to base</a:t>
            </a:r>
          </a:p>
          <a:p>
            <a:pPr eaLnBrk="1" hangingPunct="1"/>
            <a:r>
              <a:rPr lang="en-GB" dirty="0" err="1" smtClean="0"/>
              <a:t>spu_ACT_Currency_To_Currency_Conversion</a:t>
            </a:r>
            <a:endParaRPr lang="en-GB" dirty="0" smtClean="0"/>
          </a:p>
          <a:p>
            <a:pPr lvl="1" eaLnBrk="1" hangingPunct="1"/>
            <a:r>
              <a:rPr lang="en-GB" sz="1600" dirty="0" smtClean="0"/>
              <a:t>Converts Currency to Currency</a:t>
            </a:r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Transaction Structure</a:t>
            </a:r>
            <a:endParaRPr lang="en-US" smtClean="0"/>
          </a:p>
        </p:txBody>
      </p:sp>
      <p:sp>
        <p:nvSpPr>
          <p:cNvPr id="541699" name="Rectangle 3"/>
          <p:cNvSpPr>
            <a:spLocks noChangeArrowheads="1"/>
          </p:cNvSpPr>
          <p:nvPr/>
        </p:nvSpPr>
        <p:spPr bwMode="auto">
          <a:xfrm>
            <a:off x="5148263" y="2276475"/>
            <a:ext cx="14398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Company/Source</a:t>
            </a:r>
          </a:p>
        </p:txBody>
      </p:sp>
      <p:sp>
        <p:nvSpPr>
          <p:cNvPr id="541700" name="Rectangle 4"/>
          <p:cNvSpPr>
            <a:spLocks noChangeArrowheads="1"/>
          </p:cNvSpPr>
          <p:nvPr/>
        </p:nvSpPr>
        <p:spPr bwMode="auto">
          <a:xfrm>
            <a:off x="2411413" y="2276475"/>
            <a:ext cx="115093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TransDetail</a:t>
            </a:r>
          </a:p>
        </p:txBody>
      </p:sp>
      <p:sp>
        <p:nvSpPr>
          <p:cNvPr id="541701" name="Line 5"/>
          <p:cNvSpPr>
            <a:spLocks noChangeShapeType="1"/>
          </p:cNvSpPr>
          <p:nvPr/>
        </p:nvSpPr>
        <p:spPr bwMode="auto">
          <a:xfrm>
            <a:off x="3563938" y="2492375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702" name="Rectangle 6"/>
          <p:cNvSpPr>
            <a:spLocks noChangeArrowheads="1"/>
          </p:cNvSpPr>
          <p:nvPr/>
        </p:nvSpPr>
        <p:spPr bwMode="auto">
          <a:xfrm>
            <a:off x="1692275" y="4797425"/>
            <a:ext cx="1150938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Currency</a:t>
            </a:r>
          </a:p>
        </p:txBody>
      </p:sp>
      <p:sp>
        <p:nvSpPr>
          <p:cNvPr id="541703" name="Line 7"/>
          <p:cNvSpPr>
            <a:spLocks noChangeShapeType="1"/>
          </p:cNvSpPr>
          <p:nvPr/>
        </p:nvSpPr>
        <p:spPr bwMode="auto">
          <a:xfrm flipV="1">
            <a:off x="2268538" y="2636838"/>
            <a:ext cx="719137" cy="2160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Text Box 9"/>
          <p:cNvSpPr txBox="1">
            <a:spLocks noChangeArrowheads="1"/>
          </p:cNvSpPr>
          <p:nvPr/>
        </p:nvSpPr>
        <p:spPr bwMode="auto">
          <a:xfrm>
            <a:off x="3924300" y="2347913"/>
            <a:ext cx="935038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company_id</a:t>
            </a:r>
            <a:endParaRPr lang="en-US" sz="1000"/>
          </a:p>
        </p:txBody>
      </p:sp>
      <p:sp>
        <p:nvSpPr>
          <p:cNvPr id="541710" name="Rectangle 14"/>
          <p:cNvSpPr>
            <a:spLocks noChangeArrowheads="1"/>
          </p:cNvSpPr>
          <p:nvPr/>
        </p:nvSpPr>
        <p:spPr bwMode="auto">
          <a:xfrm>
            <a:off x="5148263" y="2924175"/>
            <a:ext cx="115093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Document</a:t>
            </a:r>
          </a:p>
        </p:txBody>
      </p:sp>
      <p:sp>
        <p:nvSpPr>
          <p:cNvPr id="541720" name="Rectangle 24"/>
          <p:cNvSpPr>
            <a:spLocks noChangeArrowheads="1"/>
          </p:cNvSpPr>
          <p:nvPr/>
        </p:nvSpPr>
        <p:spPr bwMode="auto">
          <a:xfrm>
            <a:off x="2411413" y="1341438"/>
            <a:ext cx="1150937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Period</a:t>
            </a:r>
          </a:p>
        </p:txBody>
      </p:sp>
      <p:sp>
        <p:nvSpPr>
          <p:cNvPr id="541721" name="Line 25"/>
          <p:cNvSpPr>
            <a:spLocks noChangeShapeType="1"/>
          </p:cNvSpPr>
          <p:nvPr/>
        </p:nvSpPr>
        <p:spPr bwMode="auto">
          <a:xfrm flipH="1" flipV="1">
            <a:off x="2987675" y="17002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Text Box 26"/>
          <p:cNvSpPr txBox="1">
            <a:spLocks noChangeArrowheads="1"/>
          </p:cNvSpPr>
          <p:nvPr/>
        </p:nvSpPr>
        <p:spPr bwMode="auto">
          <a:xfrm>
            <a:off x="2555875" y="1844675"/>
            <a:ext cx="8636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period_id</a:t>
            </a:r>
            <a:endParaRPr lang="en-US" sz="1000"/>
          </a:p>
        </p:txBody>
      </p:sp>
      <p:sp>
        <p:nvSpPr>
          <p:cNvPr id="541723" name="Rectangle 27"/>
          <p:cNvSpPr>
            <a:spLocks noChangeArrowheads="1"/>
          </p:cNvSpPr>
          <p:nvPr/>
        </p:nvSpPr>
        <p:spPr bwMode="auto">
          <a:xfrm>
            <a:off x="468313" y="1557338"/>
            <a:ext cx="1223962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Account</a:t>
            </a:r>
          </a:p>
        </p:txBody>
      </p:sp>
      <p:sp>
        <p:nvSpPr>
          <p:cNvPr id="541724" name="Line 28"/>
          <p:cNvSpPr>
            <a:spLocks noChangeShapeType="1"/>
          </p:cNvSpPr>
          <p:nvPr/>
        </p:nvSpPr>
        <p:spPr bwMode="auto">
          <a:xfrm>
            <a:off x="1692275" y="1773238"/>
            <a:ext cx="719138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7" name="Text Box 29"/>
          <p:cNvSpPr txBox="1">
            <a:spLocks noChangeArrowheads="1"/>
          </p:cNvSpPr>
          <p:nvPr/>
        </p:nvSpPr>
        <p:spPr bwMode="auto">
          <a:xfrm>
            <a:off x="1476375" y="1989138"/>
            <a:ext cx="11525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account_id </a:t>
            </a:r>
            <a:endParaRPr lang="en-US" sz="1000"/>
          </a:p>
        </p:txBody>
      </p:sp>
      <p:sp>
        <p:nvSpPr>
          <p:cNvPr id="541726" name="Rectangle 30"/>
          <p:cNvSpPr>
            <a:spLocks noChangeArrowheads="1"/>
          </p:cNvSpPr>
          <p:nvPr/>
        </p:nvSpPr>
        <p:spPr bwMode="auto">
          <a:xfrm>
            <a:off x="468313" y="2852738"/>
            <a:ext cx="1223962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AccountType</a:t>
            </a:r>
          </a:p>
        </p:txBody>
      </p:sp>
      <p:sp>
        <p:nvSpPr>
          <p:cNvPr id="541727" name="Line 31"/>
          <p:cNvSpPr>
            <a:spLocks noChangeShapeType="1"/>
          </p:cNvSpPr>
          <p:nvPr/>
        </p:nvSpPr>
        <p:spPr bwMode="auto">
          <a:xfrm flipV="1">
            <a:off x="1692275" y="2636838"/>
            <a:ext cx="719138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0" name="Text Box 32"/>
          <p:cNvSpPr txBox="1">
            <a:spLocks noChangeArrowheads="1"/>
          </p:cNvSpPr>
          <p:nvPr/>
        </p:nvSpPr>
        <p:spPr bwMode="auto">
          <a:xfrm>
            <a:off x="1187450" y="2565400"/>
            <a:ext cx="11525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accounttype_id</a:t>
            </a:r>
            <a:endParaRPr lang="en-US" sz="1000"/>
          </a:p>
        </p:txBody>
      </p:sp>
      <p:sp>
        <p:nvSpPr>
          <p:cNvPr id="8211" name="Text Box 33"/>
          <p:cNvSpPr txBox="1">
            <a:spLocks noChangeArrowheads="1"/>
          </p:cNvSpPr>
          <p:nvPr/>
        </p:nvSpPr>
        <p:spPr bwMode="auto">
          <a:xfrm>
            <a:off x="1908175" y="3500438"/>
            <a:ext cx="1655763" cy="9302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currency_id</a:t>
            </a:r>
          </a:p>
          <a:p>
            <a:pPr>
              <a:spcBef>
                <a:spcPct val="50000"/>
              </a:spcBef>
            </a:pPr>
            <a:r>
              <a:rPr lang="en-GB" sz="1000"/>
              <a:t>amount_currency_id</a:t>
            </a:r>
          </a:p>
          <a:p>
            <a:pPr>
              <a:spcBef>
                <a:spcPct val="50000"/>
              </a:spcBef>
            </a:pPr>
            <a:r>
              <a:rPr lang="en-GB" sz="1000"/>
              <a:t>account_currency_id</a:t>
            </a:r>
          </a:p>
          <a:p>
            <a:pPr>
              <a:spcBef>
                <a:spcPct val="50000"/>
              </a:spcBef>
            </a:pPr>
            <a:r>
              <a:rPr lang="en-GB" sz="1000"/>
              <a:t>system_currency_id</a:t>
            </a:r>
            <a:endParaRPr lang="en-US" sz="1000"/>
          </a:p>
        </p:txBody>
      </p:sp>
      <p:sp>
        <p:nvSpPr>
          <p:cNvPr id="541730" name="Rectangle 34"/>
          <p:cNvSpPr>
            <a:spLocks noChangeArrowheads="1"/>
          </p:cNvSpPr>
          <p:nvPr/>
        </p:nvSpPr>
        <p:spPr bwMode="auto">
          <a:xfrm>
            <a:off x="5148263" y="1341438"/>
            <a:ext cx="1439862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Sub_Branch</a:t>
            </a:r>
          </a:p>
        </p:txBody>
      </p:sp>
      <p:sp>
        <p:nvSpPr>
          <p:cNvPr id="541731" name="Line 35"/>
          <p:cNvSpPr>
            <a:spLocks noChangeShapeType="1"/>
          </p:cNvSpPr>
          <p:nvPr/>
        </p:nvSpPr>
        <p:spPr bwMode="auto">
          <a:xfrm flipV="1">
            <a:off x="5795963" y="17002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4" name="Text Box 36"/>
          <p:cNvSpPr txBox="1">
            <a:spLocks noChangeArrowheads="1"/>
          </p:cNvSpPr>
          <p:nvPr/>
        </p:nvSpPr>
        <p:spPr bwMode="auto">
          <a:xfrm>
            <a:off x="5292725" y="1844675"/>
            <a:ext cx="935038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company_id</a:t>
            </a:r>
            <a:endParaRPr lang="en-US" sz="1000"/>
          </a:p>
        </p:txBody>
      </p:sp>
      <p:sp>
        <p:nvSpPr>
          <p:cNvPr id="541733" name="Line 37"/>
          <p:cNvSpPr>
            <a:spLocks noChangeShapeType="1"/>
          </p:cNvSpPr>
          <p:nvPr/>
        </p:nvSpPr>
        <p:spPr bwMode="auto">
          <a:xfrm flipV="1">
            <a:off x="3563938" y="1700213"/>
            <a:ext cx="1584325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6" name="Text Box 38"/>
          <p:cNvSpPr txBox="1">
            <a:spLocks noChangeArrowheads="1"/>
          </p:cNvSpPr>
          <p:nvPr/>
        </p:nvSpPr>
        <p:spPr bwMode="auto">
          <a:xfrm>
            <a:off x="3778250" y="1844675"/>
            <a:ext cx="12255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sub_branch_id</a:t>
            </a:r>
            <a:endParaRPr lang="en-US" sz="1000"/>
          </a:p>
        </p:txBody>
      </p:sp>
      <p:sp>
        <p:nvSpPr>
          <p:cNvPr id="541735" name="Line 39"/>
          <p:cNvSpPr>
            <a:spLocks noChangeShapeType="1"/>
          </p:cNvSpPr>
          <p:nvPr/>
        </p:nvSpPr>
        <p:spPr bwMode="auto">
          <a:xfrm>
            <a:off x="3563938" y="2565400"/>
            <a:ext cx="1584325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18" name="Text Box 20"/>
          <p:cNvSpPr txBox="1">
            <a:spLocks noChangeArrowheads="1"/>
          </p:cNvSpPr>
          <p:nvPr/>
        </p:nvSpPr>
        <p:spPr bwMode="auto">
          <a:xfrm>
            <a:off x="3995738" y="2708275"/>
            <a:ext cx="935037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000"/>
              <a:t>document_id</a:t>
            </a:r>
            <a:endParaRPr lang="en-US" sz="1000"/>
          </a:p>
        </p:txBody>
      </p:sp>
      <p:sp>
        <p:nvSpPr>
          <p:cNvPr id="541736" name="Rectangle 40"/>
          <p:cNvSpPr>
            <a:spLocks noChangeArrowheads="1"/>
          </p:cNvSpPr>
          <p:nvPr/>
        </p:nvSpPr>
        <p:spPr bwMode="auto">
          <a:xfrm>
            <a:off x="5867400" y="4149725"/>
            <a:ext cx="158432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Underwriting_Year</a:t>
            </a:r>
          </a:p>
        </p:txBody>
      </p:sp>
      <p:sp>
        <p:nvSpPr>
          <p:cNvPr id="541737" name="Rectangle 41"/>
          <p:cNvSpPr>
            <a:spLocks noChangeArrowheads="1"/>
          </p:cNvSpPr>
          <p:nvPr/>
        </p:nvSpPr>
        <p:spPr bwMode="auto">
          <a:xfrm>
            <a:off x="468313" y="3789363"/>
            <a:ext cx="1511300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TransDetail_Type</a:t>
            </a:r>
          </a:p>
        </p:txBody>
      </p:sp>
      <p:sp>
        <p:nvSpPr>
          <p:cNvPr id="541738" name="Line 42"/>
          <p:cNvSpPr>
            <a:spLocks noChangeShapeType="1"/>
          </p:cNvSpPr>
          <p:nvPr/>
        </p:nvSpPr>
        <p:spPr bwMode="auto">
          <a:xfrm flipV="1">
            <a:off x="1908175" y="2636838"/>
            <a:ext cx="719138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22" name="Text Box 43"/>
          <p:cNvSpPr txBox="1">
            <a:spLocks noChangeArrowheads="1"/>
          </p:cNvSpPr>
          <p:nvPr/>
        </p:nvSpPr>
        <p:spPr bwMode="auto">
          <a:xfrm>
            <a:off x="1116013" y="3357563"/>
            <a:ext cx="12954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transdetail_type_id</a:t>
            </a:r>
            <a:endParaRPr lang="en-US" sz="1000"/>
          </a:p>
        </p:txBody>
      </p:sp>
      <p:sp>
        <p:nvSpPr>
          <p:cNvPr id="541741" name="Rectangle 45"/>
          <p:cNvSpPr>
            <a:spLocks noChangeArrowheads="1"/>
          </p:cNvSpPr>
          <p:nvPr/>
        </p:nvSpPr>
        <p:spPr bwMode="auto">
          <a:xfrm>
            <a:off x="3708400" y="4797425"/>
            <a:ext cx="1150938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Tax_Band</a:t>
            </a:r>
          </a:p>
        </p:txBody>
      </p:sp>
      <p:sp>
        <p:nvSpPr>
          <p:cNvPr id="541742" name="Line 46"/>
          <p:cNvSpPr>
            <a:spLocks noChangeShapeType="1"/>
          </p:cNvSpPr>
          <p:nvPr/>
        </p:nvSpPr>
        <p:spPr bwMode="auto">
          <a:xfrm flipH="1" flipV="1">
            <a:off x="3203575" y="2636838"/>
            <a:ext cx="1081088" cy="2160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41743" name="Line 47"/>
          <p:cNvSpPr>
            <a:spLocks noChangeShapeType="1"/>
          </p:cNvSpPr>
          <p:nvPr/>
        </p:nvSpPr>
        <p:spPr bwMode="auto">
          <a:xfrm flipH="1" flipV="1">
            <a:off x="3563938" y="2636838"/>
            <a:ext cx="2303462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26" name="Text Box 48"/>
          <p:cNvSpPr txBox="1">
            <a:spLocks noChangeArrowheads="1"/>
          </p:cNvSpPr>
          <p:nvPr/>
        </p:nvSpPr>
        <p:spPr bwMode="auto">
          <a:xfrm>
            <a:off x="5003800" y="3573463"/>
            <a:ext cx="1366838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000"/>
              <a:t>underwriting_year_id</a:t>
            </a:r>
            <a:endParaRPr lang="en-US" sz="1000"/>
          </a:p>
        </p:txBody>
      </p:sp>
      <p:sp>
        <p:nvSpPr>
          <p:cNvPr id="541745" name="Rectangle 49"/>
          <p:cNvSpPr>
            <a:spLocks noChangeArrowheads="1"/>
          </p:cNvSpPr>
          <p:nvPr/>
        </p:nvSpPr>
        <p:spPr bwMode="auto">
          <a:xfrm>
            <a:off x="5076825" y="4797425"/>
            <a:ext cx="1150938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Tax_Group</a:t>
            </a:r>
          </a:p>
        </p:txBody>
      </p:sp>
      <p:sp>
        <p:nvSpPr>
          <p:cNvPr id="541746" name="Line 50"/>
          <p:cNvSpPr>
            <a:spLocks noChangeShapeType="1"/>
          </p:cNvSpPr>
          <p:nvPr/>
        </p:nvSpPr>
        <p:spPr bwMode="auto">
          <a:xfrm flipH="1" flipV="1">
            <a:off x="3348038" y="2636838"/>
            <a:ext cx="1944687" cy="2160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29" name="Text Box 51"/>
          <p:cNvSpPr txBox="1">
            <a:spLocks noChangeArrowheads="1"/>
          </p:cNvSpPr>
          <p:nvPr/>
        </p:nvSpPr>
        <p:spPr bwMode="auto">
          <a:xfrm>
            <a:off x="4427538" y="3933825"/>
            <a:ext cx="1008062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tax_group_id</a:t>
            </a:r>
            <a:endParaRPr lang="en-US" sz="1000"/>
          </a:p>
        </p:txBody>
      </p:sp>
      <p:sp>
        <p:nvSpPr>
          <p:cNvPr id="8230" name="Text Box 52"/>
          <p:cNvSpPr txBox="1">
            <a:spLocks noChangeArrowheads="1"/>
          </p:cNvSpPr>
          <p:nvPr/>
        </p:nvSpPr>
        <p:spPr bwMode="auto">
          <a:xfrm>
            <a:off x="3779838" y="4292600"/>
            <a:ext cx="1008062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tax_band_id</a:t>
            </a:r>
            <a:endParaRPr lang="en-US" sz="1000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41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41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41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41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41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41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41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41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41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41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41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41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41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41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41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41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41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41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41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41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41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41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41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41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41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41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41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41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41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41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41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41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41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41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541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541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541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541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541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541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541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541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541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00" fill="hold"/>
                                        <p:tgtEl>
                                          <p:spTgt spid="541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541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541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541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541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541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541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541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541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00" fill="hold"/>
                                        <p:tgtEl>
                                          <p:spTgt spid="541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541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000" fill="hold"/>
                                        <p:tgtEl>
                                          <p:spTgt spid="541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541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000" fill="hold"/>
                                        <p:tgtEl>
                                          <p:spTgt spid="541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541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1000" fill="hold"/>
                                        <p:tgtEl>
                                          <p:spTgt spid="541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1000" fill="hold"/>
                                        <p:tgtEl>
                                          <p:spTgt spid="541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1000" fill="hold"/>
                                        <p:tgtEl>
                                          <p:spTgt spid="541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1000" fill="hold"/>
                                        <p:tgtEl>
                                          <p:spTgt spid="541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541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000" fill="hold"/>
                                        <p:tgtEl>
                                          <p:spTgt spid="541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541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541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541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541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1000" fill="hold"/>
                                        <p:tgtEl>
                                          <p:spTgt spid="54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1000" fill="hold"/>
                                        <p:tgtEl>
                                          <p:spTgt spid="54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1000" fill="hold"/>
                                        <p:tgtEl>
                                          <p:spTgt spid="54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1000" fill="hold"/>
                                        <p:tgtEl>
                                          <p:spTgt spid="54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699" grpId="0" animBg="1"/>
      <p:bldP spid="541700" grpId="0" animBg="1"/>
      <p:bldP spid="541701" grpId="0" animBg="1"/>
      <p:bldP spid="541701" grpId="1" animBg="1"/>
      <p:bldP spid="541702" grpId="0" animBg="1"/>
      <p:bldP spid="541703" grpId="0" animBg="1"/>
      <p:bldP spid="541703" grpId="1" animBg="1"/>
      <p:bldP spid="541710" grpId="0" animBg="1"/>
      <p:bldP spid="541720" grpId="0" animBg="1"/>
      <p:bldP spid="541721" grpId="0" animBg="1"/>
      <p:bldP spid="541721" grpId="1" animBg="1"/>
      <p:bldP spid="541723" grpId="0" animBg="1"/>
      <p:bldP spid="541724" grpId="0" animBg="1"/>
      <p:bldP spid="541724" grpId="1" animBg="1"/>
      <p:bldP spid="541726" grpId="0" animBg="1"/>
      <p:bldP spid="541727" grpId="0" animBg="1"/>
      <p:bldP spid="541727" grpId="1" animBg="1"/>
      <p:bldP spid="541730" grpId="0" animBg="1"/>
      <p:bldP spid="541731" grpId="0" animBg="1"/>
      <p:bldP spid="541731" grpId="1" animBg="1"/>
      <p:bldP spid="541733" grpId="0" animBg="1"/>
      <p:bldP spid="541733" grpId="1" animBg="1"/>
      <p:bldP spid="541735" grpId="0" animBg="1"/>
      <p:bldP spid="541735" grpId="1" animBg="1"/>
      <p:bldP spid="541736" grpId="0" animBg="1"/>
      <p:bldP spid="541737" grpId="0" animBg="1"/>
      <p:bldP spid="541738" grpId="0" animBg="1"/>
      <p:bldP spid="541738" grpId="1" animBg="1"/>
      <p:bldP spid="541741" grpId="0" animBg="1"/>
      <p:bldP spid="541742" grpId="0" animBg="1"/>
      <p:bldP spid="541742" grpId="1" animBg="1"/>
      <p:bldP spid="541743" grpId="0" animBg="1"/>
      <p:bldP spid="541743" grpId="1" animBg="1"/>
      <p:bldP spid="541745" grpId="0" animBg="1"/>
      <p:bldP spid="541746" grpId="0" animBg="1"/>
      <p:bldP spid="54174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Postings</a:t>
            </a:r>
            <a:endParaRPr lang="en-US" smtClean="0"/>
          </a:p>
        </p:txBody>
      </p:sp>
      <p:sp>
        <p:nvSpPr>
          <p:cNvPr id="551940" name="Rectangle 4"/>
          <p:cNvSpPr>
            <a:spLocks noChangeArrowheads="1"/>
          </p:cNvSpPr>
          <p:nvPr/>
        </p:nvSpPr>
        <p:spPr bwMode="auto">
          <a:xfrm>
            <a:off x="2411413" y="2276475"/>
            <a:ext cx="115093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TransDetail</a:t>
            </a:r>
          </a:p>
        </p:txBody>
      </p:sp>
      <p:sp>
        <p:nvSpPr>
          <p:cNvPr id="551945" name="Rectangle 9"/>
          <p:cNvSpPr>
            <a:spLocks noChangeArrowheads="1"/>
          </p:cNvSpPr>
          <p:nvPr/>
        </p:nvSpPr>
        <p:spPr bwMode="auto">
          <a:xfrm>
            <a:off x="2411413" y="1196975"/>
            <a:ext cx="115093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Document</a:t>
            </a:r>
          </a:p>
        </p:txBody>
      </p:sp>
      <p:sp>
        <p:nvSpPr>
          <p:cNvPr id="551949" name="Rectangle 13"/>
          <p:cNvSpPr>
            <a:spLocks noChangeArrowheads="1"/>
          </p:cNvSpPr>
          <p:nvPr/>
        </p:nvSpPr>
        <p:spPr bwMode="auto">
          <a:xfrm>
            <a:off x="539750" y="1196975"/>
            <a:ext cx="1223963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Account</a:t>
            </a:r>
          </a:p>
        </p:txBody>
      </p:sp>
      <p:sp>
        <p:nvSpPr>
          <p:cNvPr id="551950" name="Line 14"/>
          <p:cNvSpPr>
            <a:spLocks noChangeShapeType="1"/>
          </p:cNvSpPr>
          <p:nvPr/>
        </p:nvSpPr>
        <p:spPr bwMode="auto">
          <a:xfrm>
            <a:off x="1692275" y="1557338"/>
            <a:ext cx="719138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3" name="Text Box 15"/>
          <p:cNvSpPr txBox="1">
            <a:spLocks noChangeArrowheads="1"/>
          </p:cNvSpPr>
          <p:nvPr/>
        </p:nvSpPr>
        <p:spPr bwMode="auto">
          <a:xfrm>
            <a:off x="1403350" y="1773238"/>
            <a:ext cx="11525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account_id </a:t>
            </a:r>
            <a:endParaRPr lang="en-US" sz="1000"/>
          </a:p>
        </p:txBody>
      </p:sp>
      <p:sp>
        <p:nvSpPr>
          <p:cNvPr id="551961" name="Line 25"/>
          <p:cNvSpPr>
            <a:spLocks noChangeShapeType="1"/>
          </p:cNvSpPr>
          <p:nvPr/>
        </p:nvSpPr>
        <p:spPr bwMode="auto">
          <a:xfrm flipV="1">
            <a:off x="2987675" y="1557338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5" name="Text Box 26"/>
          <p:cNvSpPr txBox="1">
            <a:spLocks noChangeArrowheads="1"/>
          </p:cNvSpPr>
          <p:nvPr/>
        </p:nvSpPr>
        <p:spPr bwMode="auto">
          <a:xfrm>
            <a:off x="2484438" y="1773238"/>
            <a:ext cx="935037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000"/>
              <a:t>document_id</a:t>
            </a:r>
            <a:endParaRPr lang="en-US" sz="1000"/>
          </a:p>
        </p:txBody>
      </p:sp>
      <p:sp>
        <p:nvSpPr>
          <p:cNvPr id="9226" name="Text Box 39"/>
          <p:cNvSpPr txBox="1">
            <a:spLocks noChangeArrowheads="1"/>
          </p:cNvSpPr>
          <p:nvPr/>
        </p:nvSpPr>
        <p:spPr bwMode="auto">
          <a:xfrm>
            <a:off x="539750" y="3213100"/>
            <a:ext cx="4248150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tabLst>
                <a:tab pos="895350" algn="l"/>
                <a:tab pos="2335213" algn="l"/>
                <a:tab pos="3228975" algn="l"/>
              </a:tabLst>
            </a:pPr>
            <a:r>
              <a:rPr lang="en-GB" sz="1200" b="1"/>
              <a:t>Account	Document Ref	Type	Amount</a:t>
            </a:r>
          </a:p>
          <a:p>
            <a:pPr algn="l">
              <a:spcBef>
                <a:spcPct val="50000"/>
              </a:spcBef>
              <a:tabLst>
                <a:tab pos="895350" algn="l"/>
                <a:tab pos="2335213" algn="l"/>
                <a:tab pos="3228975" algn="l"/>
              </a:tabLst>
            </a:pPr>
            <a:r>
              <a:rPr lang="en-GB" sz="1200"/>
              <a:t>DDAVIS	SND0000001	GROSS	120.00</a:t>
            </a:r>
          </a:p>
          <a:p>
            <a:pPr algn="l">
              <a:spcBef>
                <a:spcPct val="50000"/>
              </a:spcBef>
              <a:tabLst>
                <a:tab pos="895350" algn="l"/>
                <a:tab pos="2335213" algn="l"/>
                <a:tab pos="3228975" algn="l"/>
              </a:tabLst>
            </a:pPr>
            <a:r>
              <a:rPr lang="en-GB" sz="1200"/>
              <a:t>DDAVIS	SND0000001	TAX	20.00</a:t>
            </a:r>
          </a:p>
          <a:p>
            <a:pPr algn="l">
              <a:spcBef>
                <a:spcPct val="50000"/>
              </a:spcBef>
              <a:tabLst>
                <a:tab pos="895350" algn="l"/>
                <a:tab pos="2335213" algn="l"/>
                <a:tab pos="3228975" algn="l"/>
              </a:tabLst>
            </a:pPr>
            <a:r>
              <a:rPr lang="en-GB" sz="1200"/>
              <a:t>INCOME	SND0000001		-105.00</a:t>
            </a:r>
          </a:p>
          <a:p>
            <a:pPr algn="l">
              <a:spcBef>
                <a:spcPct val="50000"/>
              </a:spcBef>
              <a:tabLst>
                <a:tab pos="895350" algn="l"/>
                <a:tab pos="2335213" algn="l"/>
                <a:tab pos="3228975" algn="l"/>
              </a:tabLst>
            </a:pPr>
            <a:r>
              <a:rPr lang="en-GB" sz="1200"/>
              <a:t>TAX	SND0000001	TAX	-20.00</a:t>
            </a:r>
          </a:p>
          <a:p>
            <a:pPr algn="l">
              <a:spcBef>
                <a:spcPct val="50000"/>
              </a:spcBef>
              <a:tabLst>
                <a:tab pos="895350" algn="l"/>
                <a:tab pos="2335213" algn="l"/>
                <a:tab pos="3228975" algn="l"/>
              </a:tabLst>
            </a:pPr>
            <a:r>
              <a:rPr lang="en-GB" sz="1200"/>
              <a:t>AGENT	SND0000001	COMM	-15.00</a:t>
            </a:r>
          </a:p>
        </p:txBody>
      </p:sp>
      <p:grpSp>
        <p:nvGrpSpPr>
          <p:cNvPr id="9227" name="Group 40"/>
          <p:cNvGrpSpPr>
            <a:grpSpLocks/>
          </p:cNvGrpSpPr>
          <p:nvPr/>
        </p:nvGrpSpPr>
        <p:grpSpPr bwMode="auto">
          <a:xfrm>
            <a:off x="5292080" y="4221088"/>
            <a:ext cx="1874837" cy="542925"/>
            <a:chOff x="4377" y="3249"/>
            <a:chExt cx="1181" cy="342"/>
          </a:xfrm>
        </p:grpSpPr>
        <p:sp>
          <p:nvSpPr>
            <p:cNvPr id="9229" name="Text Box 41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9230" name="Text Box 42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160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bACTDocumentPost</a:t>
              </a:r>
            </a:p>
          </p:txBody>
        </p:sp>
      </p:grpSp>
      <p:sp>
        <p:nvSpPr>
          <p:cNvPr id="9228" name="Text Box 43"/>
          <p:cNvSpPr txBox="1">
            <a:spLocks noChangeArrowheads="1"/>
          </p:cNvSpPr>
          <p:nvPr/>
        </p:nvSpPr>
        <p:spPr bwMode="auto">
          <a:xfrm>
            <a:off x="539750" y="5516563"/>
            <a:ext cx="6048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1400">
                <a:solidFill>
                  <a:schemeClr val="tx1"/>
                </a:solidFill>
              </a:rPr>
              <a:t>Example: bACTCashListPost.Automated.PostUnallocatedCash</a:t>
            </a:r>
            <a:r>
              <a:rPr lang="en-GB" sz="1400"/>
              <a:t> </a:t>
            </a:r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51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51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40" grpId="0" animBg="1"/>
      <p:bldP spid="551945" grpId="0" animBg="1"/>
      <p:bldP spid="551949" grpId="0" animBg="1"/>
      <p:bldP spid="551950" grpId="0" animBg="1"/>
      <p:bldP spid="551950" grpId="1" animBg="1"/>
      <p:bldP spid="551961" grpId="0" animBg="1"/>
      <p:bldP spid="55196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Allocation</a:t>
            </a:r>
            <a:endParaRPr lang="en-US" smtClean="0"/>
          </a:p>
        </p:txBody>
      </p:sp>
      <p:sp>
        <p:nvSpPr>
          <p:cNvPr id="556035" name="Rectangle 3"/>
          <p:cNvSpPr>
            <a:spLocks noChangeArrowheads="1"/>
          </p:cNvSpPr>
          <p:nvPr/>
        </p:nvSpPr>
        <p:spPr bwMode="auto">
          <a:xfrm>
            <a:off x="4427538" y="3068638"/>
            <a:ext cx="1150937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TransMatch</a:t>
            </a:r>
          </a:p>
        </p:txBody>
      </p:sp>
      <p:sp>
        <p:nvSpPr>
          <p:cNvPr id="556036" name="Rectangle 4"/>
          <p:cNvSpPr>
            <a:spLocks noChangeArrowheads="1"/>
          </p:cNvSpPr>
          <p:nvPr/>
        </p:nvSpPr>
        <p:spPr bwMode="auto">
          <a:xfrm>
            <a:off x="4427538" y="1989138"/>
            <a:ext cx="1150937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MatchGroup</a:t>
            </a:r>
          </a:p>
        </p:txBody>
      </p:sp>
      <p:sp>
        <p:nvSpPr>
          <p:cNvPr id="556037" name="Rectangle 5"/>
          <p:cNvSpPr>
            <a:spLocks noChangeArrowheads="1"/>
          </p:cNvSpPr>
          <p:nvPr/>
        </p:nvSpPr>
        <p:spPr bwMode="auto">
          <a:xfrm>
            <a:off x="1116013" y="1989138"/>
            <a:ext cx="1223962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Allocation</a:t>
            </a:r>
          </a:p>
        </p:txBody>
      </p:sp>
      <p:sp>
        <p:nvSpPr>
          <p:cNvPr id="556038" name="Line 6"/>
          <p:cNvSpPr>
            <a:spLocks noChangeShapeType="1"/>
          </p:cNvSpPr>
          <p:nvPr/>
        </p:nvSpPr>
        <p:spPr bwMode="auto">
          <a:xfrm>
            <a:off x="1763713" y="2349500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1187450" y="2565400"/>
            <a:ext cx="11525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allocation_id </a:t>
            </a:r>
            <a:endParaRPr lang="en-US" sz="1000"/>
          </a:p>
        </p:txBody>
      </p:sp>
      <p:sp>
        <p:nvSpPr>
          <p:cNvPr id="556040" name="Line 8"/>
          <p:cNvSpPr>
            <a:spLocks noChangeShapeType="1"/>
          </p:cNvSpPr>
          <p:nvPr/>
        </p:nvSpPr>
        <p:spPr bwMode="auto">
          <a:xfrm flipV="1">
            <a:off x="5003800" y="2349500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4500563" y="2565400"/>
            <a:ext cx="935037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match_id</a:t>
            </a:r>
            <a:endParaRPr lang="en-US" sz="1000"/>
          </a:p>
        </p:txBody>
      </p:sp>
      <p:sp>
        <p:nvSpPr>
          <p:cNvPr id="556043" name="Rectangle 11"/>
          <p:cNvSpPr>
            <a:spLocks noChangeArrowheads="1"/>
          </p:cNvSpPr>
          <p:nvPr/>
        </p:nvSpPr>
        <p:spPr bwMode="auto">
          <a:xfrm>
            <a:off x="1039813" y="3068638"/>
            <a:ext cx="144462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AllocationDetail</a:t>
            </a:r>
          </a:p>
        </p:txBody>
      </p:sp>
      <p:sp>
        <p:nvSpPr>
          <p:cNvPr id="556044" name="Rectangle 12"/>
          <p:cNvSpPr>
            <a:spLocks noChangeArrowheads="1"/>
          </p:cNvSpPr>
          <p:nvPr/>
        </p:nvSpPr>
        <p:spPr bwMode="auto">
          <a:xfrm>
            <a:off x="2987675" y="4581525"/>
            <a:ext cx="1150938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TransDetail</a:t>
            </a:r>
          </a:p>
        </p:txBody>
      </p:sp>
      <p:sp>
        <p:nvSpPr>
          <p:cNvPr id="556045" name="Line 13"/>
          <p:cNvSpPr>
            <a:spLocks noChangeShapeType="1"/>
          </p:cNvSpPr>
          <p:nvPr/>
        </p:nvSpPr>
        <p:spPr bwMode="auto">
          <a:xfrm flipH="1" flipV="1">
            <a:off x="1763713" y="3429000"/>
            <a:ext cx="1223962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3" name="Text Box 14"/>
          <p:cNvSpPr txBox="1">
            <a:spLocks noChangeArrowheads="1"/>
          </p:cNvSpPr>
          <p:nvPr/>
        </p:nvSpPr>
        <p:spPr bwMode="auto">
          <a:xfrm>
            <a:off x="1908175" y="3716338"/>
            <a:ext cx="935038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transdetail_id</a:t>
            </a:r>
            <a:endParaRPr lang="en-US" sz="1000"/>
          </a:p>
        </p:txBody>
      </p:sp>
      <p:sp>
        <p:nvSpPr>
          <p:cNvPr id="556047" name="Line 15"/>
          <p:cNvSpPr>
            <a:spLocks noChangeShapeType="1"/>
          </p:cNvSpPr>
          <p:nvPr/>
        </p:nvSpPr>
        <p:spPr bwMode="auto">
          <a:xfrm flipH="1">
            <a:off x="2484438" y="3286125"/>
            <a:ext cx="194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5" name="Text Box 16"/>
          <p:cNvSpPr txBox="1">
            <a:spLocks noChangeArrowheads="1"/>
          </p:cNvSpPr>
          <p:nvPr/>
        </p:nvSpPr>
        <p:spPr bwMode="auto">
          <a:xfrm>
            <a:off x="2844800" y="3141663"/>
            <a:ext cx="1296988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allocationdetail_id</a:t>
            </a:r>
            <a:endParaRPr lang="en-US" sz="1000"/>
          </a:p>
        </p:txBody>
      </p:sp>
      <p:sp>
        <p:nvSpPr>
          <p:cNvPr id="556049" name="Line 17"/>
          <p:cNvSpPr>
            <a:spLocks noChangeShapeType="1"/>
          </p:cNvSpPr>
          <p:nvPr/>
        </p:nvSpPr>
        <p:spPr bwMode="auto">
          <a:xfrm flipV="1">
            <a:off x="4140200" y="3429000"/>
            <a:ext cx="792163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57" name="Text Box 18"/>
          <p:cNvSpPr txBox="1">
            <a:spLocks noChangeArrowheads="1"/>
          </p:cNvSpPr>
          <p:nvPr/>
        </p:nvSpPr>
        <p:spPr bwMode="auto">
          <a:xfrm>
            <a:off x="4140200" y="3716338"/>
            <a:ext cx="935038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transdetail_id</a:t>
            </a:r>
            <a:endParaRPr lang="en-US" sz="1000"/>
          </a:p>
        </p:txBody>
      </p:sp>
      <p:sp>
        <p:nvSpPr>
          <p:cNvPr id="10258" name="Rectangle 19"/>
          <p:cNvSpPr>
            <a:spLocks noChangeArrowheads="1"/>
          </p:cNvSpPr>
          <p:nvPr/>
        </p:nvSpPr>
        <p:spPr bwMode="auto">
          <a:xfrm>
            <a:off x="468313" y="1196975"/>
            <a:ext cx="8064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1800" dirty="0"/>
              <a:t>Linking one-many </a:t>
            </a:r>
            <a:r>
              <a:rPr lang="en-GB" sz="1800" dirty="0" err="1"/>
              <a:t>TransDetail</a:t>
            </a:r>
            <a:r>
              <a:rPr lang="en-GB" sz="1800" dirty="0"/>
              <a:t> records to one-many others.</a:t>
            </a:r>
          </a:p>
        </p:txBody>
      </p:sp>
      <p:sp>
        <p:nvSpPr>
          <p:cNvPr id="556052" name="Line 20"/>
          <p:cNvSpPr>
            <a:spLocks noChangeShapeType="1"/>
          </p:cNvSpPr>
          <p:nvPr/>
        </p:nvSpPr>
        <p:spPr bwMode="auto">
          <a:xfrm>
            <a:off x="1690688" y="3429000"/>
            <a:ext cx="4762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0" name="Text Box 21"/>
          <p:cNvSpPr txBox="1">
            <a:spLocks noChangeArrowheads="1"/>
          </p:cNvSpPr>
          <p:nvPr/>
        </p:nvSpPr>
        <p:spPr bwMode="auto">
          <a:xfrm>
            <a:off x="971550" y="4078288"/>
            <a:ext cx="14478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write_off_reason_id </a:t>
            </a:r>
            <a:endParaRPr lang="en-US" sz="1000"/>
          </a:p>
        </p:txBody>
      </p:sp>
      <p:sp>
        <p:nvSpPr>
          <p:cNvPr id="556054" name="Rectangle 22"/>
          <p:cNvSpPr>
            <a:spLocks noChangeArrowheads="1"/>
          </p:cNvSpPr>
          <p:nvPr/>
        </p:nvSpPr>
        <p:spPr bwMode="auto">
          <a:xfrm>
            <a:off x="827088" y="4581525"/>
            <a:ext cx="17335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Write_Off_Reason</a:t>
            </a:r>
          </a:p>
        </p:txBody>
      </p:sp>
      <p:grpSp>
        <p:nvGrpSpPr>
          <p:cNvPr id="10262" name="Group 23"/>
          <p:cNvGrpSpPr>
            <a:grpSpLocks/>
          </p:cNvGrpSpPr>
          <p:nvPr/>
        </p:nvGrpSpPr>
        <p:grpSpPr bwMode="auto">
          <a:xfrm>
            <a:off x="5508104" y="4437112"/>
            <a:ext cx="1874837" cy="1228725"/>
            <a:chOff x="4377" y="3249"/>
            <a:chExt cx="1181" cy="774"/>
          </a:xfrm>
        </p:grpSpPr>
        <p:sp>
          <p:nvSpPr>
            <p:cNvPr id="10263" name="Text Box 24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0264" name="Text Box 25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592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bACTAllocationManual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bACTAllocationPost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bACTAllocation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iACTAllocation</a:t>
              </a:r>
              <a:endParaRPr lang="en-GB" sz="1000" b="1" dirty="0">
                <a:solidFill>
                  <a:srgbClr val="333333"/>
                </a:solidFill>
              </a:endParaRP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56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56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56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56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56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56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6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6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56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56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56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56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56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56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56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56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56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56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56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5" grpId="0" animBg="1"/>
      <p:bldP spid="556036" grpId="0" animBg="1"/>
      <p:bldP spid="556037" grpId="0" animBg="1"/>
      <p:bldP spid="556038" grpId="0" animBg="1"/>
      <p:bldP spid="556038" grpId="1" animBg="1"/>
      <p:bldP spid="556040" grpId="0" animBg="1"/>
      <p:bldP spid="556040" grpId="1" animBg="1"/>
      <p:bldP spid="556043" grpId="0" animBg="1"/>
      <p:bldP spid="556044" grpId="0" animBg="1"/>
      <p:bldP spid="556045" grpId="0" animBg="1"/>
      <p:bldP spid="556045" grpId="1" animBg="1"/>
      <p:bldP spid="556047" grpId="0" animBg="1"/>
      <p:bldP spid="556047" grpId="1" animBg="1"/>
      <p:bldP spid="556049" grpId="0" animBg="1"/>
      <p:bldP spid="556049" grpId="1" animBg="1"/>
      <p:bldP spid="556052" grpId="0" animBg="1"/>
      <p:bldP spid="556052" grpId="1" animBg="1"/>
      <p:bldP spid="5560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Data Flow from Back Office</a:t>
            </a:r>
            <a:endParaRPr lang="en-US" smtClean="0"/>
          </a:p>
        </p:txBody>
      </p:sp>
      <p:sp>
        <p:nvSpPr>
          <p:cNvPr id="536580" name="Rectangle 4"/>
          <p:cNvSpPr>
            <a:spLocks noChangeArrowheads="1"/>
          </p:cNvSpPr>
          <p:nvPr/>
        </p:nvSpPr>
        <p:spPr bwMode="auto">
          <a:xfrm>
            <a:off x="5287963" y="1268413"/>
            <a:ext cx="1733550" cy="2533650"/>
          </a:xfrm>
          <a:prstGeom prst="rect">
            <a:avLst/>
          </a:prstGeom>
          <a:solidFill>
            <a:srgbClr val="000080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36581" name="Rectangle 5"/>
          <p:cNvSpPr>
            <a:spLocks noChangeArrowheads="1"/>
          </p:cNvSpPr>
          <p:nvPr/>
        </p:nvSpPr>
        <p:spPr bwMode="auto">
          <a:xfrm>
            <a:off x="5599113" y="2241550"/>
            <a:ext cx="115093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TransDetail</a:t>
            </a:r>
          </a:p>
        </p:txBody>
      </p:sp>
      <p:sp>
        <p:nvSpPr>
          <p:cNvPr id="536582" name="Rectangle 6"/>
          <p:cNvSpPr>
            <a:spLocks noChangeArrowheads="1"/>
          </p:cNvSpPr>
          <p:nvPr/>
        </p:nvSpPr>
        <p:spPr bwMode="auto">
          <a:xfrm>
            <a:off x="5603875" y="2984500"/>
            <a:ext cx="1150938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Document</a:t>
            </a:r>
          </a:p>
        </p:txBody>
      </p:sp>
      <p:sp>
        <p:nvSpPr>
          <p:cNvPr id="536583" name="Line 7"/>
          <p:cNvSpPr>
            <a:spLocks noChangeShapeType="1"/>
          </p:cNvSpPr>
          <p:nvPr/>
        </p:nvSpPr>
        <p:spPr bwMode="auto">
          <a:xfrm>
            <a:off x="6164263" y="2603500"/>
            <a:ext cx="0" cy="382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6584" name="Text Box 8"/>
          <p:cNvSpPr txBox="1">
            <a:spLocks noChangeArrowheads="1"/>
          </p:cNvSpPr>
          <p:nvPr/>
        </p:nvSpPr>
        <p:spPr bwMode="auto">
          <a:xfrm>
            <a:off x="5508625" y="3500438"/>
            <a:ext cx="8778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GB" sz="1200" b="1">
                <a:solidFill>
                  <a:schemeClr val="tx1"/>
                </a:solidFill>
              </a:rPr>
              <a:t>Accounts</a:t>
            </a:r>
          </a:p>
        </p:txBody>
      </p:sp>
      <p:sp>
        <p:nvSpPr>
          <p:cNvPr id="536585" name="Rectangle 9"/>
          <p:cNvSpPr>
            <a:spLocks noChangeArrowheads="1"/>
          </p:cNvSpPr>
          <p:nvPr/>
        </p:nvSpPr>
        <p:spPr bwMode="auto">
          <a:xfrm>
            <a:off x="5599113" y="1506538"/>
            <a:ext cx="1150937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Account</a:t>
            </a:r>
          </a:p>
        </p:txBody>
      </p:sp>
      <p:sp>
        <p:nvSpPr>
          <p:cNvPr id="536586" name="Line 10"/>
          <p:cNvSpPr>
            <a:spLocks noChangeShapeType="1"/>
          </p:cNvSpPr>
          <p:nvPr/>
        </p:nvSpPr>
        <p:spPr bwMode="auto">
          <a:xfrm>
            <a:off x="6169025" y="1862138"/>
            <a:ext cx="0" cy="382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36587" name="Rectangle 11"/>
          <p:cNvSpPr>
            <a:spLocks noChangeArrowheads="1"/>
          </p:cNvSpPr>
          <p:nvPr/>
        </p:nvSpPr>
        <p:spPr bwMode="auto">
          <a:xfrm>
            <a:off x="2544763" y="1268413"/>
            <a:ext cx="2533650" cy="2533650"/>
          </a:xfrm>
          <a:prstGeom prst="rect">
            <a:avLst/>
          </a:prstGeom>
          <a:solidFill>
            <a:srgbClr val="000000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36588" name="Rectangle 12"/>
          <p:cNvSpPr>
            <a:spLocks noChangeArrowheads="1"/>
          </p:cNvSpPr>
          <p:nvPr/>
        </p:nvSpPr>
        <p:spPr bwMode="auto">
          <a:xfrm>
            <a:off x="2674938" y="2241550"/>
            <a:ext cx="231140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Transaction_Export_Detail</a:t>
            </a:r>
          </a:p>
        </p:txBody>
      </p:sp>
      <p:sp>
        <p:nvSpPr>
          <p:cNvPr id="536589" name="Rectangle 13"/>
          <p:cNvSpPr>
            <a:spLocks noChangeArrowheads="1"/>
          </p:cNvSpPr>
          <p:nvPr/>
        </p:nvSpPr>
        <p:spPr bwMode="auto">
          <a:xfrm>
            <a:off x="2670175" y="2984500"/>
            <a:ext cx="2330450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Transaction_Export_Folder</a:t>
            </a:r>
          </a:p>
        </p:txBody>
      </p:sp>
      <p:sp>
        <p:nvSpPr>
          <p:cNvPr id="536590" name="Line 14"/>
          <p:cNvSpPr>
            <a:spLocks noChangeShapeType="1"/>
          </p:cNvSpPr>
          <p:nvPr/>
        </p:nvSpPr>
        <p:spPr bwMode="auto">
          <a:xfrm>
            <a:off x="3821113" y="2603500"/>
            <a:ext cx="0" cy="382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6591" name="Text Box 15"/>
          <p:cNvSpPr txBox="1">
            <a:spLocks noChangeArrowheads="1"/>
          </p:cNvSpPr>
          <p:nvPr/>
        </p:nvSpPr>
        <p:spPr bwMode="auto">
          <a:xfrm>
            <a:off x="2586038" y="3492500"/>
            <a:ext cx="20589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GB" sz="1200" b="1">
                <a:solidFill>
                  <a:schemeClr val="tx1"/>
                </a:solidFill>
              </a:rPr>
              <a:t>Underwriting and Broking</a:t>
            </a:r>
          </a:p>
        </p:txBody>
      </p:sp>
      <p:sp>
        <p:nvSpPr>
          <p:cNvPr id="536592" name="Rectangle 16"/>
          <p:cNvSpPr>
            <a:spLocks noChangeArrowheads="1"/>
          </p:cNvSpPr>
          <p:nvPr/>
        </p:nvSpPr>
        <p:spPr bwMode="auto">
          <a:xfrm>
            <a:off x="611188" y="1268413"/>
            <a:ext cx="1733550" cy="2533650"/>
          </a:xfrm>
          <a:prstGeom prst="rect">
            <a:avLst/>
          </a:prstGeom>
          <a:solidFill>
            <a:srgbClr val="993300">
              <a:alpha val="20000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536593" name="Rectangle 17"/>
          <p:cNvSpPr>
            <a:spLocks noChangeArrowheads="1"/>
          </p:cNvSpPr>
          <p:nvPr/>
        </p:nvSpPr>
        <p:spPr bwMode="auto">
          <a:xfrm>
            <a:off x="922338" y="2241550"/>
            <a:ext cx="115093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Stats_Detail</a:t>
            </a:r>
          </a:p>
        </p:txBody>
      </p:sp>
      <p:sp>
        <p:nvSpPr>
          <p:cNvPr id="536594" name="Rectangle 18"/>
          <p:cNvSpPr>
            <a:spLocks noChangeArrowheads="1"/>
          </p:cNvSpPr>
          <p:nvPr/>
        </p:nvSpPr>
        <p:spPr bwMode="auto">
          <a:xfrm>
            <a:off x="927100" y="2984500"/>
            <a:ext cx="1150938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Stats_Folder</a:t>
            </a:r>
          </a:p>
        </p:txBody>
      </p:sp>
      <p:sp>
        <p:nvSpPr>
          <p:cNvPr id="536595" name="Line 19"/>
          <p:cNvSpPr>
            <a:spLocks noChangeShapeType="1"/>
          </p:cNvSpPr>
          <p:nvPr/>
        </p:nvSpPr>
        <p:spPr bwMode="auto">
          <a:xfrm>
            <a:off x="1487488" y="2603500"/>
            <a:ext cx="0" cy="382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6596" name="Text Box 20"/>
          <p:cNvSpPr txBox="1">
            <a:spLocks noChangeArrowheads="1"/>
          </p:cNvSpPr>
          <p:nvPr/>
        </p:nvSpPr>
        <p:spPr bwMode="auto">
          <a:xfrm>
            <a:off x="827088" y="3500438"/>
            <a:ext cx="112553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GB" sz="1200" b="1">
                <a:solidFill>
                  <a:schemeClr val="tx1"/>
                </a:solidFill>
              </a:rPr>
              <a:t>Underwriting</a:t>
            </a:r>
          </a:p>
        </p:txBody>
      </p:sp>
      <p:sp>
        <p:nvSpPr>
          <p:cNvPr id="536597" name="Line 21"/>
          <p:cNvSpPr>
            <a:spLocks noChangeShapeType="1"/>
          </p:cNvSpPr>
          <p:nvPr/>
        </p:nvSpPr>
        <p:spPr bwMode="auto">
          <a:xfrm flipH="1">
            <a:off x="2078038" y="2414588"/>
            <a:ext cx="609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arrow" w="sm" len="lg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6598" name="Line 22"/>
          <p:cNvSpPr>
            <a:spLocks noChangeShapeType="1"/>
          </p:cNvSpPr>
          <p:nvPr/>
        </p:nvSpPr>
        <p:spPr bwMode="auto">
          <a:xfrm flipH="1">
            <a:off x="2079625" y="3165475"/>
            <a:ext cx="600075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arrow" w="sm" len="lg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6599" name="Line 23"/>
          <p:cNvSpPr>
            <a:spLocks noChangeShapeType="1"/>
          </p:cNvSpPr>
          <p:nvPr/>
        </p:nvSpPr>
        <p:spPr bwMode="auto">
          <a:xfrm flipH="1">
            <a:off x="4992688" y="2414588"/>
            <a:ext cx="6096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arrow" w="sm" len="lg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6600" name="Line 24"/>
          <p:cNvSpPr>
            <a:spLocks noChangeShapeType="1"/>
          </p:cNvSpPr>
          <p:nvPr/>
        </p:nvSpPr>
        <p:spPr bwMode="auto">
          <a:xfrm flipH="1">
            <a:off x="4994275" y="3165475"/>
            <a:ext cx="600075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 type="arrow" w="sm" len="lg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6601" name="Line 25"/>
          <p:cNvSpPr>
            <a:spLocks noChangeShapeType="1"/>
          </p:cNvSpPr>
          <p:nvPr/>
        </p:nvSpPr>
        <p:spPr bwMode="auto">
          <a:xfrm>
            <a:off x="5176838" y="1125538"/>
            <a:ext cx="0" cy="28797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6603" name="Text Box 27"/>
          <p:cNvSpPr txBox="1">
            <a:spLocks noChangeArrowheads="1"/>
          </p:cNvSpPr>
          <p:nvPr/>
        </p:nvSpPr>
        <p:spPr bwMode="auto">
          <a:xfrm>
            <a:off x="611188" y="4149725"/>
            <a:ext cx="35290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GB" sz="1400" b="1">
                <a:solidFill>
                  <a:schemeClr val="tx1"/>
                </a:solidFill>
              </a:rPr>
              <a:t>Non-Party accounts auto-generated</a:t>
            </a:r>
          </a:p>
        </p:txBody>
      </p:sp>
      <p:sp>
        <p:nvSpPr>
          <p:cNvPr id="536604" name="Text Box 28"/>
          <p:cNvSpPr txBox="1">
            <a:spLocks noChangeArrowheads="1"/>
          </p:cNvSpPr>
          <p:nvPr/>
        </p:nvSpPr>
        <p:spPr bwMode="auto">
          <a:xfrm>
            <a:off x="611188" y="4437063"/>
            <a:ext cx="8208962" cy="137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l" eaLnBrk="0" hangingPunct="0">
              <a:buFontTx/>
              <a:buAutoNum type="arabicPeriod"/>
            </a:pPr>
            <a:r>
              <a:rPr lang="en-GB" sz="1200">
                <a:solidFill>
                  <a:schemeClr val="tx1"/>
                </a:solidFill>
              </a:rPr>
              <a:t>Transaction_Export_Detail.mapping_code -&gt; Export_Map_Detail.target_field_name</a:t>
            </a:r>
          </a:p>
          <a:p>
            <a:pPr marL="342900" indent="-342900" algn="l" eaLnBrk="0" hangingPunct="0">
              <a:buFontTx/>
              <a:buAutoNum type="arabicPeriod"/>
            </a:pPr>
            <a:r>
              <a:rPr lang="en-GB" sz="1200">
                <a:solidFill>
                  <a:schemeClr val="tx1"/>
                </a:solidFill>
              </a:rPr>
              <a:t>Export_Map_Detail.export_map_detail_id -&gt; Export_Map_Format.export_map_detail_id</a:t>
            </a:r>
          </a:p>
          <a:p>
            <a:pPr marL="342900" indent="-342900" algn="l" eaLnBrk="0" hangingPunct="0">
              <a:buFontTx/>
              <a:buAutoNum type="arabicPeriod"/>
            </a:pPr>
            <a:r>
              <a:rPr lang="en-GB" sz="1200">
                <a:solidFill>
                  <a:schemeClr val="tx1"/>
                </a:solidFill>
              </a:rPr>
              <a:t>Export_Map_Format.Sequence = 1 -&gt; Account Type</a:t>
            </a:r>
            <a:br>
              <a:rPr lang="en-GB" sz="1200">
                <a:solidFill>
                  <a:schemeClr val="tx1"/>
                </a:solidFill>
              </a:rPr>
            </a:br>
            <a:r>
              <a:rPr lang="en-GB" sz="1200">
                <a:solidFill>
                  <a:schemeClr val="tx1"/>
                </a:solidFill>
              </a:rPr>
              <a:t>Export_Map</a:t>
            </a:r>
            <a:r>
              <a:rPr lang="en-GB" sz="1200">
                <a:solidFill>
                  <a:schemeClr val="tx1"/>
                </a:solidFill>
                <a:ea typeface="新細明體" charset="-120"/>
              </a:rPr>
              <a:t>_</a:t>
            </a:r>
            <a:r>
              <a:rPr lang="en-GB" sz="1200">
                <a:solidFill>
                  <a:schemeClr val="tx1"/>
                </a:solidFill>
              </a:rPr>
              <a:t>Format.Sequence = 2 -&gt; Export_Map_Format.leading_characters -&gt; Map</a:t>
            </a:r>
            <a:r>
              <a:rPr lang="en-US" sz="1200">
                <a:solidFill>
                  <a:schemeClr val="tx1"/>
                </a:solidFill>
              </a:rPr>
              <a:t>p</a:t>
            </a:r>
            <a:r>
              <a:rPr lang="en-GB" sz="1200">
                <a:solidFill>
                  <a:schemeClr val="tx1"/>
                </a:solidFill>
              </a:rPr>
              <a:t>ing.description</a:t>
            </a:r>
          </a:p>
          <a:p>
            <a:pPr marL="342900" indent="-342900" algn="l" eaLnBrk="0" hangingPunct="0">
              <a:buFontTx/>
              <a:buAutoNum type="arabicPeriod"/>
            </a:pPr>
            <a:r>
              <a:rPr lang="en-US" sz="1200">
                <a:solidFill>
                  <a:schemeClr val="tx1"/>
                </a:solidFill>
              </a:rPr>
              <a:t>M</a:t>
            </a:r>
            <a:r>
              <a:rPr lang="en-GB" sz="1200">
                <a:solidFill>
                  <a:schemeClr val="tx1"/>
                </a:solidFill>
              </a:rPr>
              <a:t>apping.mapping_id = StructureTree.mapping_id</a:t>
            </a:r>
          </a:p>
          <a:p>
            <a:pPr marL="342900" indent="-342900" algn="l" eaLnBrk="0" hangingPunct="0">
              <a:buFontTx/>
              <a:buAutoNum type="arabicPeriod"/>
            </a:pPr>
            <a:r>
              <a:rPr lang="en-GB" sz="1200">
                <a:solidFill>
                  <a:schemeClr val="tx1"/>
                </a:solidFill>
              </a:rPr>
              <a:t>StructureTree.node_id -&gt; parent_node_id of record</a:t>
            </a:r>
          </a:p>
          <a:p>
            <a:pPr marL="342900" indent="-342900" algn="l" eaLnBrk="0" hangingPunct="0">
              <a:buFontTx/>
              <a:buAutoNum type="arabicPeriod"/>
            </a:pPr>
            <a:endParaRPr lang="en-GB" sz="1200">
              <a:solidFill>
                <a:schemeClr val="tx1"/>
              </a:solidFill>
            </a:endParaRPr>
          </a:p>
        </p:txBody>
      </p:sp>
      <p:grpSp>
        <p:nvGrpSpPr>
          <p:cNvPr id="12315" name="Group 29"/>
          <p:cNvGrpSpPr>
            <a:grpSpLocks/>
          </p:cNvGrpSpPr>
          <p:nvPr/>
        </p:nvGrpSpPr>
        <p:grpSpPr bwMode="auto">
          <a:xfrm>
            <a:off x="1763688" y="5805264"/>
            <a:ext cx="1874837" cy="771525"/>
            <a:chOff x="4377" y="3249"/>
            <a:chExt cx="1181" cy="486"/>
          </a:xfrm>
        </p:grpSpPr>
        <p:sp>
          <p:nvSpPr>
            <p:cNvPr id="12316" name="Text Box 30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2317" name="Text Box 31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304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bACTImportSiriusTrans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bSIROrionLink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36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36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36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36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36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36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36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36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36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36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536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536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536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36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536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536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536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536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536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536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536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536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536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536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36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36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36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36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36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536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36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36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536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36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36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536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536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536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536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536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536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536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80" grpId="0" animBg="1"/>
      <p:bldP spid="536581" grpId="0" animBg="1"/>
      <p:bldP spid="536582" grpId="0" animBg="1"/>
      <p:bldP spid="536583" grpId="0" animBg="1"/>
      <p:bldP spid="536584" grpId="0"/>
      <p:bldP spid="536585" grpId="0" animBg="1"/>
      <p:bldP spid="536586" grpId="0" animBg="1"/>
      <p:bldP spid="536587" grpId="0" animBg="1"/>
      <p:bldP spid="536588" grpId="0" animBg="1"/>
      <p:bldP spid="536589" grpId="0" animBg="1"/>
      <p:bldP spid="536590" grpId="0" animBg="1"/>
      <p:bldP spid="536591" grpId="0"/>
      <p:bldP spid="536592" grpId="0" animBg="1"/>
      <p:bldP spid="536593" grpId="0" animBg="1"/>
      <p:bldP spid="536594" grpId="0" animBg="1"/>
      <p:bldP spid="536595" grpId="0" animBg="1"/>
      <p:bldP spid="536596" grpId="0"/>
      <p:bldP spid="536597" grpId="0" animBg="1"/>
      <p:bldP spid="536598" grpId="0" animBg="1"/>
      <p:bldP spid="536599" grpId="0" animBg="1"/>
      <p:bldP spid="536600" grpId="0" animBg="1"/>
      <p:bldP spid="536601" grpId="0" animBg="1"/>
      <p:bldP spid="536603" grpId="0"/>
      <p:bldP spid="53660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Receipts and Payments</a:t>
            </a:r>
          </a:p>
        </p:txBody>
      </p:sp>
      <p:sp>
        <p:nvSpPr>
          <p:cNvPr id="553988" name="Rectangle 4"/>
          <p:cNvSpPr>
            <a:spLocks noChangeArrowheads="1"/>
          </p:cNvSpPr>
          <p:nvPr/>
        </p:nvSpPr>
        <p:spPr bwMode="auto">
          <a:xfrm>
            <a:off x="1763713" y="3716338"/>
            <a:ext cx="1150937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TransDetail</a:t>
            </a:r>
          </a:p>
        </p:txBody>
      </p:sp>
      <p:sp>
        <p:nvSpPr>
          <p:cNvPr id="553989" name="Rectangle 5"/>
          <p:cNvSpPr>
            <a:spLocks noChangeArrowheads="1"/>
          </p:cNvSpPr>
          <p:nvPr/>
        </p:nvSpPr>
        <p:spPr bwMode="auto">
          <a:xfrm>
            <a:off x="3276600" y="2493963"/>
            <a:ext cx="1150938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CashListItem</a:t>
            </a:r>
          </a:p>
        </p:txBody>
      </p:sp>
      <p:sp>
        <p:nvSpPr>
          <p:cNvPr id="553990" name="Rectangle 6"/>
          <p:cNvSpPr>
            <a:spLocks noChangeArrowheads="1"/>
          </p:cNvSpPr>
          <p:nvPr/>
        </p:nvSpPr>
        <p:spPr bwMode="auto">
          <a:xfrm>
            <a:off x="900113" y="2492375"/>
            <a:ext cx="1223962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Account</a:t>
            </a:r>
          </a:p>
        </p:txBody>
      </p:sp>
      <p:sp>
        <p:nvSpPr>
          <p:cNvPr id="553991" name="Line 7"/>
          <p:cNvSpPr>
            <a:spLocks noChangeShapeType="1"/>
          </p:cNvSpPr>
          <p:nvPr/>
        </p:nvSpPr>
        <p:spPr bwMode="auto">
          <a:xfrm>
            <a:off x="1476375" y="2852738"/>
            <a:ext cx="4318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9" name="Text Box 8"/>
          <p:cNvSpPr txBox="1">
            <a:spLocks noChangeArrowheads="1"/>
          </p:cNvSpPr>
          <p:nvPr/>
        </p:nvSpPr>
        <p:spPr bwMode="auto">
          <a:xfrm>
            <a:off x="1042988" y="3141663"/>
            <a:ext cx="11525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account_id </a:t>
            </a:r>
            <a:endParaRPr lang="en-US" sz="1000"/>
          </a:p>
        </p:txBody>
      </p:sp>
      <p:sp>
        <p:nvSpPr>
          <p:cNvPr id="553993" name="Line 9"/>
          <p:cNvSpPr>
            <a:spLocks noChangeShapeType="1"/>
          </p:cNvSpPr>
          <p:nvPr/>
        </p:nvSpPr>
        <p:spPr bwMode="auto">
          <a:xfrm flipV="1">
            <a:off x="2843213" y="2852738"/>
            <a:ext cx="5048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1" name="Text Box 10"/>
          <p:cNvSpPr txBox="1">
            <a:spLocks noChangeArrowheads="1"/>
          </p:cNvSpPr>
          <p:nvPr/>
        </p:nvSpPr>
        <p:spPr bwMode="auto">
          <a:xfrm>
            <a:off x="2484438" y="3141663"/>
            <a:ext cx="1008062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000"/>
              <a:t>transdetail_id</a:t>
            </a:r>
            <a:endParaRPr lang="en-US" sz="1000"/>
          </a:p>
        </p:txBody>
      </p:sp>
      <p:sp>
        <p:nvSpPr>
          <p:cNvPr id="553995" name="Rectangle 11"/>
          <p:cNvSpPr>
            <a:spLocks noChangeArrowheads="1"/>
          </p:cNvSpPr>
          <p:nvPr/>
        </p:nvSpPr>
        <p:spPr bwMode="auto">
          <a:xfrm>
            <a:off x="3276600" y="1414463"/>
            <a:ext cx="1150938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CashList</a:t>
            </a:r>
          </a:p>
        </p:txBody>
      </p:sp>
      <p:sp>
        <p:nvSpPr>
          <p:cNvPr id="553996" name="Line 12"/>
          <p:cNvSpPr>
            <a:spLocks noChangeShapeType="1"/>
          </p:cNvSpPr>
          <p:nvPr/>
        </p:nvSpPr>
        <p:spPr bwMode="auto">
          <a:xfrm flipV="1">
            <a:off x="3852863" y="1774825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4" name="Text Box 13"/>
          <p:cNvSpPr txBox="1">
            <a:spLocks noChangeArrowheads="1"/>
          </p:cNvSpPr>
          <p:nvPr/>
        </p:nvSpPr>
        <p:spPr bwMode="auto">
          <a:xfrm>
            <a:off x="3349625" y="1990725"/>
            <a:ext cx="1008063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cashlist_id</a:t>
            </a:r>
            <a:endParaRPr lang="en-US" sz="1000"/>
          </a:p>
        </p:txBody>
      </p:sp>
      <p:sp>
        <p:nvSpPr>
          <p:cNvPr id="553998" name="Line 14"/>
          <p:cNvSpPr>
            <a:spLocks noChangeShapeType="1"/>
          </p:cNvSpPr>
          <p:nvPr/>
        </p:nvSpPr>
        <p:spPr bwMode="auto">
          <a:xfrm>
            <a:off x="2124075" y="2636838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6" name="Text Box 15"/>
          <p:cNvSpPr txBox="1">
            <a:spLocks noChangeArrowheads="1"/>
          </p:cNvSpPr>
          <p:nvPr/>
        </p:nvSpPr>
        <p:spPr bwMode="auto">
          <a:xfrm>
            <a:off x="2268538" y="2492375"/>
            <a:ext cx="8636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account_id </a:t>
            </a:r>
            <a:endParaRPr lang="en-US" sz="1000"/>
          </a:p>
        </p:txBody>
      </p:sp>
      <p:sp>
        <p:nvSpPr>
          <p:cNvPr id="554000" name="Rectangle 16"/>
          <p:cNvSpPr>
            <a:spLocks noChangeArrowheads="1"/>
          </p:cNvSpPr>
          <p:nvPr/>
        </p:nvSpPr>
        <p:spPr bwMode="auto">
          <a:xfrm>
            <a:off x="684213" y="1412875"/>
            <a:ext cx="1150937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BankAccount</a:t>
            </a:r>
          </a:p>
        </p:txBody>
      </p:sp>
      <p:sp>
        <p:nvSpPr>
          <p:cNvPr id="554001" name="Line 17"/>
          <p:cNvSpPr>
            <a:spLocks noChangeShapeType="1"/>
          </p:cNvSpPr>
          <p:nvPr/>
        </p:nvSpPr>
        <p:spPr bwMode="auto">
          <a:xfrm>
            <a:off x="1836738" y="1628775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9" name="Text Box 18"/>
          <p:cNvSpPr txBox="1">
            <a:spLocks noChangeArrowheads="1"/>
          </p:cNvSpPr>
          <p:nvPr/>
        </p:nvSpPr>
        <p:spPr bwMode="auto">
          <a:xfrm>
            <a:off x="2052638" y="1484313"/>
            <a:ext cx="10795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bankaccount_id </a:t>
            </a:r>
            <a:endParaRPr lang="en-US" sz="1000"/>
          </a:p>
        </p:txBody>
      </p:sp>
      <p:sp>
        <p:nvSpPr>
          <p:cNvPr id="554003" name="Line 19"/>
          <p:cNvSpPr>
            <a:spLocks noChangeShapeType="1"/>
          </p:cNvSpPr>
          <p:nvPr/>
        </p:nvSpPr>
        <p:spPr bwMode="auto">
          <a:xfrm>
            <a:off x="1258888" y="1773238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1" name="Text Box 20"/>
          <p:cNvSpPr txBox="1">
            <a:spLocks noChangeArrowheads="1"/>
          </p:cNvSpPr>
          <p:nvPr/>
        </p:nvSpPr>
        <p:spPr bwMode="auto">
          <a:xfrm>
            <a:off x="900113" y="1989138"/>
            <a:ext cx="8636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account_id </a:t>
            </a:r>
            <a:endParaRPr lang="en-US" sz="1000"/>
          </a:p>
        </p:txBody>
      </p:sp>
      <p:sp>
        <p:nvSpPr>
          <p:cNvPr id="554005" name="Rectangle 21"/>
          <p:cNvSpPr>
            <a:spLocks noChangeArrowheads="1"/>
          </p:cNvSpPr>
          <p:nvPr/>
        </p:nvSpPr>
        <p:spPr bwMode="auto">
          <a:xfrm>
            <a:off x="5219700" y="1557338"/>
            <a:ext cx="1150938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MediaType</a:t>
            </a:r>
          </a:p>
        </p:txBody>
      </p:sp>
      <p:sp>
        <p:nvSpPr>
          <p:cNvPr id="554006" name="Rectangle 22"/>
          <p:cNvSpPr>
            <a:spLocks noChangeArrowheads="1"/>
          </p:cNvSpPr>
          <p:nvPr/>
        </p:nvSpPr>
        <p:spPr bwMode="auto">
          <a:xfrm>
            <a:off x="5003800" y="2492375"/>
            <a:ext cx="180022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MediaType_Validation</a:t>
            </a:r>
          </a:p>
        </p:txBody>
      </p:sp>
      <p:sp>
        <p:nvSpPr>
          <p:cNvPr id="554007" name="Line 23"/>
          <p:cNvSpPr>
            <a:spLocks noChangeShapeType="1"/>
          </p:cNvSpPr>
          <p:nvPr/>
        </p:nvSpPr>
        <p:spPr bwMode="auto">
          <a:xfrm flipV="1">
            <a:off x="4356100" y="1916113"/>
            <a:ext cx="86360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5" name="Text Box 24"/>
          <p:cNvSpPr txBox="1">
            <a:spLocks noChangeArrowheads="1"/>
          </p:cNvSpPr>
          <p:nvPr/>
        </p:nvSpPr>
        <p:spPr bwMode="auto">
          <a:xfrm>
            <a:off x="4211638" y="1989138"/>
            <a:ext cx="1008062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mediatype_id</a:t>
            </a:r>
            <a:endParaRPr lang="en-US" sz="1000"/>
          </a:p>
        </p:txBody>
      </p:sp>
      <p:sp>
        <p:nvSpPr>
          <p:cNvPr id="554009" name="Line 25"/>
          <p:cNvSpPr>
            <a:spLocks noChangeShapeType="1"/>
          </p:cNvSpPr>
          <p:nvPr/>
        </p:nvSpPr>
        <p:spPr bwMode="auto">
          <a:xfrm flipH="1" flipV="1">
            <a:off x="5795963" y="1916113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4010" name="Rectangle 26"/>
          <p:cNvSpPr>
            <a:spLocks noChangeArrowheads="1"/>
          </p:cNvSpPr>
          <p:nvPr/>
        </p:nvSpPr>
        <p:spPr bwMode="auto">
          <a:xfrm>
            <a:off x="5867400" y="3429000"/>
            <a:ext cx="1800225" cy="3603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MediaType_Issuer</a:t>
            </a:r>
          </a:p>
        </p:txBody>
      </p:sp>
      <p:sp>
        <p:nvSpPr>
          <p:cNvPr id="554011" name="Line 27"/>
          <p:cNvSpPr>
            <a:spLocks noChangeShapeType="1"/>
          </p:cNvSpPr>
          <p:nvPr/>
        </p:nvSpPr>
        <p:spPr bwMode="auto">
          <a:xfrm flipH="1" flipV="1">
            <a:off x="6659563" y="285273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9" name="Text Box 28"/>
          <p:cNvSpPr txBox="1">
            <a:spLocks noChangeArrowheads="1"/>
          </p:cNvSpPr>
          <p:nvPr/>
        </p:nvSpPr>
        <p:spPr bwMode="auto">
          <a:xfrm>
            <a:off x="5076825" y="2133600"/>
            <a:ext cx="15811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mediatype_validation_id</a:t>
            </a:r>
            <a:endParaRPr lang="en-US" sz="1000"/>
          </a:p>
        </p:txBody>
      </p:sp>
      <p:sp>
        <p:nvSpPr>
          <p:cNvPr id="13340" name="Text Box 29"/>
          <p:cNvSpPr txBox="1">
            <a:spLocks noChangeArrowheads="1"/>
          </p:cNvSpPr>
          <p:nvPr/>
        </p:nvSpPr>
        <p:spPr bwMode="auto">
          <a:xfrm>
            <a:off x="5940425" y="2997200"/>
            <a:ext cx="15811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mediatype_issuer_id</a:t>
            </a:r>
            <a:endParaRPr lang="en-US" sz="1000"/>
          </a:p>
        </p:txBody>
      </p:sp>
      <p:sp>
        <p:nvSpPr>
          <p:cNvPr id="554014" name="Line 30"/>
          <p:cNvSpPr>
            <a:spLocks noChangeShapeType="1"/>
          </p:cNvSpPr>
          <p:nvPr/>
        </p:nvSpPr>
        <p:spPr bwMode="auto">
          <a:xfrm flipV="1">
            <a:off x="4067175" y="2852738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2" name="Text Box 31"/>
          <p:cNvSpPr txBox="1">
            <a:spLocks noChangeArrowheads="1"/>
          </p:cNvSpPr>
          <p:nvPr/>
        </p:nvSpPr>
        <p:spPr bwMode="auto">
          <a:xfrm>
            <a:off x="3563938" y="3141663"/>
            <a:ext cx="11525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cashlistitem_id</a:t>
            </a:r>
            <a:endParaRPr lang="en-US" sz="1000"/>
          </a:p>
        </p:txBody>
      </p:sp>
      <p:sp>
        <p:nvSpPr>
          <p:cNvPr id="554016" name="Rectangle 32"/>
          <p:cNvSpPr>
            <a:spLocks noChangeArrowheads="1"/>
          </p:cNvSpPr>
          <p:nvPr/>
        </p:nvSpPr>
        <p:spPr bwMode="auto">
          <a:xfrm>
            <a:off x="3348038" y="3716338"/>
            <a:ext cx="216217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CashListItem_Instalments</a:t>
            </a:r>
          </a:p>
        </p:txBody>
      </p:sp>
      <p:sp>
        <p:nvSpPr>
          <p:cNvPr id="554017" name="Rectangle 33"/>
          <p:cNvSpPr>
            <a:spLocks noChangeArrowheads="1"/>
          </p:cNvSpPr>
          <p:nvPr/>
        </p:nvSpPr>
        <p:spPr bwMode="auto">
          <a:xfrm>
            <a:off x="3276600" y="4652963"/>
            <a:ext cx="18002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PFInstalments</a:t>
            </a:r>
          </a:p>
        </p:txBody>
      </p:sp>
      <p:sp>
        <p:nvSpPr>
          <p:cNvPr id="554018" name="Line 34"/>
          <p:cNvSpPr>
            <a:spLocks noChangeShapeType="1"/>
          </p:cNvSpPr>
          <p:nvPr/>
        </p:nvSpPr>
        <p:spPr bwMode="auto">
          <a:xfrm flipH="1" flipV="1">
            <a:off x="4211638" y="40767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46" name="Text Box 35"/>
          <p:cNvSpPr txBox="1">
            <a:spLocks noChangeArrowheads="1"/>
          </p:cNvSpPr>
          <p:nvPr/>
        </p:nvSpPr>
        <p:spPr bwMode="auto">
          <a:xfrm>
            <a:off x="3349625" y="4221163"/>
            <a:ext cx="15811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pfinstalments_id</a:t>
            </a:r>
            <a:endParaRPr lang="en-US" sz="1000"/>
          </a:p>
        </p:txBody>
      </p:sp>
      <p:grpSp>
        <p:nvGrpSpPr>
          <p:cNvPr id="13347" name="Group 36"/>
          <p:cNvGrpSpPr>
            <a:grpSpLocks/>
          </p:cNvGrpSpPr>
          <p:nvPr/>
        </p:nvGrpSpPr>
        <p:grpSpPr bwMode="auto">
          <a:xfrm>
            <a:off x="1115616" y="5013176"/>
            <a:ext cx="1874837" cy="1457325"/>
            <a:chOff x="4377" y="3249"/>
            <a:chExt cx="1181" cy="918"/>
          </a:xfrm>
        </p:grpSpPr>
        <p:sp>
          <p:nvSpPr>
            <p:cNvPr id="13348" name="Text Box 37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3349" name="Text Box 38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736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bACTCashListItem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bACTCashListPost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bACTCreditCard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iACTCashListItem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uctACTCreditCard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53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53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3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3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53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53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53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53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53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53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54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54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54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54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54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54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54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54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54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54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54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54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54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554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54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54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554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54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54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554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554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554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554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554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554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554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554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554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554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554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554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554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554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554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554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554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554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554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000" fill="hold"/>
                                        <p:tgtEl>
                                          <p:spTgt spid="554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554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8" grpId="0" animBg="1"/>
      <p:bldP spid="553989" grpId="0" animBg="1"/>
      <p:bldP spid="553990" grpId="0" animBg="1"/>
      <p:bldP spid="553991" grpId="0" animBg="1"/>
      <p:bldP spid="553991" grpId="1" animBg="1"/>
      <p:bldP spid="553993" grpId="0" animBg="1"/>
      <p:bldP spid="553993" grpId="1" animBg="1"/>
      <p:bldP spid="553995" grpId="0" animBg="1"/>
      <p:bldP spid="553996" grpId="0" animBg="1"/>
      <p:bldP spid="553996" grpId="1" animBg="1"/>
      <p:bldP spid="553998" grpId="0" animBg="1"/>
      <p:bldP spid="553998" grpId="1" animBg="1"/>
      <p:bldP spid="554000" grpId="0" animBg="1"/>
      <p:bldP spid="554001" grpId="0" animBg="1"/>
      <p:bldP spid="554001" grpId="1" animBg="1"/>
      <p:bldP spid="554003" grpId="0" animBg="1"/>
      <p:bldP spid="554003" grpId="1" animBg="1"/>
      <p:bldP spid="554005" grpId="0" animBg="1"/>
      <p:bldP spid="554006" grpId="0" animBg="1"/>
      <p:bldP spid="554007" grpId="0" animBg="1"/>
      <p:bldP spid="554007" grpId="1" animBg="1"/>
      <p:bldP spid="554009" grpId="0" animBg="1"/>
      <p:bldP spid="554009" grpId="1" animBg="1"/>
      <p:bldP spid="554010" grpId="0" animBg="1"/>
      <p:bldP spid="554011" grpId="0" animBg="1"/>
      <p:bldP spid="554011" grpId="1" animBg="1"/>
      <p:bldP spid="554014" grpId="0" animBg="1"/>
      <p:bldP spid="554014" grpId="1" animBg="1"/>
      <p:bldP spid="554016" grpId="0" animBg="1"/>
      <p:bldP spid="554017" grpId="0" animBg="1"/>
      <p:bldP spid="554018" grpId="0" animBg="1"/>
      <p:bldP spid="55401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Credit Control</a:t>
            </a:r>
            <a:endParaRPr lang="en-US" smtClean="0"/>
          </a:p>
        </p:txBody>
      </p:sp>
      <p:sp>
        <p:nvSpPr>
          <p:cNvPr id="558085" name="Rectangle 5"/>
          <p:cNvSpPr>
            <a:spLocks noChangeArrowheads="1"/>
          </p:cNvSpPr>
          <p:nvPr/>
        </p:nvSpPr>
        <p:spPr bwMode="auto">
          <a:xfrm>
            <a:off x="827088" y="1987550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Credit_Control_Rule</a:t>
            </a:r>
          </a:p>
        </p:txBody>
      </p:sp>
      <p:sp>
        <p:nvSpPr>
          <p:cNvPr id="558086" name="Line 6"/>
          <p:cNvSpPr>
            <a:spLocks noChangeShapeType="1"/>
          </p:cNvSpPr>
          <p:nvPr/>
        </p:nvSpPr>
        <p:spPr bwMode="auto">
          <a:xfrm>
            <a:off x="1763713" y="2349500"/>
            <a:ext cx="0" cy="719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1" name="Text Box 7"/>
          <p:cNvSpPr txBox="1">
            <a:spLocks noChangeArrowheads="1"/>
          </p:cNvSpPr>
          <p:nvPr/>
        </p:nvSpPr>
        <p:spPr bwMode="auto">
          <a:xfrm>
            <a:off x="971550" y="2565400"/>
            <a:ext cx="15843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credit_control_rule_id </a:t>
            </a:r>
            <a:endParaRPr lang="en-US" sz="1000"/>
          </a:p>
        </p:txBody>
      </p:sp>
      <p:sp>
        <p:nvSpPr>
          <p:cNvPr id="14342" name="Rectangle 18"/>
          <p:cNvSpPr>
            <a:spLocks noChangeArrowheads="1"/>
          </p:cNvSpPr>
          <p:nvPr/>
        </p:nvSpPr>
        <p:spPr bwMode="auto">
          <a:xfrm>
            <a:off x="468313" y="1125538"/>
            <a:ext cx="8064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2000"/>
              <a:t>Tracking and chasing debt from customers.</a:t>
            </a:r>
          </a:p>
        </p:txBody>
      </p:sp>
      <p:sp>
        <p:nvSpPr>
          <p:cNvPr id="558102" name="Rectangle 22"/>
          <p:cNvSpPr>
            <a:spLocks noChangeArrowheads="1"/>
          </p:cNvSpPr>
          <p:nvPr/>
        </p:nvSpPr>
        <p:spPr bwMode="auto">
          <a:xfrm>
            <a:off x="827088" y="3068638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Credit_Control_Step</a:t>
            </a:r>
          </a:p>
        </p:txBody>
      </p:sp>
      <p:sp>
        <p:nvSpPr>
          <p:cNvPr id="558103" name="Line 23"/>
          <p:cNvSpPr>
            <a:spLocks noChangeShapeType="1"/>
          </p:cNvSpPr>
          <p:nvPr/>
        </p:nvSpPr>
        <p:spPr bwMode="auto">
          <a:xfrm>
            <a:off x="1763713" y="3430588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5" name="Text Box 24"/>
          <p:cNvSpPr txBox="1">
            <a:spLocks noChangeArrowheads="1"/>
          </p:cNvSpPr>
          <p:nvPr/>
        </p:nvSpPr>
        <p:spPr bwMode="auto">
          <a:xfrm>
            <a:off x="971550" y="3646488"/>
            <a:ext cx="15843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credit_control_step_id </a:t>
            </a:r>
            <a:endParaRPr lang="en-US" sz="1000"/>
          </a:p>
        </p:txBody>
      </p:sp>
      <p:sp>
        <p:nvSpPr>
          <p:cNvPr id="558105" name="Rectangle 25"/>
          <p:cNvSpPr>
            <a:spLocks noChangeArrowheads="1"/>
          </p:cNvSpPr>
          <p:nvPr/>
        </p:nvSpPr>
        <p:spPr bwMode="auto">
          <a:xfrm>
            <a:off x="827088" y="4149725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Credit_Control_Item</a:t>
            </a:r>
          </a:p>
        </p:txBody>
      </p:sp>
      <p:sp>
        <p:nvSpPr>
          <p:cNvPr id="558106" name="Rectangle 26"/>
          <p:cNvSpPr>
            <a:spLocks noChangeArrowheads="1"/>
          </p:cNvSpPr>
          <p:nvPr/>
        </p:nvSpPr>
        <p:spPr bwMode="auto">
          <a:xfrm>
            <a:off x="3708400" y="3068638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Account</a:t>
            </a:r>
          </a:p>
        </p:txBody>
      </p:sp>
      <p:sp>
        <p:nvSpPr>
          <p:cNvPr id="558107" name="Line 27"/>
          <p:cNvSpPr>
            <a:spLocks noChangeShapeType="1"/>
          </p:cNvSpPr>
          <p:nvPr/>
        </p:nvSpPr>
        <p:spPr bwMode="auto">
          <a:xfrm flipH="1">
            <a:off x="2484438" y="3284538"/>
            <a:ext cx="1223962" cy="865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8108" name="Rectangle 28"/>
          <p:cNvSpPr>
            <a:spLocks noChangeArrowheads="1"/>
          </p:cNvSpPr>
          <p:nvPr/>
        </p:nvSpPr>
        <p:spPr bwMode="auto">
          <a:xfrm>
            <a:off x="3708400" y="3644900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Document</a:t>
            </a:r>
          </a:p>
        </p:txBody>
      </p:sp>
      <p:sp>
        <p:nvSpPr>
          <p:cNvPr id="558109" name="Rectangle 29"/>
          <p:cNvSpPr>
            <a:spLocks noChangeArrowheads="1"/>
          </p:cNvSpPr>
          <p:nvPr/>
        </p:nvSpPr>
        <p:spPr bwMode="auto">
          <a:xfrm>
            <a:off x="3708400" y="4221163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Insurance_File</a:t>
            </a:r>
          </a:p>
        </p:txBody>
      </p:sp>
      <p:sp>
        <p:nvSpPr>
          <p:cNvPr id="558110" name="Rectangle 30"/>
          <p:cNvSpPr>
            <a:spLocks noChangeArrowheads="1"/>
          </p:cNvSpPr>
          <p:nvPr/>
        </p:nvSpPr>
        <p:spPr bwMode="auto">
          <a:xfrm>
            <a:off x="3708400" y="4797425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PFInstalments</a:t>
            </a:r>
          </a:p>
        </p:txBody>
      </p:sp>
      <p:sp>
        <p:nvSpPr>
          <p:cNvPr id="558111" name="Rectangle 31"/>
          <p:cNvSpPr>
            <a:spLocks noChangeArrowheads="1"/>
          </p:cNvSpPr>
          <p:nvPr/>
        </p:nvSpPr>
        <p:spPr bwMode="auto">
          <a:xfrm>
            <a:off x="3708400" y="5373688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PFPremiumFinance</a:t>
            </a:r>
          </a:p>
        </p:txBody>
      </p:sp>
      <p:sp>
        <p:nvSpPr>
          <p:cNvPr id="558112" name="Line 32"/>
          <p:cNvSpPr>
            <a:spLocks noChangeShapeType="1"/>
          </p:cNvSpPr>
          <p:nvPr/>
        </p:nvSpPr>
        <p:spPr bwMode="auto">
          <a:xfrm flipH="1">
            <a:off x="2627313" y="3789363"/>
            <a:ext cx="1081087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8113" name="Line 33"/>
          <p:cNvSpPr>
            <a:spLocks noChangeShapeType="1"/>
          </p:cNvSpPr>
          <p:nvPr/>
        </p:nvSpPr>
        <p:spPr bwMode="auto">
          <a:xfrm flipH="1">
            <a:off x="2627313" y="4365625"/>
            <a:ext cx="10810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8114" name="Line 34"/>
          <p:cNvSpPr>
            <a:spLocks noChangeShapeType="1"/>
          </p:cNvSpPr>
          <p:nvPr/>
        </p:nvSpPr>
        <p:spPr bwMode="auto">
          <a:xfrm flipH="1" flipV="1">
            <a:off x="2627313" y="4437063"/>
            <a:ext cx="1081087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8115" name="Line 35"/>
          <p:cNvSpPr>
            <a:spLocks noChangeShapeType="1"/>
          </p:cNvSpPr>
          <p:nvPr/>
        </p:nvSpPr>
        <p:spPr bwMode="auto">
          <a:xfrm flipH="1" flipV="1">
            <a:off x="2484438" y="4508500"/>
            <a:ext cx="1223962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4357" name="Group 36"/>
          <p:cNvGrpSpPr>
            <a:grpSpLocks/>
          </p:cNvGrpSpPr>
          <p:nvPr/>
        </p:nvGrpSpPr>
        <p:grpSpPr bwMode="auto">
          <a:xfrm>
            <a:off x="755576" y="5373216"/>
            <a:ext cx="1874837" cy="1228725"/>
            <a:chOff x="4377" y="3249"/>
            <a:chExt cx="1181" cy="774"/>
          </a:xfrm>
        </p:grpSpPr>
        <p:sp>
          <p:nvSpPr>
            <p:cNvPr id="14358" name="Text Box 37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4359" name="Text Box 38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592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bACTCreditControl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bACTCashListPost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iACTCashListItem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uctACTCreditCard</a:t>
              </a:r>
            </a:p>
          </p:txBody>
        </p:sp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58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58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58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58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58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58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58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58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58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58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58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58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58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58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58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58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8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8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58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58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58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58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58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58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58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58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58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58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58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58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58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58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58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58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58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58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58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558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58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58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558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58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58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558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5" grpId="0" animBg="1"/>
      <p:bldP spid="558086" grpId="0" animBg="1"/>
      <p:bldP spid="558086" grpId="1" animBg="1"/>
      <p:bldP spid="558102" grpId="0" animBg="1"/>
      <p:bldP spid="558103" grpId="0" animBg="1"/>
      <p:bldP spid="558103" grpId="1" animBg="1"/>
      <p:bldP spid="558105" grpId="0" animBg="1"/>
      <p:bldP spid="558106" grpId="0" animBg="1"/>
      <p:bldP spid="558107" grpId="0" animBg="1"/>
      <p:bldP spid="558107" grpId="1" animBg="1"/>
      <p:bldP spid="558108" grpId="0" animBg="1"/>
      <p:bldP spid="558109" grpId="0" animBg="1"/>
      <p:bldP spid="558110" grpId="0" animBg="1"/>
      <p:bldP spid="558111" grpId="0" animBg="1"/>
      <p:bldP spid="558112" grpId="0" animBg="1"/>
      <p:bldP spid="558112" grpId="1" animBg="1"/>
      <p:bldP spid="558113" grpId="0" animBg="1"/>
      <p:bldP spid="558113" grpId="1" animBg="1"/>
      <p:bldP spid="558114" grpId="0" animBg="1"/>
      <p:bldP spid="558114" grpId="1" animBg="1"/>
      <p:bldP spid="558115" grpId="0" animBg="1"/>
      <p:bldP spid="558115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Instalments and Premium Finance</a:t>
            </a:r>
            <a:endParaRPr lang="en-US" smtClean="0"/>
          </a:p>
        </p:txBody>
      </p:sp>
      <p:sp>
        <p:nvSpPr>
          <p:cNvPr id="562179" name="Rectangle 3"/>
          <p:cNvSpPr>
            <a:spLocks noChangeArrowheads="1"/>
          </p:cNvSpPr>
          <p:nvPr/>
        </p:nvSpPr>
        <p:spPr bwMode="auto">
          <a:xfrm>
            <a:off x="142875" y="1772816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PFScheme</a:t>
            </a:r>
          </a:p>
        </p:txBody>
      </p:sp>
      <p:sp>
        <p:nvSpPr>
          <p:cNvPr id="562180" name="Line 4"/>
          <p:cNvSpPr>
            <a:spLocks noChangeShapeType="1"/>
          </p:cNvSpPr>
          <p:nvPr/>
        </p:nvSpPr>
        <p:spPr bwMode="auto">
          <a:xfrm>
            <a:off x="1079500" y="2134766"/>
            <a:ext cx="0" cy="935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287338" y="2350666"/>
            <a:ext cx="1584325" cy="5492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CompanyNo</a:t>
            </a:r>
            <a:br>
              <a:rPr lang="en-GB" sz="1000"/>
            </a:br>
            <a:r>
              <a:rPr lang="en-GB" sz="1000"/>
              <a:t>SchemeNo</a:t>
            </a:r>
            <a:br>
              <a:rPr lang="en-GB" sz="1000"/>
            </a:br>
            <a:r>
              <a:rPr lang="en-GB" sz="1000"/>
              <a:t>SchemeVersion</a:t>
            </a:r>
            <a:endParaRPr lang="en-US" sz="1000"/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468313" y="1125538"/>
            <a:ext cx="8064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2000" dirty="0"/>
              <a:t>Splitting debt into parts</a:t>
            </a:r>
          </a:p>
        </p:txBody>
      </p:sp>
      <p:sp>
        <p:nvSpPr>
          <p:cNvPr id="562183" name="Rectangle 7"/>
          <p:cNvSpPr>
            <a:spLocks noChangeArrowheads="1"/>
          </p:cNvSpPr>
          <p:nvPr/>
        </p:nvSpPr>
        <p:spPr bwMode="auto">
          <a:xfrm>
            <a:off x="142875" y="3069803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PFRF</a:t>
            </a:r>
          </a:p>
        </p:txBody>
      </p:sp>
      <p:sp>
        <p:nvSpPr>
          <p:cNvPr id="562184" name="Line 8"/>
          <p:cNvSpPr>
            <a:spLocks noChangeShapeType="1"/>
          </p:cNvSpPr>
          <p:nvPr/>
        </p:nvSpPr>
        <p:spPr bwMode="auto">
          <a:xfrm>
            <a:off x="1079500" y="3430166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2186" name="Rectangle 10"/>
          <p:cNvSpPr>
            <a:spLocks noChangeArrowheads="1"/>
          </p:cNvSpPr>
          <p:nvPr/>
        </p:nvSpPr>
        <p:spPr bwMode="auto">
          <a:xfrm>
            <a:off x="142875" y="4150891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PFPremiumFinance</a:t>
            </a:r>
          </a:p>
        </p:txBody>
      </p:sp>
      <p:sp>
        <p:nvSpPr>
          <p:cNvPr id="562187" name="Rectangle 11"/>
          <p:cNvSpPr>
            <a:spLocks noChangeArrowheads="1"/>
          </p:cNvSpPr>
          <p:nvPr/>
        </p:nvSpPr>
        <p:spPr bwMode="auto">
          <a:xfrm>
            <a:off x="4319588" y="2709441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Party</a:t>
            </a:r>
          </a:p>
        </p:txBody>
      </p:sp>
      <p:sp>
        <p:nvSpPr>
          <p:cNvPr id="562189" name="Rectangle 13"/>
          <p:cNvSpPr>
            <a:spLocks noChangeArrowheads="1"/>
          </p:cNvSpPr>
          <p:nvPr/>
        </p:nvSpPr>
        <p:spPr bwMode="auto">
          <a:xfrm>
            <a:off x="4319588" y="3285703"/>
            <a:ext cx="1800225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TransDetail</a:t>
            </a:r>
          </a:p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(instalment debt)</a:t>
            </a:r>
          </a:p>
        </p:txBody>
      </p:sp>
      <p:sp>
        <p:nvSpPr>
          <p:cNvPr id="562190" name="Rectangle 14"/>
          <p:cNvSpPr>
            <a:spLocks noChangeArrowheads="1"/>
          </p:cNvSpPr>
          <p:nvPr/>
        </p:nvSpPr>
        <p:spPr bwMode="auto">
          <a:xfrm>
            <a:off x="4319588" y="4077866"/>
            <a:ext cx="1800225" cy="5048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PFTransaction_id</a:t>
            </a:r>
          </a:p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(transactions on plan)</a:t>
            </a:r>
          </a:p>
        </p:txBody>
      </p:sp>
      <p:sp>
        <p:nvSpPr>
          <p:cNvPr id="562191" name="Rectangle 15"/>
          <p:cNvSpPr>
            <a:spLocks noChangeArrowheads="1"/>
          </p:cNvSpPr>
          <p:nvPr/>
        </p:nvSpPr>
        <p:spPr bwMode="auto">
          <a:xfrm>
            <a:off x="142875" y="5230391"/>
            <a:ext cx="1800225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PFInstalments</a:t>
            </a:r>
          </a:p>
        </p:txBody>
      </p:sp>
      <p:sp>
        <p:nvSpPr>
          <p:cNvPr id="15374" name="Text Box 21"/>
          <p:cNvSpPr txBox="1">
            <a:spLocks noChangeArrowheads="1"/>
          </p:cNvSpPr>
          <p:nvPr/>
        </p:nvSpPr>
        <p:spPr bwMode="auto">
          <a:xfrm>
            <a:off x="792163" y="3719091"/>
            <a:ext cx="57467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pfrf_id</a:t>
            </a:r>
            <a:endParaRPr lang="en-US" sz="1000"/>
          </a:p>
        </p:txBody>
      </p:sp>
      <p:sp>
        <p:nvSpPr>
          <p:cNvPr id="562198" name="Line 22"/>
          <p:cNvSpPr>
            <a:spLocks noChangeShapeType="1"/>
          </p:cNvSpPr>
          <p:nvPr/>
        </p:nvSpPr>
        <p:spPr bwMode="auto">
          <a:xfrm flipH="1">
            <a:off x="1871663" y="2998366"/>
            <a:ext cx="2447925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6" name="Text Box 23"/>
          <p:cNvSpPr txBox="1">
            <a:spLocks noChangeArrowheads="1"/>
          </p:cNvSpPr>
          <p:nvPr/>
        </p:nvSpPr>
        <p:spPr bwMode="auto">
          <a:xfrm>
            <a:off x="3167063" y="3214266"/>
            <a:ext cx="720725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Clientid</a:t>
            </a:r>
            <a:endParaRPr lang="en-US" sz="1000"/>
          </a:p>
        </p:txBody>
      </p:sp>
      <p:sp>
        <p:nvSpPr>
          <p:cNvPr id="562201" name="Line 25"/>
          <p:cNvSpPr>
            <a:spLocks noChangeShapeType="1"/>
          </p:cNvSpPr>
          <p:nvPr/>
        </p:nvSpPr>
        <p:spPr bwMode="auto">
          <a:xfrm>
            <a:off x="1006475" y="4509666"/>
            <a:ext cx="0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8" name="Text Box 26"/>
          <p:cNvSpPr txBox="1">
            <a:spLocks noChangeArrowheads="1"/>
          </p:cNvSpPr>
          <p:nvPr/>
        </p:nvSpPr>
        <p:spPr bwMode="auto">
          <a:xfrm>
            <a:off x="71438" y="4654128"/>
            <a:ext cx="18732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pfprem_finance_cnt</a:t>
            </a:r>
            <a:br>
              <a:rPr lang="en-GB" sz="1000"/>
            </a:br>
            <a:r>
              <a:rPr lang="en-GB" sz="1000"/>
              <a:t>pfprem_finance_version</a:t>
            </a:r>
            <a:endParaRPr lang="en-US" sz="1000"/>
          </a:p>
        </p:txBody>
      </p:sp>
      <p:sp>
        <p:nvSpPr>
          <p:cNvPr id="562203" name="Line 27"/>
          <p:cNvSpPr>
            <a:spLocks noChangeShapeType="1"/>
          </p:cNvSpPr>
          <p:nvPr/>
        </p:nvSpPr>
        <p:spPr bwMode="auto">
          <a:xfrm flipH="1">
            <a:off x="1727200" y="3719091"/>
            <a:ext cx="2592388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0" name="Text Box 28"/>
          <p:cNvSpPr txBox="1">
            <a:spLocks noChangeArrowheads="1"/>
          </p:cNvSpPr>
          <p:nvPr/>
        </p:nvSpPr>
        <p:spPr bwMode="auto">
          <a:xfrm>
            <a:off x="2663825" y="3861966"/>
            <a:ext cx="129540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plantransdetail_id</a:t>
            </a:r>
            <a:endParaRPr lang="en-US" sz="1000"/>
          </a:p>
        </p:txBody>
      </p:sp>
      <p:sp>
        <p:nvSpPr>
          <p:cNvPr id="562205" name="Line 29"/>
          <p:cNvSpPr>
            <a:spLocks noChangeShapeType="1"/>
          </p:cNvSpPr>
          <p:nvPr/>
        </p:nvSpPr>
        <p:spPr bwMode="auto">
          <a:xfrm flipH="1" flipV="1">
            <a:off x="1943100" y="4438228"/>
            <a:ext cx="2376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2" name="Text Box 30"/>
          <p:cNvSpPr txBox="1">
            <a:spLocks noChangeArrowheads="1"/>
          </p:cNvSpPr>
          <p:nvPr/>
        </p:nvSpPr>
        <p:spPr bwMode="auto">
          <a:xfrm>
            <a:off x="2519363" y="4293766"/>
            <a:ext cx="172720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pfprem_finance_cnt</a:t>
            </a:r>
            <a:br>
              <a:rPr lang="en-GB" sz="1000"/>
            </a:br>
            <a:r>
              <a:rPr lang="en-GB" sz="1000"/>
              <a:t>pfprem_finance_version</a:t>
            </a:r>
            <a:endParaRPr lang="en-US" sz="1000"/>
          </a:p>
        </p:txBody>
      </p:sp>
      <p:sp>
        <p:nvSpPr>
          <p:cNvPr id="562207" name="Rectangle 31"/>
          <p:cNvSpPr>
            <a:spLocks noChangeArrowheads="1"/>
          </p:cNvSpPr>
          <p:nvPr/>
        </p:nvSpPr>
        <p:spPr bwMode="auto">
          <a:xfrm>
            <a:off x="4319588" y="5301828"/>
            <a:ext cx="180022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980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GB" sz="1400">
                <a:solidFill>
                  <a:schemeClr val="tx1"/>
                </a:solidFill>
              </a:rPr>
              <a:t>TransDetail</a:t>
            </a:r>
          </a:p>
        </p:txBody>
      </p:sp>
      <p:sp>
        <p:nvSpPr>
          <p:cNvPr id="562208" name="Line 32"/>
          <p:cNvSpPr>
            <a:spLocks noChangeShapeType="1"/>
          </p:cNvSpPr>
          <p:nvPr/>
        </p:nvSpPr>
        <p:spPr bwMode="auto">
          <a:xfrm>
            <a:off x="5183188" y="4582691"/>
            <a:ext cx="1587" cy="719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5" name="Text Box 33"/>
          <p:cNvSpPr txBox="1">
            <a:spLocks noChangeArrowheads="1"/>
          </p:cNvSpPr>
          <p:nvPr/>
        </p:nvSpPr>
        <p:spPr bwMode="auto">
          <a:xfrm>
            <a:off x="4319588" y="4943053"/>
            <a:ext cx="11493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pftransaction_id</a:t>
            </a:r>
            <a:endParaRPr lang="en-US" sz="1000"/>
          </a:p>
        </p:txBody>
      </p:sp>
      <p:sp>
        <p:nvSpPr>
          <p:cNvPr id="562210" name="Line 34"/>
          <p:cNvSpPr>
            <a:spLocks noChangeShapeType="1"/>
          </p:cNvSpPr>
          <p:nvPr/>
        </p:nvSpPr>
        <p:spPr bwMode="auto">
          <a:xfrm flipH="1" flipV="1">
            <a:off x="1943100" y="5446291"/>
            <a:ext cx="2376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7" name="Text Box 35"/>
          <p:cNvSpPr txBox="1">
            <a:spLocks noChangeArrowheads="1"/>
          </p:cNvSpPr>
          <p:nvPr/>
        </p:nvSpPr>
        <p:spPr bwMode="auto">
          <a:xfrm>
            <a:off x="2808288" y="5301828"/>
            <a:ext cx="1009650" cy="244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/>
              <a:t>transdetail_id</a:t>
            </a:r>
            <a:endParaRPr lang="en-US" sz="1000"/>
          </a:p>
        </p:txBody>
      </p:sp>
      <p:grpSp>
        <p:nvGrpSpPr>
          <p:cNvPr id="15388" name="Group 36"/>
          <p:cNvGrpSpPr>
            <a:grpSpLocks/>
          </p:cNvGrpSpPr>
          <p:nvPr/>
        </p:nvGrpSpPr>
        <p:grpSpPr bwMode="auto">
          <a:xfrm>
            <a:off x="6372200" y="1268760"/>
            <a:ext cx="1874837" cy="3514725"/>
            <a:chOff x="4377" y="3249"/>
            <a:chExt cx="1181" cy="2214"/>
          </a:xfrm>
        </p:grpSpPr>
        <p:sp>
          <p:nvSpPr>
            <p:cNvPr id="15391" name="Text Box 37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 dirty="0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5392" name="Text Box 38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2032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bSIRPremiumFinance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bSIRPFInstalments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bSIRPFRF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bSIRPFScheme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bSIRPFExport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iPMBFinancePlanQuote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iPMBFinancePlanMaint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iPMBFinanceTransactions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iPMBFindFinancePlan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iPMBPFExport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iPMBPFRF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iPMBPFScheme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iPMBPFSchemeMaint</a:t>
              </a:r>
              <a:endParaRPr lang="en-GB" sz="1000" b="1" dirty="0">
                <a:solidFill>
                  <a:srgbClr val="333333"/>
                </a:solidFill>
              </a:endParaRPr>
            </a:p>
            <a:p>
              <a:pPr algn="l">
                <a:spcBef>
                  <a:spcPct val="50000"/>
                </a:spcBef>
              </a:pPr>
              <a:r>
                <a:rPr lang="en-GB" sz="1000" b="1" dirty="0" err="1">
                  <a:solidFill>
                    <a:srgbClr val="333333"/>
                  </a:solidFill>
                </a:rPr>
                <a:t>uctInstalmentsControl</a:t>
              </a:r>
              <a:endParaRPr lang="en-GB" sz="1000" b="1" dirty="0">
                <a:solidFill>
                  <a:srgbClr val="333333"/>
                </a:solidFill>
              </a:endParaRPr>
            </a:p>
          </p:txBody>
        </p:sp>
      </p:grpSp>
      <p:sp>
        <p:nvSpPr>
          <p:cNvPr id="15389" name="Text Box 42"/>
          <p:cNvSpPr txBox="1">
            <a:spLocks noChangeArrowheads="1"/>
          </p:cNvSpPr>
          <p:nvPr/>
        </p:nvSpPr>
        <p:spPr bwMode="auto">
          <a:xfrm>
            <a:off x="2451100" y="5662191"/>
            <a:ext cx="17240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000" b="1"/>
              <a:t>Instalments Only</a:t>
            </a:r>
            <a:endParaRPr lang="en-US" sz="1000" b="1"/>
          </a:p>
        </p:txBody>
      </p:sp>
      <p:sp>
        <p:nvSpPr>
          <p:cNvPr id="15390" name="Rectangle 39"/>
          <p:cNvSpPr>
            <a:spLocks noChangeArrowheads="1"/>
          </p:cNvSpPr>
          <p:nvPr/>
        </p:nvSpPr>
        <p:spPr bwMode="auto">
          <a:xfrm>
            <a:off x="0" y="4727153"/>
            <a:ext cx="6192838" cy="1150938"/>
          </a:xfrm>
          <a:prstGeom prst="rect">
            <a:avLst/>
          </a:prstGeom>
          <a:solidFill>
            <a:srgbClr val="BBE0E3">
              <a:alpha val="25098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62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62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62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62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62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62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62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62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62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62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62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62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62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62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62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62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62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62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62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62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62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62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62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62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562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562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562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562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62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62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62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62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562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562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562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562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562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562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562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562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562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562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562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562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562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562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562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562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79" grpId="0" animBg="1"/>
      <p:bldP spid="562180" grpId="0" animBg="1"/>
      <p:bldP spid="562180" grpId="1" animBg="1"/>
      <p:bldP spid="562183" grpId="0" animBg="1"/>
      <p:bldP spid="562184" grpId="0" animBg="1"/>
      <p:bldP spid="562184" grpId="1" animBg="1"/>
      <p:bldP spid="562186" grpId="0" animBg="1"/>
      <p:bldP spid="562187" grpId="0" animBg="1"/>
      <p:bldP spid="562189" grpId="0" animBg="1"/>
      <p:bldP spid="562190" grpId="0" animBg="1"/>
      <p:bldP spid="562191" grpId="0" animBg="1"/>
      <p:bldP spid="562198" grpId="0" animBg="1"/>
      <p:bldP spid="562198" grpId="1" animBg="1"/>
      <p:bldP spid="562201" grpId="0" animBg="1"/>
      <p:bldP spid="562201" grpId="1" animBg="1"/>
      <p:bldP spid="562203" grpId="0" animBg="1"/>
      <p:bldP spid="562203" grpId="1" animBg="1"/>
      <p:bldP spid="562205" grpId="0" animBg="1"/>
      <p:bldP spid="562205" grpId="1" animBg="1"/>
      <p:bldP spid="562207" grpId="0" animBg="1"/>
      <p:bldP spid="562208" grpId="0" animBg="1"/>
      <p:bldP spid="562208" grpId="1" animBg="1"/>
      <p:bldP spid="562210" grpId="0" animBg="1"/>
      <p:bldP spid="56221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Find Transaction</a:t>
            </a:r>
            <a:endParaRPr lang="en-US" smtClean="0"/>
          </a:p>
        </p:txBody>
      </p:sp>
      <p:sp>
        <p:nvSpPr>
          <p:cNvPr id="16389" name="Rectangle 25"/>
          <p:cNvSpPr>
            <a:spLocks noGrp="1" noChangeArrowheads="1"/>
          </p:cNvSpPr>
          <p:nvPr>
            <p:ph idx="1"/>
          </p:nvPr>
        </p:nvSpPr>
        <p:spPr bwMode="auto">
          <a:xfrm>
            <a:off x="467544" y="980728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dirty="0" smtClean="0"/>
              <a:t>Work on individual transactions</a:t>
            </a:r>
          </a:p>
          <a:p>
            <a:pPr eaLnBrk="1" hangingPunct="1"/>
            <a:r>
              <a:rPr lang="en-GB" dirty="0" smtClean="0"/>
              <a:t>Can roll up multiple document transactions into one</a:t>
            </a:r>
          </a:p>
          <a:p>
            <a:pPr eaLnBrk="1" hangingPunct="1"/>
            <a:r>
              <a:rPr lang="en-GB" dirty="0" smtClean="0"/>
              <a:t>Perform allocations</a:t>
            </a:r>
          </a:p>
          <a:p>
            <a:pPr eaLnBrk="1" hangingPunct="1"/>
            <a:r>
              <a:rPr lang="en-GB" dirty="0" smtClean="0"/>
              <a:t>Reverse Allocation</a:t>
            </a:r>
          </a:p>
          <a:p>
            <a:pPr eaLnBrk="1" hangingPunct="1">
              <a:buFont typeface="Wingdings" pitchFamily="2" charset="2"/>
              <a:buNone/>
            </a:pPr>
            <a:endParaRPr lang="en-GB" dirty="0" smtClean="0"/>
          </a:p>
        </p:txBody>
      </p:sp>
      <p:grpSp>
        <p:nvGrpSpPr>
          <p:cNvPr id="16388" name="Group 21"/>
          <p:cNvGrpSpPr>
            <a:grpSpLocks/>
          </p:cNvGrpSpPr>
          <p:nvPr/>
        </p:nvGrpSpPr>
        <p:grpSpPr bwMode="auto">
          <a:xfrm>
            <a:off x="6516216" y="1628800"/>
            <a:ext cx="1874837" cy="1000125"/>
            <a:chOff x="4377" y="3249"/>
            <a:chExt cx="1181" cy="630"/>
          </a:xfrm>
        </p:grpSpPr>
        <p:sp>
          <p:nvSpPr>
            <p:cNvPr id="16390" name="Text Box 22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6391" name="Text Box 23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448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bACTFindTransaction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iACTFindTransaction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iACTAllocation</a:t>
              </a:r>
            </a:p>
          </p:txBody>
        </p:sp>
      </p:grpSp>
      <p:pic>
        <p:nvPicPr>
          <p:cNvPr id="2050" name="Picture 35" descr="split receip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2996952"/>
            <a:ext cx="5610225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27" descr="View allocatio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23728" y="4149080"/>
            <a:ext cx="3573810" cy="1810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pull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Insurer/Agent Payment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8313" y="1125538"/>
            <a:ext cx="8229600" cy="45259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smtClean="0"/>
              <a:t>Similar to Find Transaction</a:t>
            </a:r>
          </a:p>
          <a:p>
            <a:pPr eaLnBrk="1" hangingPunct="1"/>
            <a:r>
              <a:rPr lang="en-GB" smtClean="0"/>
              <a:t>Designed for clearing large volume accounts</a:t>
            </a:r>
          </a:p>
          <a:p>
            <a:pPr eaLnBrk="1" hangingPunct="1"/>
            <a:r>
              <a:rPr lang="en-GB" smtClean="0"/>
              <a:t>Generates payment for multiple transactions</a:t>
            </a:r>
          </a:p>
          <a:p>
            <a:pPr eaLnBrk="1" hangingPunct="1"/>
            <a:r>
              <a:rPr lang="en-GB" smtClean="0"/>
              <a:t>Binder rolls up groups of transactions</a:t>
            </a:r>
          </a:p>
        </p:txBody>
      </p:sp>
      <p:grpSp>
        <p:nvGrpSpPr>
          <p:cNvPr id="17413" name="Group 5"/>
          <p:cNvGrpSpPr>
            <a:grpSpLocks/>
          </p:cNvGrpSpPr>
          <p:nvPr/>
        </p:nvGrpSpPr>
        <p:grpSpPr bwMode="auto">
          <a:xfrm>
            <a:off x="6228184" y="1700808"/>
            <a:ext cx="1874838" cy="771525"/>
            <a:chOff x="4377" y="3249"/>
            <a:chExt cx="1181" cy="486"/>
          </a:xfrm>
        </p:grpSpPr>
        <p:sp>
          <p:nvSpPr>
            <p:cNvPr id="17414" name="Text Box 6"/>
            <p:cNvSpPr txBox="1">
              <a:spLocks noChangeArrowheads="1"/>
            </p:cNvSpPr>
            <p:nvPr/>
          </p:nvSpPr>
          <p:spPr bwMode="auto">
            <a:xfrm>
              <a:off x="4377" y="3249"/>
              <a:ext cx="1181" cy="179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200" b="1">
                  <a:solidFill>
                    <a:schemeClr val="bg1"/>
                  </a:solidFill>
                </a:rPr>
                <a:t>Components</a:t>
              </a:r>
            </a:p>
          </p:txBody>
        </p:sp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4377" y="3431"/>
              <a:ext cx="1180" cy="304"/>
            </a:xfrm>
            <a:prstGeom prst="rect">
              <a:avLst/>
            </a:prstGeom>
            <a:noFill/>
            <a:ln w="9525">
              <a:solidFill>
                <a:srgbClr val="80008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bACTInsurerPaymentSFU</a:t>
              </a:r>
            </a:p>
            <a:p>
              <a:pPr algn="l">
                <a:spcBef>
                  <a:spcPct val="50000"/>
                </a:spcBef>
              </a:pPr>
              <a:r>
                <a:rPr lang="en-GB" sz="1000" b="1">
                  <a:solidFill>
                    <a:srgbClr val="333333"/>
                  </a:solidFill>
                </a:rPr>
                <a:t>iACTPaymentSFU</a:t>
              </a:r>
            </a:p>
          </p:txBody>
        </p:sp>
      </p:grpSp>
      <p:pic>
        <p:nvPicPr>
          <p:cNvPr id="1026" name="Picture 26" descr="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852936"/>
            <a:ext cx="5448300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pull dir="d"/>
  </p:transition>
</p:sld>
</file>

<file path=ppt/theme/theme1.xml><?xml version="1.0" encoding="utf-8"?>
<a:theme xmlns:a="http://schemas.openxmlformats.org/drawingml/2006/main" name="SSP Corporate Presentation Template - SSP Internal use Onl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ppt2CC.tmp</Template>
  <TotalTime>16585</TotalTime>
  <Words>512</Words>
  <Application>Microsoft Office PowerPoint</Application>
  <PresentationFormat>On-screen Show (4:3)</PresentationFormat>
  <Paragraphs>279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SSP Corporate Presentation Template - SSP Internal use Only</vt:lpstr>
      <vt:lpstr>Technical Design</vt:lpstr>
      <vt:lpstr>History</vt:lpstr>
      <vt:lpstr>Accounts Structure</vt:lpstr>
      <vt:lpstr>Multi-Currency</vt:lpstr>
      <vt:lpstr>Currency Conversion in VB</vt:lpstr>
      <vt:lpstr>Currency Conversion in SQL</vt:lpstr>
      <vt:lpstr>Transaction Structure</vt:lpstr>
      <vt:lpstr>Postings</vt:lpstr>
      <vt:lpstr>Allocation</vt:lpstr>
      <vt:lpstr>Data Flow from Back Office</vt:lpstr>
      <vt:lpstr>Receipts and Payments</vt:lpstr>
      <vt:lpstr>Credit Control</vt:lpstr>
      <vt:lpstr>Instalments and Premium Finance</vt:lpstr>
      <vt:lpstr>Find Transaction</vt:lpstr>
      <vt:lpstr>Insurer/Agent Payment</vt:lpstr>
    </vt:vector>
  </TitlesOfParts>
  <Company>Sirius Financial Systems PLC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Sirius Accounts Technical Design</dc:title>
  <dc:creator>Danny Davis</dc:creator>
  <cp:lastModifiedBy>mousumi.borah</cp:lastModifiedBy>
  <cp:revision>220</cp:revision>
  <dcterms:created xsi:type="dcterms:W3CDTF">2005-03-04T10:54:44Z</dcterms:created>
  <dcterms:modified xsi:type="dcterms:W3CDTF">2013-05-20T09:29:24Z</dcterms:modified>
</cp:coreProperties>
</file>